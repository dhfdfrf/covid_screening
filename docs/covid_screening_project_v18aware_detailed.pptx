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1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8A9C8-C061-05C8-41FE-DC43F8BDD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9134DE-B384-9199-7456-3118650AB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C3ED9-5DB5-C459-2660-9E73BBD5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EE264-2D6F-B4DA-AE61-82B0E7ED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FE820-5682-A7B6-9332-A07A5FF2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11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99007-C50A-6964-8360-FE15C403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8A6BF-E739-49A2-0ACF-44EE2E428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EAD90-38E3-4D64-B140-1BD1892F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3A29D-27ED-D086-3C4D-4D94417E4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2BBB57-7758-E65F-540A-58D1B2E2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5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D4D84-2895-A4BF-0574-E8C533B93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77A14D-97D3-4195-9281-E27411263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FCE69D-AD0F-E180-1436-A87AD53F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FB70D-2195-680A-D283-92A768B2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FD70C-E755-9CC3-32E4-B3FA0F8F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279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75A7E-1BD6-4A49-AFFF-179D83EEE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07A6D5-7438-AF54-2DEE-F120CB9C3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B37FF6-5896-829B-741E-993FF38AD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2E2372-D39E-03FA-16D5-84036BC2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D6BAEE-D8FD-43A5-11D1-374001A3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0E0A7D-BC86-FC0D-DFA5-5C8FCA0F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534CF-2849-1402-7B66-3B06CD29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7EEE0-1856-EE1D-CD0C-B21BBE034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C4FBB6-69D5-C15A-6791-C2D209F10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DDBB96-D356-954E-E49F-02BE2BE4E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B6C13E-42EA-351B-B0D9-709A1365F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D548A6-FA89-D194-413A-3FFFC37F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D0FDE8-B66B-86EB-2E17-5859C461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6D88B1-84DD-F8D1-125F-DEE230F0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5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23658-F149-1B05-7EAC-1CD4CF07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241A38-8345-31A0-80BE-0274B3D7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A7F9E0-74C6-CA8A-4347-A9C72EED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D32315-A185-5B82-5C36-1137583B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02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36B9E7-101F-7BBF-8F3F-30A5B35A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4C614B-D433-1774-A37A-989BEBA9B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585837-6D48-E1DB-BDB1-45DF0958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5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3CF4B-B8D2-EC5B-4273-FA6F0A1E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4218C-44A4-3AD5-1699-93F747C90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91EFCC-555D-0C88-2F92-39D405EC3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94E31E-0717-AF26-CE49-17900730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3CEE35-016F-B323-7D53-AC906663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110672-36AE-1597-F46D-2DD87735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38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D794C-F7F3-F6DF-66DB-44E5DF02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3E6F5B-89D1-DE0A-1B6D-C76733D602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79B74C-ACB0-A33E-DDFF-E231D42D3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1C1D45-2B46-4763-CD3C-BBE4952D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977122-70C8-5AC9-0CD2-55841017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5C5A67-0635-3CDA-5B91-09AE430F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01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43718-516A-A703-D229-B62BE5F6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940DF4-216A-A569-5894-5118C538A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EEA7B7-9B13-DF2D-1257-7C0AC2A21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733421-D30E-9419-27A8-4E5C38506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30D9ED-F046-E2AF-4F6E-4F4211F4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510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4A518D-ACBC-6508-FC17-36B27BDAC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787D0-11AF-9773-18BA-02A8CDCE5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DB102-AB99-830D-762C-6B4C1678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CC16C2-56CD-EE3C-3940-46F2BA7C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08E67-ADD9-CE53-76D3-901C03D8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46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0B90A2-FB11-4265-5FE4-412FE9F7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8E7F85-F072-AEE3-C351-FABAFD1FD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F13830-CA0F-4693-E8D1-8615FD749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85584-754D-4F7A-9258-7AC0369F478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E2743D-4E2C-CF97-46CC-5575E23A8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2B177-B84D-EC6E-E48A-EEF6D48D5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77DAE-EB87-4182-93AD-A60CF8B4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1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5E4283-BC12-3616-BC37-D24BAC27A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F5F1CC-2436-3CF0-5489-A523F8168F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1691C7-493E-E69A-694E-01A3E77BFB41}"/>
              </a:ext>
            </a:extLst>
          </p:cNvPr>
          <p:cNvSpPr/>
          <p:nvPr/>
        </p:nvSpPr>
        <p:spPr>
          <a:xfrm>
            <a:off x="0" y="5308600"/>
            <a:ext cx="12192000" cy="15494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E5B744-ADFE-B6AC-2248-B2C4319961AD}"/>
              </a:ext>
            </a:extLst>
          </p:cNvPr>
          <p:cNvSpPr txBox="1"/>
          <p:nvPr/>
        </p:nvSpPr>
        <p:spPr>
          <a:xfrm>
            <a:off x="787400" y="1117600"/>
            <a:ext cx="10541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胸片感染区域分割系统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BA5F75-3C96-299A-F09D-78EA50434D46}"/>
              </a:ext>
            </a:extLst>
          </p:cNvPr>
          <p:cNvSpPr txBox="1"/>
          <p:nvPr/>
        </p:nvSpPr>
        <p:spPr>
          <a:xfrm>
            <a:off x="838200" y="19304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>
                <a:solidFill>
                  <a:srgbClr val="CBD5E1"/>
                </a:solidFill>
                <a:latin typeface="Microsoft YaHei" panose="020B0503020204020204" pitchFamily="34" charset="-122"/>
              </a:rPr>
              <a:t>TransUNet2D v18 + LowDice </a:t>
            </a:r>
            <a:r>
              <a:rPr lang="zh-CN" altLang="en-US" sz="2000">
                <a:solidFill>
                  <a:srgbClr val="CBD5E1"/>
                </a:solidFill>
                <a:latin typeface="Microsoft YaHei" panose="020B0503020204020204" pitchFamily="34" charset="-122"/>
              </a:rPr>
              <a:t>多专家门控优化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873791-74E1-447C-2A18-5F1BAB85E921}"/>
              </a:ext>
            </a:extLst>
          </p:cNvPr>
          <p:cNvSpPr txBox="1"/>
          <p:nvPr/>
        </p:nvSpPr>
        <p:spPr>
          <a:xfrm>
            <a:off x="838200" y="5715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项目展示详版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PPT  |  QaTa-COV19  |  Web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可视化系统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32C881-F705-4640-E35C-DD35F0F7D85F}"/>
              </a:ext>
            </a:extLst>
          </p:cNvPr>
          <p:cNvSpPr txBox="1"/>
          <p:nvPr/>
        </p:nvSpPr>
        <p:spPr>
          <a:xfrm>
            <a:off x="8890000" y="1066800"/>
            <a:ext cx="266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FCD34D"/>
                </a:solidFill>
                <a:latin typeface="Microsoft YaHei" panose="020B0503020204020204" pitchFamily="34" charset="-122"/>
              </a:rPr>
              <a:t>Final Dice 0.7959</a:t>
            </a:r>
            <a:endParaRPr lang="zh-CN" altLang="en-US" sz="2000" b="1">
              <a:solidFill>
                <a:srgbClr val="FCD34D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58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89517C-91C8-E56E-C70F-A93F515E71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2B5036-7AE8-00F1-21DB-F054DE7B012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BA57E7-3E1F-98A8-C0F7-DB7A127154F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展示目录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E92507-CE99-F422-3124-AC817AC1006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这份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怎么讲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988618-0BB7-43CA-C78D-8948959C7CC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按系统、模型、公式、可视化、代码五条线展开。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4C27715-4E65-E030-7D1A-AAB4E6586634}"/>
              </a:ext>
            </a:extLst>
          </p:cNvPr>
          <p:cNvSpPr/>
          <p:nvPr/>
        </p:nvSpPr>
        <p:spPr>
          <a:xfrm>
            <a:off x="762000" y="1841500"/>
            <a:ext cx="3302000" cy="1333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3B240A-E154-2088-B407-7848A23ADF6C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系统与数据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CF67DA-4BF5-9BB1-66F3-4F4AAB5735BC}"/>
              </a:ext>
            </a:extLst>
          </p:cNvPr>
          <p:cNvSpPr txBox="1"/>
          <p:nvPr/>
        </p:nvSpPr>
        <p:spPr>
          <a:xfrm>
            <a:off x="939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任务目标、数据集、预处理、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系统入口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A1841C7-947D-C9DB-E605-A47E9BE818DB}"/>
              </a:ext>
            </a:extLst>
          </p:cNvPr>
          <p:cNvSpPr/>
          <p:nvPr/>
        </p:nvSpPr>
        <p:spPr>
          <a:xfrm>
            <a:off x="4445000" y="1841500"/>
            <a:ext cx="3302000" cy="1333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A30B42-B13A-3858-1125-E69442CF3E06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3B5558-789E-E816-9546-6CA185D174E5}"/>
              </a:ext>
            </a:extLst>
          </p:cNvPr>
          <p:cNvSpPr txBox="1"/>
          <p:nvPr/>
        </p:nvSpPr>
        <p:spPr>
          <a:xfrm>
            <a:off x="4622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输入图像 → 模型概率图 → 阈值化 → 后处理 → 可视化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BC62E91-2AB9-986A-C220-1C335E8B583E}"/>
              </a:ext>
            </a:extLst>
          </p:cNvPr>
          <p:cNvSpPr/>
          <p:nvPr/>
        </p:nvSpPr>
        <p:spPr>
          <a:xfrm>
            <a:off x="8128000" y="1841500"/>
            <a:ext cx="3302000" cy="1333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9C472F-18F2-F8BF-4218-0E9AD176C7BD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模型优化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112CAB-A0AA-04F5-A71F-7F5365EC30FC}"/>
              </a:ext>
            </a:extLst>
          </p:cNvPr>
          <p:cNvSpPr txBox="1"/>
          <p:nvPr/>
        </p:nvSpPr>
        <p:spPr>
          <a:xfrm>
            <a:off x="8305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基线、低分样本分析、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DF8179-4AF6-29F0-9F7A-A44B59D0D1F9}"/>
              </a:ext>
            </a:extLst>
          </p:cNvPr>
          <p:cNvSpPr/>
          <p:nvPr/>
        </p:nvSpPr>
        <p:spPr>
          <a:xfrm>
            <a:off x="762000" y="3683000"/>
            <a:ext cx="3302000" cy="1333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F701C3-314F-976C-172D-6DB859FD30AE}"/>
              </a:ext>
            </a:extLst>
          </p:cNvPr>
          <p:cNvSpPr txBox="1"/>
          <p:nvPr/>
        </p:nvSpPr>
        <p:spPr>
          <a:xfrm>
            <a:off x="939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评价公式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A35638-803C-9C61-F4F4-4907E73C2D9F}"/>
              </a:ext>
            </a:extLst>
          </p:cNvPr>
          <p:cNvSpPr txBox="1"/>
          <p:nvPr/>
        </p:nvSpPr>
        <p:spPr>
          <a:xfrm>
            <a:off x="939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、损失函数和字母含义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77DF0C8-27CD-6C98-0E82-729E2A6AE949}"/>
              </a:ext>
            </a:extLst>
          </p:cNvPr>
          <p:cNvSpPr/>
          <p:nvPr/>
        </p:nvSpPr>
        <p:spPr>
          <a:xfrm>
            <a:off x="4445000" y="3683000"/>
            <a:ext cx="3302000" cy="1333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77EA1D-53CA-5E02-5BA3-2D7BE876DE34}"/>
              </a:ext>
            </a:extLst>
          </p:cNvPr>
          <p:cNvSpPr txBox="1"/>
          <p:nvPr/>
        </p:nvSpPr>
        <p:spPr>
          <a:xfrm>
            <a:off x="4622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实验展示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DE8F30-734C-5953-0D19-FEDC4C7D1DCA}"/>
              </a:ext>
            </a:extLst>
          </p:cNvPr>
          <p:cNvSpPr txBox="1"/>
          <p:nvPr/>
        </p:nvSpPr>
        <p:spPr>
          <a:xfrm>
            <a:off x="4622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定量对比、低分样本提升、颜色图例、误差图说明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C284705-9C15-4047-8AFD-4ED35F7E62E3}"/>
              </a:ext>
            </a:extLst>
          </p:cNvPr>
          <p:cNvSpPr/>
          <p:nvPr/>
        </p:nvSpPr>
        <p:spPr>
          <a:xfrm>
            <a:off x="8128000" y="3683000"/>
            <a:ext cx="3302000" cy="13335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E1CD0A-CEE6-350C-5C84-D337C6F375DF}"/>
              </a:ext>
            </a:extLst>
          </p:cNvPr>
          <p:cNvSpPr txBox="1"/>
          <p:nvPr/>
        </p:nvSpPr>
        <p:spPr>
          <a:xfrm>
            <a:off x="8305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关键代码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01E8852-5A5D-3FA9-D70A-D1FAD05533D0}"/>
              </a:ext>
            </a:extLst>
          </p:cNvPr>
          <p:cNvSpPr txBox="1"/>
          <p:nvPr/>
        </p:nvSpPr>
        <p:spPr>
          <a:xfrm>
            <a:off x="8305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模型先验、门控路由、推理后处理、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30127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519C3F-FC3F-3B54-4C1A-77984177E6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7F7DDA-74B9-13A7-20A1-9955E5DC527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E20683-8895-4AE6-3A6D-963B7C8F7B4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项目目标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07F368-6CE9-A629-8D14-28422C41932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要解决的问题是什么？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1E350B-58C4-CD6A-73EE-13521B05220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给定一张胸片，自动找出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感染区域。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323307-B9F2-DF7C-60F0-5C801CFDA9E3}"/>
              </a:ext>
            </a:extLst>
          </p:cNvPr>
          <p:cNvSpPr/>
          <p:nvPr/>
        </p:nvSpPr>
        <p:spPr>
          <a:xfrm>
            <a:off x="825500" y="1905000"/>
            <a:ext cx="31750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18AD5B-CF50-9F49-C66A-668687CFA182}"/>
              </a:ext>
            </a:extLst>
          </p:cNvPr>
          <p:cNvSpPr txBox="1"/>
          <p:nvPr/>
        </p:nvSpPr>
        <p:spPr>
          <a:xfrm>
            <a:off x="1003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A226C2-280E-CFAC-2FE7-A736B7B5BF71}"/>
              </a:ext>
            </a:extLst>
          </p:cNvPr>
          <p:cNvSpPr txBox="1"/>
          <p:nvPr/>
        </p:nvSpPr>
        <p:spPr>
          <a:xfrm>
            <a:off x="1003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光图像
格式：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 / JPG / 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来源：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QaTa-COV19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FCA6D2-4560-2B75-16CE-F80734AC0C5D}"/>
              </a:ext>
            </a:extLst>
          </p:cNvPr>
          <p:cNvSpPr/>
          <p:nvPr/>
        </p:nvSpPr>
        <p:spPr>
          <a:xfrm>
            <a:off x="4508500" y="1905000"/>
            <a:ext cx="31750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639010-ACFE-132D-67FF-34E3D9F28CB4}"/>
              </a:ext>
            </a:extLst>
          </p:cNvPr>
          <p:cNvSpPr txBox="1"/>
          <p:nvPr/>
        </p:nvSpPr>
        <p:spPr>
          <a:xfrm>
            <a:off x="4686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算法输出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86C17A-D1EB-177E-2808-9A44C8F2D2D8}"/>
              </a:ext>
            </a:extLst>
          </p:cNvPr>
          <p:cNvSpPr txBox="1"/>
          <p:nvPr/>
        </p:nvSpPr>
        <p:spPr>
          <a:xfrm>
            <a:off x="4686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像素级感染概率图
二值感染掩码
病灶面积占比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436EF3-BF49-5B34-DD03-A32851A16181}"/>
              </a:ext>
            </a:extLst>
          </p:cNvPr>
          <p:cNvSpPr/>
          <p:nvPr/>
        </p:nvSpPr>
        <p:spPr>
          <a:xfrm>
            <a:off x="8191500" y="1905000"/>
            <a:ext cx="31750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3C330A-4484-C7B7-A61F-FFACA12370DC}"/>
              </a:ext>
            </a:extLst>
          </p:cNvPr>
          <p:cNvSpPr txBox="1"/>
          <p:nvPr/>
        </p:nvSpPr>
        <p:spPr>
          <a:xfrm>
            <a:off x="8369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185894-15D9-C7B3-787F-3B8137EA3AC6}"/>
              </a:ext>
            </a:extLst>
          </p:cNvPr>
          <p:cNvSpPr txBox="1"/>
          <p:nvPr/>
        </p:nvSpPr>
        <p:spPr>
          <a:xfrm>
            <a:off x="8369300" y="2476500"/>
            <a:ext cx="2819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Error Map
Dice / IoU / Precision / Recall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1246300-9302-D165-CA76-A1DE04DBE3D6}"/>
              </a:ext>
            </a:extLst>
          </p:cNvPr>
          <p:cNvCxnSpPr/>
          <p:nvPr/>
        </p:nvCxnSpPr>
        <p:spPr>
          <a:xfrm>
            <a:off x="4000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A6C2C5-6534-6D5C-3439-A0B7617AD340}"/>
              </a:ext>
            </a:extLst>
          </p:cNvPr>
          <p:cNvCxnSpPr/>
          <p:nvPr/>
        </p:nvCxnSpPr>
        <p:spPr>
          <a:xfrm>
            <a:off x="7683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D0ABCE6-70B8-CA8A-D6F4-93CC93863C81}"/>
              </a:ext>
            </a:extLst>
          </p:cNvPr>
          <p:cNvSpPr txBox="1"/>
          <p:nvPr/>
        </p:nvSpPr>
        <p:spPr>
          <a:xfrm>
            <a:off x="952500" y="54610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DC2626"/>
                </a:solidFill>
                <a:latin typeface="Microsoft YaHei" panose="020B0503020204020204" pitchFamily="34" charset="-122"/>
              </a:rPr>
              <a:t>核心难点：病灶区域小、边界模糊、灰度与肺纹理接近，容易误检或漏检。</a:t>
            </a:r>
          </a:p>
        </p:txBody>
      </p:sp>
    </p:spTree>
    <p:extLst>
      <p:ext uri="{BB962C8B-B14F-4D97-AF65-F5344CB8AC3E}">
        <p14:creationId xmlns:p14="http://schemas.microsoft.com/office/powerpoint/2010/main" val="344954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6F7A3A-ADDA-B2F9-75DD-A8D0026841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54EFD5-0ED9-8FA2-ED75-F1ECC46C77B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1B030A-A45B-41FA-D028-9F574E0F48E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C299C9-ACD1-46B7-94E3-866B3DF5DD5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系统由四层组成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FA33FA-5FC9-6FD9-90D9-A19D0D686A2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数据层、模型层、评估层、展示层。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ED7C02B-196B-E8DE-7820-7D1223F83C34}"/>
              </a:ext>
            </a:extLst>
          </p:cNvPr>
          <p:cNvSpPr/>
          <p:nvPr/>
        </p:nvSpPr>
        <p:spPr>
          <a:xfrm>
            <a:off x="825500" y="1714500"/>
            <a:ext cx="2286000" cy="3175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5D4E67-4171-5FAC-719E-2214C44300F8}"/>
              </a:ext>
            </a:extLst>
          </p:cNvPr>
          <p:cNvSpPr txBox="1"/>
          <p:nvPr/>
        </p:nvSpPr>
        <p:spPr>
          <a:xfrm>
            <a:off x="1003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F35316-C67B-83EC-A6D5-35B0AEC53526}"/>
              </a:ext>
            </a:extLst>
          </p:cNvPr>
          <p:cNvSpPr txBox="1"/>
          <p:nvPr/>
        </p:nvSpPr>
        <p:spPr>
          <a:xfrm>
            <a:off x="1003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raw images
GT masks
NPZ cache
manifest.csv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E01920C-CC5F-B00A-F0D7-EE4677F4CB9C}"/>
              </a:ext>
            </a:extLst>
          </p:cNvPr>
          <p:cNvSpPr/>
          <p:nvPr/>
        </p:nvSpPr>
        <p:spPr>
          <a:xfrm>
            <a:off x="3492500" y="1714500"/>
            <a:ext cx="2286000" cy="3175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7F6F24-93F5-8D4E-5F1B-0E9BAFBB6179}"/>
              </a:ext>
            </a:extLst>
          </p:cNvPr>
          <p:cNvSpPr txBox="1"/>
          <p:nvPr/>
        </p:nvSpPr>
        <p:spPr>
          <a:xfrm>
            <a:off x="3670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9CD092-AE3C-769F-2919-E5EA4A64AF7A}"/>
              </a:ext>
            </a:extLst>
          </p:cNvPr>
          <p:cNvSpPr txBox="1"/>
          <p:nvPr/>
        </p:nvSpPr>
        <p:spPr>
          <a:xfrm>
            <a:off x="3670300" y="22860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v18
LowDice experts
threshold / min_area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6024B52-8435-9012-6D8B-520567E4A262}"/>
              </a:ext>
            </a:extLst>
          </p:cNvPr>
          <p:cNvSpPr/>
          <p:nvPr/>
        </p:nvSpPr>
        <p:spPr>
          <a:xfrm>
            <a:off x="6159500" y="1714500"/>
            <a:ext cx="2286000" cy="3175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367C530-5950-E703-B05E-04F8B396F415}"/>
              </a:ext>
            </a:extLst>
          </p:cNvPr>
          <p:cNvSpPr txBox="1"/>
          <p:nvPr/>
        </p:nvSpPr>
        <p:spPr>
          <a:xfrm>
            <a:off x="6337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7052E6-2ABE-9B74-1A56-20F4EA4C10CE}"/>
              </a:ext>
            </a:extLst>
          </p:cNvPr>
          <p:cNvSpPr txBox="1"/>
          <p:nvPr/>
        </p:nvSpPr>
        <p:spPr>
          <a:xfrm>
            <a:off x="6337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/ IoU
Precision / Recall
low-dice analysis
expert gate eval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F57C1F4-2570-1B4A-CB9A-0EFFC95100BB}"/>
              </a:ext>
            </a:extLst>
          </p:cNvPr>
          <p:cNvSpPr/>
          <p:nvPr/>
        </p:nvSpPr>
        <p:spPr>
          <a:xfrm>
            <a:off x="8826500" y="1714500"/>
            <a:ext cx="2286000" cy="3175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27CF0B-988F-9AAB-F4C3-4013FE1375E4}"/>
              </a:ext>
            </a:extLst>
          </p:cNvPr>
          <p:cNvSpPr txBox="1"/>
          <p:nvPr/>
        </p:nvSpPr>
        <p:spPr>
          <a:xfrm>
            <a:off x="9004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FD2F4B-8A19-243F-FE77-961969B7D6EB}"/>
              </a:ext>
            </a:extLst>
          </p:cNvPr>
          <p:cNvSpPr txBox="1"/>
          <p:nvPr/>
        </p:nvSpPr>
        <p:spPr>
          <a:xfrm>
            <a:off x="9004300" y="2286000"/>
            <a:ext cx="1930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web/index.html
app_v12_web.py
Original / Mask / Overlay
Download outputs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9D66C60-4895-F3F1-584B-090499785CB4}"/>
              </a:ext>
            </a:extLst>
          </p:cNvPr>
          <p:cNvCxnSpPr/>
          <p:nvPr/>
        </p:nvCxnSpPr>
        <p:spPr>
          <a:xfrm>
            <a:off x="3111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0803F95-D005-928C-3918-F1D6D3652326}"/>
              </a:ext>
            </a:extLst>
          </p:cNvPr>
          <p:cNvCxnSpPr/>
          <p:nvPr/>
        </p:nvCxnSpPr>
        <p:spPr>
          <a:xfrm>
            <a:off x="5778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1BCC472-7272-53DE-361C-4964639D1683}"/>
              </a:ext>
            </a:extLst>
          </p:cNvPr>
          <p:cNvCxnSpPr/>
          <p:nvPr/>
        </p:nvCxnSpPr>
        <p:spPr>
          <a:xfrm>
            <a:off x="8445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51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FFA62D-A527-20B2-B24F-DD2E4CBBD8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0A7250-87EB-7944-EE26-E443A3E92C5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1B63BF-ACC8-3479-E3DC-B1E5CE304FC0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数据集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DF1B02-2B43-B850-4677-AAD2D78E4CB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数据与划分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296CB5-635F-A822-AAE1-3B5B979D21C5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以胸片图像和人工感染区域标注为监督信号。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2DBBF9-2C31-A93E-A8C7-AE3D48134100}"/>
              </a:ext>
            </a:extLst>
          </p:cNvPr>
          <p:cNvSpPr/>
          <p:nvPr/>
        </p:nvSpPr>
        <p:spPr>
          <a:xfrm>
            <a:off x="762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80A1DD-0194-0C99-7F46-6A4D2848AB7B}"/>
              </a:ext>
            </a:extLst>
          </p:cNvPr>
          <p:cNvSpPr txBox="1"/>
          <p:nvPr/>
        </p:nvSpPr>
        <p:spPr>
          <a:xfrm>
            <a:off x="939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总样本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D38A41-2E24-92E6-D456-6F32B85EC0A9}"/>
              </a:ext>
            </a:extLst>
          </p:cNvPr>
          <p:cNvSpPr txBox="1"/>
          <p:nvPr/>
        </p:nvSpPr>
        <p:spPr>
          <a:xfrm>
            <a:off x="939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9258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853D8E-546F-528D-DF60-9CFC6AEAE548}"/>
              </a:ext>
            </a:extLst>
          </p:cNvPr>
          <p:cNvSpPr txBox="1"/>
          <p:nvPr/>
        </p:nvSpPr>
        <p:spPr>
          <a:xfrm>
            <a:off x="939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全部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manifest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记录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AD4B54F-A0A2-276D-562E-12E4C79FC9D2}"/>
              </a:ext>
            </a:extLst>
          </p:cNvPr>
          <p:cNvSpPr/>
          <p:nvPr/>
        </p:nvSpPr>
        <p:spPr>
          <a:xfrm>
            <a:off x="3556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949BC1-BB00-53D0-1465-31C9D04A9A95}"/>
              </a:ext>
            </a:extLst>
          </p:cNvPr>
          <p:cNvSpPr txBox="1"/>
          <p:nvPr/>
        </p:nvSpPr>
        <p:spPr>
          <a:xfrm>
            <a:off x="3733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训练集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0C1692-85B3-6A57-0B63-86A9796AC841}"/>
              </a:ext>
            </a:extLst>
          </p:cNvPr>
          <p:cNvSpPr txBox="1"/>
          <p:nvPr/>
        </p:nvSpPr>
        <p:spPr>
          <a:xfrm>
            <a:off x="3733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059669"/>
                </a:solidFill>
                <a:latin typeface="Microsoft YaHei" panose="020B0503020204020204" pitchFamily="34" charset="-122"/>
              </a:rPr>
              <a:t>7406</a:t>
            </a:r>
            <a:endParaRPr lang="zh-CN" altLang="en-US" sz="24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D5F014-C54A-240A-9935-F63C71158F0A}"/>
              </a:ext>
            </a:extLst>
          </p:cNvPr>
          <p:cNvSpPr txBox="1"/>
          <p:nvPr/>
        </p:nvSpPr>
        <p:spPr>
          <a:xfrm>
            <a:off x="3733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用于模型拟合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27A686E-F465-4B78-DF38-00BFBF0D6D2F}"/>
              </a:ext>
            </a:extLst>
          </p:cNvPr>
          <p:cNvSpPr/>
          <p:nvPr/>
        </p:nvSpPr>
        <p:spPr>
          <a:xfrm>
            <a:off x="6350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99EAAC-9D42-D3E5-54CF-C5F248F28B00}"/>
              </a:ext>
            </a:extLst>
          </p:cNvPr>
          <p:cNvSpPr txBox="1"/>
          <p:nvPr/>
        </p:nvSpPr>
        <p:spPr>
          <a:xfrm>
            <a:off x="6527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验证集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AF8FAC-D907-8C53-45D2-BA30D21991C6}"/>
              </a:ext>
            </a:extLst>
          </p:cNvPr>
          <p:cNvSpPr txBox="1"/>
          <p:nvPr/>
        </p:nvSpPr>
        <p:spPr>
          <a:xfrm>
            <a:off x="6527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925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E5E427-4720-24EC-B155-A19430788DD1}"/>
              </a:ext>
            </a:extLst>
          </p:cNvPr>
          <p:cNvSpPr txBox="1"/>
          <p:nvPr/>
        </p:nvSpPr>
        <p:spPr>
          <a:xfrm>
            <a:off x="6527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用于阈值和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checkpoint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选择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57A4F09-366D-957F-499D-8215DBA13213}"/>
              </a:ext>
            </a:extLst>
          </p:cNvPr>
          <p:cNvSpPr/>
          <p:nvPr/>
        </p:nvSpPr>
        <p:spPr>
          <a:xfrm>
            <a:off x="9144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9D158D-B17D-592C-879F-CC2BCDF76A8F}"/>
              </a:ext>
            </a:extLst>
          </p:cNvPr>
          <p:cNvSpPr txBox="1"/>
          <p:nvPr/>
        </p:nvSpPr>
        <p:spPr>
          <a:xfrm>
            <a:off x="9321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测试集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9BD60F-859D-800D-DC9C-31719765EDAE}"/>
              </a:ext>
            </a:extLst>
          </p:cNvPr>
          <p:cNvSpPr txBox="1"/>
          <p:nvPr/>
        </p:nvSpPr>
        <p:spPr>
          <a:xfrm>
            <a:off x="9321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927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C4115F-B420-48A7-99D0-B767B199C1EE}"/>
              </a:ext>
            </a:extLst>
          </p:cNvPr>
          <p:cNvSpPr txBox="1"/>
          <p:nvPr/>
        </p:nvSpPr>
        <p:spPr>
          <a:xfrm>
            <a:off x="9321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最终评估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A59959-A4DE-CCC4-BAAD-01EC563D44E5}"/>
              </a:ext>
            </a:extLst>
          </p:cNvPr>
          <p:cNvSpPr txBox="1"/>
          <p:nvPr/>
        </p:nvSpPr>
        <p:spPr>
          <a:xfrm>
            <a:off x="914400" y="381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每条数据包含：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id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。训练时读取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917118C-CBB5-E8F4-C415-F529CCBA385C}"/>
              </a:ext>
            </a:extLst>
          </p:cNvPr>
          <p:cNvSpPr txBox="1"/>
          <p:nvPr/>
        </p:nvSpPr>
        <p:spPr>
          <a:xfrm>
            <a:off x="914400" y="4572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为什么要单独保留测试集：避免用测试样本调参，保证最终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具有对比意义。</a:t>
            </a:r>
          </a:p>
        </p:txBody>
      </p:sp>
    </p:spTree>
    <p:extLst>
      <p:ext uri="{BB962C8B-B14F-4D97-AF65-F5344CB8AC3E}">
        <p14:creationId xmlns:p14="http://schemas.microsoft.com/office/powerpoint/2010/main" val="224251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97DA38-D39B-9C83-C859-B29AEC96A7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CCBC56-5B48-1A6B-1D19-2E87B1B4795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50325A-6AA9-CD4B-D7D3-B8EC5EEBE31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预处理流程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4BB185-3503-A3B5-4572-35CD04C056D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图像进入模型前做了什么？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5AEECE-ED5C-23D8-3056-567B14D4B39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统一输入尺度和数值范围，保证模型训练稳定。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95C3123-4654-453B-0261-8E5A1F87702D}"/>
              </a:ext>
            </a:extLst>
          </p:cNvPr>
          <p:cNvSpPr/>
          <p:nvPr/>
        </p:nvSpPr>
        <p:spPr>
          <a:xfrm>
            <a:off x="571500" y="1905000"/>
            <a:ext cx="2095500" cy="2476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BB70CD-907E-F44D-33EA-40F3B0DA8355}"/>
              </a:ext>
            </a:extLst>
          </p:cNvPr>
          <p:cNvSpPr txBox="1"/>
          <p:nvPr/>
        </p:nvSpPr>
        <p:spPr>
          <a:xfrm>
            <a:off x="749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读取图像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008FED-5EED-82AE-42A3-17F7B06DD09D}"/>
              </a:ext>
            </a:extLst>
          </p:cNvPr>
          <p:cNvSpPr txBox="1"/>
          <p:nvPr/>
        </p:nvSpPr>
        <p:spPr>
          <a:xfrm>
            <a:off x="749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PIL/OpenCV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读取
转灰度图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2A56DCB-7B0E-A2AC-51FD-FED37CF77FFE}"/>
              </a:ext>
            </a:extLst>
          </p:cNvPr>
          <p:cNvSpPr/>
          <p:nvPr/>
        </p:nvSpPr>
        <p:spPr>
          <a:xfrm>
            <a:off x="2984500" y="1905000"/>
            <a:ext cx="2095500" cy="2476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45FC84-F9D5-C1A3-F78E-C3345F48EC2B}"/>
              </a:ext>
            </a:extLst>
          </p:cNvPr>
          <p:cNvSpPr txBox="1"/>
          <p:nvPr/>
        </p:nvSpPr>
        <p:spPr>
          <a:xfrm>
            <a:off x="3162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归一化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84AAFA-9297-E848-46BE-6F14BC8430F4}"/>
              </a:ext>
            </a:extLst>
          </p:cNvPr>
          <p:cNvSpPr txBox="1"/>
          <p:nvPr/>
        </p:nvSpPr>
        <p:spPr>
          <a:xfrm>
            <a:off x="3162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像素缩放到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[0,1]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减少曝光差异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9F79DCF-C611-C39C-1679-02A3E409A9E8}"/>
              </a:ext>
            </a:extLst>
          </p:cNvPr>
          <p:cNvSpPr/>
          <p:nvPr/>
        </p:nvSpPr>
        <p:spPr>
          <a:xfrm>
            <a:off x="5397500" y="1905000"/>
            <a:ext cx="2095500" cy="2476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C25218-1FB4-DE37-E3E2-6D2D03FA0EAA}"/>
              </a:ext>
            </a:extLst>
          </p:cNvPr>
          <p:cNvSpPr txBox="1"/>
          <p:nvPr/>
        </p:nvSpPr>
        <p:spPr>
          <a:xfrm>
            <a:off x="5575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尺寸统一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76AAC6-5C47-2F0E-2F93-702FBDA8FBF0}"/>
              </a:ext>
            </a:extLst>
          </p:cNvPr>
          <p:cNvSpPr txBox="1"/>
          <p:nvPr/>
        </p:nvSpPr>
        <p:spPr>
          <a:xfrm>
            <a:off x="5575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Resize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224×224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形成固定输入张量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A87865B-994C-3365-942C-329442D67219}"/>
              </a:ext>
            </a:extLst>
          </p:cNvPr>
          <p:cNvSpPr/>
          <p:nvPr/>
        </p:nvSpPr>
        <p:spPr>
          <a:xfrm>
            <a:off x="7810500" y="1905000"/>
            <a:ext cx="2095500" cy="2476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8AB825-4736-2527-54AC-1CEA8115FA13}"/>
              </a:ext>
            </a:extLst>
          </p:cNvPr>
          <p:cNvSpPr txBox="1"/>
          <p:nvPr/>
        </p:nvSpPr>
        <p:spPr>
          <a:xfrm>
            <a:off x="7988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Mask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9A688C6-5AD2-A5C0-19EF-CF10ADFB3CF6}"/>
              </a:ext>
            </a:extLst>
          </p:cNvPr>
          <p:cNvSpPr txBox="1"/>
          <p:nvPr/>
        </p:nvSpPr>
        <p:spPr>
          <a:xfrm>
            <a:off x="7988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感染区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=1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背景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=0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36E9A30-2980-EEFE-94D5-ED80110E1CDB}"/>
              </a:ext>
            </a:extLst>
          </p:cNvPr>
          <p:cNvSpPr/>
          <p:nvPr/>
        </p:nvSpPr>
        <p:spPr>
          <a:xfrm>
            <a:off x="10223500" y="1905000"/>
            <a:ext cx="1397000" cy="2476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12182F-4747-7D2D-CE61-6D1C52805D82}"/>
              </a:ext>
            </a:extLst>
          </p:cNvPr>
          <p:cNvSpPr txBox="1"/>
          <p:nvPr/>
        </p:nvSpPr>
        <p:spPr>
          <a:xfrm>
            <a:off x="10401300" y="2057400"/>
            <a:ext cx="1041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存储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13588B-AAFD-4D18-1297-F3A15BA18011}"/>
              </a:ext>
            </a:extLst>
          </p:cNvPr>
          <p:cNvSpPr txBox="1"/>
          <p:nvPr/>
        </p:nvSpPr>
        <p:spPr>
          <a:xfrm>
            <a:off x="10401300" y="2476500"/>
            <a:ext cx="104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NPZ
manifest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C2EBB51-F952-C80E-DAA7-D084DDA08FA7}"/>
              </a:ext>
            </a:extLst>
          </p:cNvPr>
          <p:cNvCxnSpPr/>
          <p:nvPr/>
        </p:nvCxnSpPr>
        <p:spPr>
          <a:xfrm>
            <a:off x="2667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794110D-652F-A3D0-32E9-4A717AC6B80F}"/>
              </a:ext>
            </a:extLst>
          </p:cNvPr>
          <p:cNvCxnSpPr/>
          <p:nvPr/>
        </p:nvCxnSpPr>
        <p:spPr>
          <a:xfrm>
            <a:off x="5080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51A5EF-67F4-9622-793D-5F97863D79EC}"/>
              </a:ext>
            </a:extLst>
          </p:cNvPr>
          <p:cNvCxnSpPr/>
          <p:nvPr/>
        </p:nvCxnSpPr>
        <p:spPr>
          <a:xfrm>
            <a:off x="7493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5559BFA-215E-E100-3030-A64EAB2D3E95}"/>
              </a:ext>
            </a:extLst>
          </p:cNvPr>
          <p:cNvCxnSpPr/>
          <p:nvPr/>
        </p:nvCxnSpPr>
        <p:spPr>
          <a:xfrm>
            <a:off x="9906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9666D13-EE7F-5F44-DAA9-7079D3CE937C}"/>
              </a:ext>
            </a:extLst>
          </p:cNvPr>
          <p:cNvSpPr txBox="1"/>
          <p:nvPr/>
        </p:nvSpPr>
        <p:spPr>
          <a:xfrm>
            <a:off x="889000" y="5143500"/>
            <a:ext cx="1054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训练增强：水平翻转、亮度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对比度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/Gamma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、轻微噪声；避免垂直翻转破坏胸片上下结构。</a:t>
            </a:r>
          </a:p>
        </p:txBody>
      </p:sp>
    </p:spTree>
    <p:extLst>
      <p:ext uri="{BB962C8B-B14F-4D97-AF65-F5344CB8AC3E}">
        <p14:creationId xmlns:p14="http://schemas.microsoft.com/office/powerpoint/2010/main" val="326454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0E8F2E-015E-B30D-3508-0B5A858B42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1E64A9-94EE-8CF0-5195-B11E0BE0972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510D5E-8B27-AA67-0770-311267B0B87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58C786-A079-204A-2C79-5AC17252807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从概率图到最终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Mask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999E9B-A063-7068-07B8-AF7DBE9F8AA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模型输出不是直接结果，还需要阈值化和后处理。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1306D9C-976E-9F34-DC5F-172B9E3A4935}"/>
              </a:ext>
            </a:extLst>
          </p:cNvPr>
          <p:cNvSpPr/>
          <p:nvPr/>
        </p:nvSpPr>
        <p:spPr>
          <a:xfrm>
            <a:off x="698500" y="1905000"/>
            <a:ext cx="2286000" cy="2794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1F6B45-76C6-9CF3-835A-8F35CF77BB45}"/>
              </a:ext>
            </a:extLst>
          </p:cNvPr>
          <p:cNvSpPr txBox="1"/>
          <p:nvPr/>
        </p:nvSpPr>
        <p:spPr>
          <a:xfrm>
            <a:off x="876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1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模型前向传播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91A549-17A1-2961-0836-1C67F8F1D2DF}"/>
              </a:ext>
            </a:extLst>
          </p:cNvPr>
          <p:cNvSpPr txBox="1"/>
          <p:nvPr/>
        </p:nvSpPr>
        <p:spPr>
          <a:xfrm>
            <a:off x="876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logits Z
Sigmoid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得概率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546CE2-1F61-6593-B16C-E7FAB7414B2D}"/>
              </a:ext>
            </a:extLst>
          </p:cNvPr>
          <p:cNvSpPr/>
          <p:nvPr/>
        </p:nvSpPr>
        <p:spPr>
          <a:xfrm>
            <a:off x="3492500" y="1905000"/>
            <a:ext cx="2286000" cy="2794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D56FD4-D7B9-8CF7-9C24-E5CB39545D98}"/>
              </a:ext>
            </a:extLst>
          </p:cNvPr>
          <p:cNvSpPr txBox="1"/>
          <p:nvPr/>
        </p:nvSpPr>
        <p:spPr>
          <a:xfrm>
            <a:off x="3670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2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阈值化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F67A4B-6557-D35E-8BA0-FB99A9B73CA0}"/>
              </a:ext>
            </a:extLst>
          </p:cNvPr>
          <p:cNvSpPr txBox="1"/>
          <p:nvPr/>
        </p:nvSpPr>
        <p:spPr>
          <a:xfrm>
            <a:off x="3670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P(x,y) &gt; τ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则预测为感染区域
否则为背景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A711D3D-AEBC-270C-C422-4829949CEEC3}"/>
              </a:ext>
            </a:extLst>
          </p:cNvPr>
          <p:cNvSpPr/>
          <p:nvPr/>
        </p:nvSpPr>
        <p:spPr>
          <a:xfrm>
            <a:off x="6286500" y="1905000"/>
            <a:ext cx="2286000" cy="2794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94A4FF-31DA-A7EF-084D-76A71DE1AFFC}"/>
              </a:ext>
            </a:extLst>
          </p:cNvPr>
          <p:cNvSpPr txBox="1"/>
          <p:nvPr/>
        </p:nvSpPr>
        <p:spPr>
          <a:xfrm>
            <a:off x="6464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3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16AEAD-5E24-79E1-DB6B-A371551195BD}"/>
              </a:ext>
            </a:extLst>
          </p:cNvPr>
          <p:cNvSpPr txBox="1"/>
          <p:nvPr/>
        </p:nvSpPr>
        <p:spPr>
          <a:xfrm>
            <a:off x="6464300" y="24765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删除面积小于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的小碎片，降低噪声误检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BD06BF5-C25E-8920-A940-534231CCD895}"/>
              </a:ext>
            </a:extLst>
          </p:cNvPr>
          <p:cNvSpPr/>
          <p:nvPr/>
        </p:nvSpPr>
        <p:spPr>
          <a:xfrm>
            <a:off x="9080500" y="1905000"/>
            <a:ext cx="2286000" cy="2794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E3F1F9-7642-AD94-EC88-5E8CF2FC4BD0}"/>
              </a:ext>
            </a:extLst>
          </p:cNvPr>
          <p:cNvSpPr txBox="1"/>
          <p:nvPr/>
        </p:nvSpPr>
        <p:spPr>
          <a:xfrm>
            <a:off x="9258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4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可视化与评估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A5B965-13D7-1D46-DA61-B017B89E5A69}"/>
              </a:ext>
            </a:extLst>
          </p:cNvPr>
          <p:cNvSpPr txBox="1"/>
          <p:nvPr/>
        </p:nvSpPr>
        <p:spPr>
          <a:xfrm>
            <a:off x="9258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Mask / Overlay / Error Map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计算四个指标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574920C-86EC-8519-0E3E-C40576D31BF9}"/>
              </a:ext>
            </a:extLst>
          </p:cNvPr>
          <p:cNvCxnSpPr/>
          <p:nvPr/>
        </p:nvCxnSpPr>
        <p:spPr>
          <a:xfrm>
            <a:off x="2984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8B42A3A-FB57-AC2A-8B05-A803162407A2}"/>
              </a:ext>
            </a:extLst>
          </p:cNvPr>
          <p:cNvCxnSpPr/>
          <p:nvPr/>
        </p:nvCxnSpPr>
        <p:spPr>
          <a:xfrm>
            <a:off x="5778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D2390B-C1BD-CAB3-5E3D-A059CAE699CE}"/>
              </a:ext>
            </a:extLst>
          </p:cNvPr>
          <p:cNvCxnSpPr/>
          <p:nvPr/>
        </p:nvCxnSpPr>
        <p:spPr>
          <a:xfrm>
            <a:off x="8572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4685616-B2E0-7B9E-DAA8-764476432331}"/>
              </a:ext>
            </a:extLst>
          </p:cNvPr>
          <p:cNvSpPr txBox="1"/>
          <p:nvPr/>
        </p:nvSpPr>
        <p:spPr>
          <a:xfrm>
            <a:off x="889000" y="5334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本项目最终阈值不是固定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0.5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，而是在验证集上搜索；不同专家模型有各自最优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min_area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8477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92A719-3E46-8AAA-0412-96133BB0C4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9C1E97-7FC2-29D9-8861-E76184BDF42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7F6EE5-D156-7A69-9E76-9D523D4BCF4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后处理公式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6403EE-FD61-A534-DA0C-6EF91A7040D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二值化和连通域过滤怎么算？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8A3342-5E88-116A-647C-87EED0AA6E7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这一步决定最终感染面积和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结果。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32CA74-CDBB-96EE-0570-DC8FD1A5D49A}"/>
              </a:ext>
            </a:extLst>
          </p:cNvPr>
          <p:cNvSpPr txBox="1"/>
          <p:nvPr/>
        </p:nvSpPr>
        <p:spPr>
          <a:xfrm>
            <a:off x="889000" y="1841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概率图：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7751A5-E3EF-E526-1118-464A6CA651EB}"/>
              </a:ext>
            </a:extLst>
          </p:cNvPr>
          <p:cNvSpPr txBox="1"/>
          <p:nvPr/>
        </p:nvSpPr>
        <p:spPr>
          <a:xfrm>
            <a:off x="2794000" y="18415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P(x,y) = sigmoid(Z(x,y))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59F9FE-8F37-C951-1BA5-AAF1CC9FF682}"/>
              </a:ext>
            </a:extLst>
          </p:cNvPr>
          <p:cNvSpPr txBox="1"/>
          <p:nvPr/>
        </p:nvSpPr>
        <p:spPr>
          <a:xfrm>
            <a:off x="889000" y="2603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 </a:t>
            </a:r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435579-848E-DBE5-A673-B262C622470D}"/>
              </a:ext>
            </a:extLst>
          </p:cNvPr>
          <p:cNvSpPr txBox="1"/>
          <p:nvPr/>
        </p:nvSpPr>
        <p:spPr>
          <a:xfrm>
            <a:off x="2794000" y="2603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b="1">
                <a:solidFill>
                  <a:srgbClr val="DC2626"/>
                </a:solidFill>
                <a:latin typeface="Microsoft YaHei" panose="020B0503020204020204" pitchFamily="34" charset="-122"/>
              </a:rPr>
              <a:t>M_hat(x,y) = 1, if P(x,y) &gt; tau;  otherwise 0</a:t>
            </a:r>
            <a:endParaRPr lang="zh-CN" altLang="en-US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8F653A-75E7-D63C-2911-682EF636B2AC}"/>
              </a:ext>
            </a:extLst>
          </p:cNvPr>
          <p:cNvSpPr txBox="1"/>
          <p:nvPr/>
        </p:nvSpPr>
        <p:spPr>
          <a:xfrm>
            <a:off x="889000" y="3365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91CF13-0EE9-BEF9-0802-E4C9E7A290D8}"/>
              </a:ext>
            </a:extLst>
          </p:cNvPr>
          <p:cNvSpPr txBox="1"/>
          <p:nvPr/>
        </p:nvSpPr>
        <p:spPr>
          <a:xfrm>
            <a:off x="2794000" y="3365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删除面积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Area(C_i) &lt; min_area </a:t>
            </a:r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的预测连通块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C_i</a:t>
            </a:r>
            <a:endParaRPr lang="zh-CN" altLang="en-US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7BC0BFB-9794-5D34-3FB8-E3D6B27AE1B3}"/>
              </a:ext>
            </a:extLst>
          </p:cNvPr>
          <p:cNvSpPr/>
          <p:nvPr/>
        </p:nvSpPr>
        <p:spPr>
          <a:xfrm>
            <a:off x="1143000" y="4381500"/>
            <a:ext cx="2921000" cy="1206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134FB0-20A5-076E-31BF-9D6446E1E835}"/>
              </a:ext>
            </a:extLst>
          </p:cNvPr>
          <p:cNvSpPr txBox="1"/>
          <p:nvPr/>
        </p:nvSpPr>
        <p:spPr>
          <a:xfrm>
            <a:off x="1320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P(x,y)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9E3B8C-6754-47D7-2231-B4AFA4B30846}"/>
              </a:ext>
            </a:extLst>
          </p:cNvPr>
          <p:cNvSpPr txBox="1"/>
          <p:nvPr/>
        </p:nvSpPr>
        <p:spPr>
          <a:xfrm>
            <a:off x="1320800" y="4953000"/>
            <a:ext cx="2565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(x,y)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属于感染区域的概率。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00469DE-E694-4D64-5112-410699E20420}"/>
              </a:ext>
            </a:extLst>
          </p:cNvPr>
          <p:cNvSpPr/>
          <p:nvPr/>
        </p:nvSpPr>
        <p:spPr>
          <a:xfrm>
            <a:off x="4635500" y="4381500"/>
            <a:ext cx="2921000" cy="1206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ADEF1A-E8BF-4B09-02C3-B3F1E12DF298}"/>
              </a:ext>
            </a:extLst>
          </p:cNvPr>
          <p:cNvSpPr txBox="1"/>
          <p:nvPr/>
        </p:nvSpPr>
        <p:spPr>
          <a:xfrm>
            <a:off x="48133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tau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337D32-9FA6-9504-52F4-DCA5E086A819}"/>
              </a:ext>
            </a:extLst>
          </p:cNvPr>
          <p:cNvSpPr txBox="1"/>
          <p:nvPr/>
        </p:nvSpPr>
        <p:spPr>
          <a:xfrm>
            <a:off x="48133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阈值。越高越保守，误检减少但漏检可能增加。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8BFB6DB-78B6-0FE1-4BB2-9E4F265F7486}"/>
              </a:ext>
            </a:extLst>
          </p:cNvPr>
          <p:cNvSpPr/>
          <p:nvPr/>
        </p:nvSpPr>
        <p:spPr>
          <a:xfrm>
            <a:off x="8128000" y="4381500"/>
            <a:ext cx="2921000" cy="1206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89F30B-130A-D69B-FE4E-B7A431CFCC49}"/>
              </a:ext>
            </a:extLst>
          </p:cNvPr>
          <p:cNvSpPr txBox="1"/>
          <p:nvPr/>
        </p:nvSpPr>
        <p:spPr>
          <a:xfrm>
            <a:off x="8305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min_area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C41E2A-088F-CFB5-61B3-235507DF1EA1}"/>
              </a:ext>
            </a:extLst>
          </p:cNvPr>
          <p:cNvSpPr txBox="1"/>
          <p:nvPr/>
        </p:nvSpPr>
        <p:spPr>
          <a:xfrm>
            <a:off x="83058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最小连通域面积。用于过滤小噪声点。</a:t>
            </a:r>
          </a:p>
        </p:txBody>
      </p:sp>
    </p:spTree>
    <p:extLst>
      <p:ext uri="{BB962C8B-B14F-4D97-AF65-F5344CB8AC3E}">
        <p14:creationId xmlns:p14="http://schemas.microsoft.com/office/powerpoint/2010/main" val="38708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7F1DF4E-395D-626A-E8BB-436BD03926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6642B6-F5A2-51BB-9FDF-CD931080B18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DCDD63-D6FF-20A9-E622-0CC8A4D96AE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模型迭代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CD87ED-278B-5629-69EE-1E0235BF82B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模型路线为什么从单模型转向多专家？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87A57B-0680-A80F-8B39-32995713D59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单一结构改进提升有限，错误类型拆解更有效。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0EA30BF-8CD1-1430-372D-671669706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431338"/>
              </p:ext>
            </p:extLst>
          </p:nvPr>
        </p:nvGraphicFramePr>
        <p:xfrm>
          <a:off x="698500" y="1905000"/>
          <a:ext cx="10795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1451381404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592372530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407700689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290990350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代表方案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结论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03352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基础模型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U-Net / DynUNet / Attention U-Net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建立分割基线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可用但性能有限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43163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v11-v20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窗口注意力、边界、频域、先验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部分提升不稳定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7895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传统融合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利用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888956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最终优化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按低分错误类型选择专家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994187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35EF19F-7D3A-35F6-DFA9-0A5DBD119A94}"/>
              </a:ext>
            </a:extLst>
          </p:cNvPr>
          <p:cNvSpPr txBox="1"/>
          <p:nvPr/>
        </p:nvSpPr>
        <p:spPr>
          <a:xfrm>
            <a:off x="889000" y="5461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工程判断：如果某类错误反复出现，就针对这类错误训练专家，而不是继续把所有问题塞给一个模型。</a:t>
            </a:r>
          </a:p>
        </p:txBody>
      </p:sp>
    </p:spTree>
    <p:extLst>
      <p:ext uri="{BB962C8B-B14F-4D97-AF65-F5344CB8AC3E}">
        <p14:creationId xmlns:p14="http://schemas.microsoft.com/office/powerpoint/2010/main" val="21285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A494D3-3103-54BE-4AE5-85DF6C01F3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128EEC-B95D-5DC3-F970-5ED5AFB4CDB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C5E17E-F4AB-DA78-80BE-1B6E67BD137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基线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1B857C-F8CC-EC0D-14CB-E9907514B49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TransUNet2D v18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扮演什么角色？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8362A8-7F4C-19B0-DC32-6D9565A1DAD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它是最终门控策略的基准模型和常规样本默认输出。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6599E8D-89C8-2726-A774-FFDD706BC39A}"/>
              </a:ext>
            </a:extLst>
          </p:cNvPr>
          <p:cNvSpPr/>
          <p:nvPr/>
        </p:nvSpPr>
        <p:spPr>
          <a:xfrm>
            <a:off x="952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81C514-141B-2CA8-1073-419784A2172D}"/>
              </a:ext>
            </a:extLst>
          </p:cNvPr>
          <p:cNvSpPr txBox="1"/>
          <p:nvPr/>
        </p:nvSpPr>
        <p:spPr>
          <a:xfrm>
            <a:off x="1130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0506E1-EF90-0C6D-5900-4D5B1B69BFC1}"/>
              </a:ext>
            </a:extLst>
          </p:cNvPr>
          <p:cNvSpPr txBox="1"/>
          <p:nvPr/>
        </p:nvSpPr>
        <p:spPr>
          <a:xfrm>
            <a:off x="1130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7AEB84-5386-75C4-C396-628B0C5050CE}"/>
              </a:ext>
            </a:extLst>
          </p:cNvPr>
          <p:cNvSpPr txBox="1"/>
          <p:nvPr/>
        </p:nvSpPr>
        <p:spPr>
          <a:xfrm>
            <a:off x="1130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712F909-EC00-85F2-E9C1-863FEE0CFB67}"/>
              </a:ext>
            </a:extLst>
          </p:cNvPr>
          <p:cNvSpPr/>
          <p:nvPr/>
        </p:nvSpPr>
        <p:spPr>
          <a:xfrm>
            <a:off x="46990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89898A-0D13-49EC-B3B7-886FC301B9E1}"/>
              </a:ext>
            </a:extLst>
          </p:cNvPr>
          <p:cNvSpPr txBox="1"/>
          <p:nvPr/>
        </p:nvSpPr>
        <p:spPr>
          <a:xfrm>
            <a:off x="48768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低分样本数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FE5848-9FE0-7A36-236E-A40ABCFBC210}"/>
              </a:ext>
            </a:extLst>
          </p:cNvPr>
          <p:cNvSpPr txBox="1"/>
          <p:nvPr/>
        </p:nvSpPr>
        <p:spPr>
          <a:xfrm>
            <a:off x="48768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158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08F864-1618-0195-ED42-E0FF7290C822}"/>
              </a:ext>
            </a:extLst>
          </p:cNvPr>
          <p:cNvSpPr txBox="1"/>
          <p:nvPr/>
        </p:nvSpPr>
        <p:spPr>
          <a:xfrm>
            <a:off x="48768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 &lt; 0.60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E7B83BE-64FA-308D-5640-46022C537168}"/>
              </a:ext>
            </a:extLst>
          </p:cNvPr>
          <p:cNvSpPr/>
          <p:nvPr/>
        </p:nvSpPr>
        <p:spPr>
          <a:xfrm>
            <a:off x="8445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507519-BE38-A842-61B2-C9FB152BB8FB}"/>
              </a:ext>
            </a:extLst>
          </p:cNvPr>
          <p:cNvSpPr txBox="1"/>
          <p:nvPr/>
        </p:nvSpPr>
        <p:spPr>
          <a:xfrm>
            <a:off x="8623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低分均值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B67F58-3E09-0FBE-E067-5C8E7ED05F7B}"/>
              </a:ext>
            </a:extLst>
          </p:cNvPr>
          <p:cNvSpPr txBox="1"/>
          <p:nvPr/>
        </p:nvSpPr>
        <p:spPr>
          <a:xfrm>
            <a:off x="8623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0.4033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832412-E087-E600-03CB-06AB327F409B}"/>
              </a:ext>
            </a:extLst>
          </p:cNvPr>
          <p:cNvSpPr txBox="1"/>
          <p:nvPr/>
        </p:nvSpPr>
        <p:spPr>
          <a:xfrm>
            <a:off x="8623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困难样本平均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C33A079-3111-CE9C-CF54-263D2C71BD41}"/>
              </a:ext>
            </a:extLst>
          </p:cNvPr>
          <p:cNvSpPr/>
          <p:nvPr/>
        </p:nvSpPr>
        <p:spPr>
          <a:xfrm>
            <a:off x="1270000" y="3937000"/>
            <a:ext cx="9652000" cy="127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89C504-896B-FA73-7DD4-FD3835DF0A7A}"/>
              </a:ext>
            </a:extLst>
          </p:cNvPr>
          <p:cNvSpPr txBox="1"/>
          <p:nvPr/>
        </p:nvSpPr>
        <p:spPr>
          <a:xfrm>
            <a:off x="1447800" y="40894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为什么还保留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60D3E0-1604-2760-AA59-558837A2A966}"/>
              </a:ext>
            </a:extLst>
          </p:cNvPr>
          <p:cNvSpPr txBox="1"/>
          <p:nvPr/>
        </p:nvSpPr>
        <p:spPr>
          <a:xfrm>
            <a:off x="1447800" y="4508500"/>
            <a:ext cx="929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虽然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在低分样本上不够好，但它在部分边界偏移样本上比专家更稳。因此最终策略不是完全替换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，而是让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成为可回退的专家之一。</a:t>
            </a:r>
          </a:p>
        </p:txBody>
      </p:sp>
    </p:spTree>
    <p:extLst>
      <p:ext uri="{BB962C8B-B14F-4D97-AF65-F5344CB8AC3E}">
        <p14:creationId xmlns:p14="http://schemas.microsoft.com/office/powerpoint/2010/main" val="302702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2524AD-063A-8E8F-A2AC-65EA30AA96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A45278-3E04-5917-0F04-2EC49A5AE6F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E85789-9CF1-3732-E8AB-0DF18724174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B516E5-B7AF-7587-AE42-569F945FD15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158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个低分样本错在哪里？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2D6281-94E7-36A1-9E8E-98CA15E7E1D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用错误类型决定训练哪些专家。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DAF70E-25E4-DA76-7979-35B1B4ACAC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6096000" cy="3429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D6F5C7FB-38C2-47FC-4537-1C889D1B86C0}"/>
              </a:ext>
            </a:extLst>
          </p:cNvPr>
          <p:cNvSpPr/>
          <p:nvPr/>
        </p:nvSpPr>
        <p:spPr>
          <a:xfrm>
            <a:off x="7493000" y="1714500"/>
            <a:ext cx="3810000" cy="825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82883D-A71C-88FF-D6B2-246507988C86}"/>
              </a:ext>
            </a:extLst>
          </p:cNvPr>
          <p:cNvSpPr txBox="1"/>
          <p:nvPr/>
        </p:nvSpPr>
        <p:spPr>
          <a:xfrm>
            <a:off x="7670800" y="1866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boundary_or_shift_error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D7F8E5-0866-34DC-E79E-04475697832E}"/>
              </a:ext>
            </a:extLst>
          </p:cNvPr>
          <p:cNvSpPr txBox="1"/>
          <p:nvPr/>
        </p:nvSpPr>
        <p:spPr>
          <a:xfrm>
            <a:off x="7670800" y="2286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例：大体位置对，但边界偏移。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618DDB3-1334-0A9C-EA07-50F0EC4ACC90}"/>
              </a:ext>
            </a:extLst>
          </p:cNvPr>
          <p:cNvSpPr/>
          <p:nvPr/>
        </p:nvSpPr>
        <p:spPr>
          <a:xfrm>
            <a:off x="7493000" y="2730500"/>
            <a:ext cx="3810000" cy="825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AF6362-9289-5E72-A814-572F9CD248D3}"/>
              </a:ext>
            </a:extLst>
          </p:cNvPr>
          <p:cNvSpPr txBox="1"/>
          <p:nvPr/>
        </p:nvSpPr>
        <p:spPr>
          <a:xfrm>
            <a:off x="7670800" y="2882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over_segmented_fp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48CF22-4342-3EFE-919E-4337AF3B9EA1}"/>
              </a:ext>
            </a:extLst>
          </p:cNvPr>
          <p:cNvSpPr txBox="1"/>
          <p:nvPr/>
        </p:nvSpPr>
        <p:spPr>
          <a:xfrm>
            <a:off x="7670800" y="3302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例：预测过大，假阳性多。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1123D62-951D-FC15-401F-0A448C37CBCA}"/>
              </a:ext>
            </a:extLst>
          </p:cNvPr>
          <p:cNvSpPr/>
          <p:nvPr/>
        </p:nvSpPr>
        <p:spPr>
          <a:xfrm>
            <a:off x="7493000" y="3746500"/>
            <a:ext cx="3810000" cy="825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BEA72F-6DF3-0858-9D5A-C5A0A290F726}"/>
              </a:ext>
            </a:extLst>
          </p:cNvPr>
          <p:cNvSpPr txBox="1"/>
          <p:nvPr/>
        </p:nvSpPr>
        <p:spPr>
          <a:xfrm>
            <a:off x="7670800" y="3898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under / missed FN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B4E113-BEAE-4361-FBFD-B862CB5F1AEA}"/>
              </a:ext>
            </a:extLst>
          </p:cNvPr>
          <p:cNvSpPr txBox="1"/>
          <p:nvPr/>
        </p:nvSpPr>
        <p:spPr>
          <a:xfrm>
            <a:off x="7670800" y="4318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54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例：病灶覆盖不足或完全漏掉。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C5DB4CC-0F7A-1922-A586-1BEEBE904EFE}"/>
              </a:ext>
            </a:extLst>
          </p:cNvPr>
          <p:cNvSpPr/>
          <p:nvPr/>
        </p:nvSpPr>
        <p:spPr>
          <a:xfrm>
            <a:off x="7493000" y="4762500"/>
            <a:ext cx="3810000" cy="825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C9C24D-DDFE-3763-8BEF-E3C3A89D914F}"/>
              </a:ext>
            </a:extLst>
          </p:cNvPr>
          <p:cNvSpPr txBox="1"/>
          <p:nvPr/>
        </p:nvSpPr>
        <p:spPr>
          <a:xfrm>
            <a:off x="7670800" y="4914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wrong_location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6E2681-DFCF-176C-AEEA-E5D3DEFCED04}"/>
              </a:ext>
            </a:extLst>
          </p:cNvPr>
          <p:cNvSpPr txBox="1"/>
          <p:nvPr/>
        </p:nvSpPr>
        <p:spPr>
          <a:xfrm>
            <a:off x="7670800" y="5334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例：预测区域与真值几乎无重叠。</a:t>
            </a:r>
          </a:p>
        </p:txBody>
      </p:sp>
    </p:spTree>
    <p:extLst>
      <p:ext uri="{BB962C8B-B14F-4D97-AF65-F5344CB8AC3E}">
        <p14:creationId xmlns:p14="http://schemas.microsoft.com/office/powerpoint/2010/main" val="83016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2370EE-3B00-2DC5-A0FC-7F66F1495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61BDA4-080E-1DFF-FFE8-DB8BDF951EF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31A66B-CB01-E3B7-2735-CD2AABFA8E18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10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87EB92-451B-EB93-8C62-2ABD8206897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每个专家具体解决什么问题？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E992DF-BD2A-BBB5-CD0A-9A1D6E95DAB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不同专家不是分数都高，而是在特定错误类型上更合适。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7DF8E08-7C8D-EBB4-B008-356F21691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190220"/>
              </p:ext>
            </p:extLst>
          </p:nvPr>
        </p:nvGraphicFramePr>
        <p:xfrm>
          <a:off x="571500" y="1714500"/>
          <a:ext cx="11049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94967027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693133195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35353747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348681214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专家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训练目标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适合错误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36529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broad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低分样本通用纠错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多数困难样本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稳健替换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18953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减少假阳性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过分割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让预测更保守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0036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提高召回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明显漏检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扩大病灶覆盖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1212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边界与质心约束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细化边缘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279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actual-fp/fn/boundary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实际错误划分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极端低分样本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针对性更强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09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20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E09C5B-7750-1E0B-280C-E55E912BB8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1C830E-BBEF-67D4-3C5F-CF5356C82CA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474BCF-E910-4BB9-170B-3599F8350F53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最终优化策略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036FA4-5082-6370-FF36-FE4AC0B1080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是什么意思？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2B82BA-9F2F-0C5B-B0FD-A3FFE85AAB45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不是平均融合，而是按错误类型选择模型。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960576-A327-F56D-DBC2-F1FE5ABEDD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87500"/>
            <a:ext cx="11049000" cy="3937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1D001AF-0693-BE39-ED94-BE34E58E4571}"/>
              </a:ext>
            </a:extLst>
          </p:cNvPr>
          <p:cNvSpPr txBox="1"/>
          <p:nvPr/>
        </p:nvSpPr>
        <p:spPr>
          <a:xfrm>
            <a:off x="787400" y="5842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核心思想：先让 </a:t>
            </a:r>
            <a:r>
              <a:rPr lang="en-US" altLang="zh-CN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给出基线，再对低分困难样本按错误类型选择更合适的专家输出。</a:t>
            </a:r>
          </a:p>
        </p:txBody>
      </p:sp>
    </p:spTree>
    <p:extLst>
      <p:ext uri="{BB962C8B-B14F-4D97-AF65-F5344CB8AC3E}">
        <p14:creationId xmlns:p14="http://schemas.microsoft.com/office/powerpoint/2010/main" val="1538155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FAAEFE-4FF6-4162-200A-8726E5235A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B28FAE-4EA9-A6BB-753D-B7E149FC185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F74147-2052-CDBF-120B-98A6F1DFC4C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门控规则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74FE6E-3992-3AC5-2232-E94F72AC7B7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每种错误路由到哪个专家？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76F40F-4B7E-B7F9-6FF6-4CF6217E40D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这张表就是最终优化策略的含义。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51A014E-DB46-5C74-4136-9C781143B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385340"/>
              </p:ext>
            </p:extLst>
          </p:nvPr>
        </p:nvGraphicFramePr>
        <p:xfrm>
          <a:off x="571500" y="1651000"/>
          <a:ext cx="11049000" cy="425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1202665879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54530256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881235522"/>
                    </a:ext>
                  </a:extLst>
                </a:gridCol>
              </a:tblGrid>
              <a:tr h="607786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优先模型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为什么这样选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751501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boundary_or_shift_error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这类样本位置基本对，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边界更稳，避免专家过修正。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6073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over_segmented_fp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预测区域过大，需要更强的误检抑制。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29538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under_segmented_fn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actual_fn / boundary / 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真实病灶没覆盖够，需要提高召回或补边界。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54855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mostly_missed_fn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大面积漏检时优先用召回专家。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034864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wrong_location_no_overlap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actual_boundary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预测错位，优先用实际错位样本训练出的专家。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540580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missed_all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actual_all / actual_fn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完全漏掉时用整体低分专家或漏检专家。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897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1BD7C8-DD38-B1E6-E322-DEFD3EA1D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FEB72C-8ACF-6851-A60E-BCE194F5A7A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EB5E06-E7D8-7A42-5FA4-99E6C7905336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7ED7E0-9FA9-5067-1B19-2A3BE05F000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为什么要用四个指标？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D45760-BEB4-BC3C-5A05-AE242143BEB8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不够，需要同时看误检和漏检。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9AEFD8-E904-C2FF-4EB3-D3D81316B668}"/>
              </a:ext>
            </a:extLst>
          </p:cNvPr>
          <p:cNvSpPr/>
          <p:nvPr/>
        </p:nvSpPr>
        <p:spPr>
          <a:xfrm>
            <a:off x="889000" y="1905000"/>
            <a:ext cx="2413000" cy="241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51EC26-DD83-1CE9-7A8B-B2AD816AD160}"/>
              </a:ext>
            </a:extLst>
          </p:cNvPr>
          <p:cNvSpPr txBox="1"/>
          <p:nvPr/>
        </p:nvSpPr>
        <p:spPr>
          <a:xfrm>
            <a:off x="1066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DF936A-9796-543E-C711-21538B5547AB}"/>
              </a:ext>
            </a:extLst>
          </p:cNvPr>
          <p:cNvSpPr txBox="1"/>
          <p:nvPr/>
        </p:nvSpPr>
        <p:spPr>
          <a:xfrm>
            <a:off x="1066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衡量预测区域与真实区域的重叠程度。医学分割最常用。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5114DA7-E05F-D8A9-E9F7-0E8D984CEE1B}"/>
              </a:ext>
            </a:extLst>
          </p:cNvPr>
          <p:cNvSpPr/>
          <p:nvPr/>
        </p:nvSpPr>
        <p:spPr>
          <a:xfrm>
            <a:off x="3619500" y="1905000"/>
            <a:ext cx="2413000" cy="2413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1FD7B7-A464-D002-5F19-34E7C5BB5F1A}"/>
              </a:ext>
            </a:extLst>
          </p:cNvPr>
          <p:cNvSpPr txBox="1"/>
          <p:nvPr/>
        </p:nvSpPr>
        <p:spPr>
          <a:xfrm>
            <a:off x="3797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508030-DA4F-1C3B-6CB5-B5BADAC78935}"/>
              </a:ext>
            </a:extLst>
          </p:cNvPr>
          <p:cNvSpPr txBox="1"/>
          <p:nvPr/>
        </p:nvSpPr>
        <p:spPr>
          <a:xfrm>
            <a:off x="3797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交并比，比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更严格，对边界偏移更敏感。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8C4B031-7C76-C370-80D7-3E405B965BE0}"/>
              </a:ext>
            </a:extLst>
          </p:cNvPr>
          <p:cNvSpPr/>
          <p:nvPr/>
        </p:nvSpPr>
        <p:spPr>
          <a:xfrm>
            <a:off x="6350000" y="1905000"/>
            <a:ext cx="2413000" cy="241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5D3264-30AC-3461-C961-85502694523D}"/>
              </a:ext>
            </a:extLst>
          </p:cNvPr>
          <p:cNvSpPr txBox="1"/>
          <p:nvPr/>
        </p:nvSpPr>
        <p:spPr>
          <a:xfrm>
            <a:off x="6527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B03C4A-B7D6-7881-8C4F-05FED6B99095}"/>
              </a:ext>
            </a:extLst>
          </p:cNvPr>
          <p:cNvSpPr txBox="1"/>
          <p:nvPr/>
        </p:nvSpPr>
        <p:spPr>
          <a:xfrm>
            <a:off x="6527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预测为病灶的像素中，有多少是真的。低则误检多。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BA33561-8F61-3502-A276-EA99848D575D}"/>
              </a:ext>
            </a:extLst>
          </p:cNvPr>
          <p:cNvSpPr/>
          <p:nvPr/>
        </p:nvSpPr>
        <p:spPr>
          <a:xfrm>
            <a:off x="9080500" y="1905000"/>
            <a:ext cx="2413000" cy="241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D78A2F-07C3-3D67-884B-D93237689773}"/>
              </a:ext>
            </a:extLst>
          </p:cNvPr>
          <p:cNvSpPr txBox="1"/>
          <p:nvPr/>
        </p:nvSpPr>
        <p:spPr>
          <a:xfrm>
            <a:off x="9258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EFFCDB7-65B4-F116-A9AF-13D4ED6825A7}"/>
              </a:ext>
            </a:extLst>
          </p:cNvPr>
          <p:cNvSpPr txBox="1"/>
          <p:nvPr/>
        </p:nvSpPr>
        <p:spPr>
          <a:xfrm>
            <a:off x="9258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真实病灶像素中，有多少被找出来。低则漏检多。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BEAA07-A6EB-EA12-1C53-66A1C69E033B}"/>
              </a:ext>
            </a:extLst>
          </p:cNvPr>
          <p:cNvSpPr txBox="1"/>
          <p:nvPr/>
        </p:nvSpPr>
        <p:spPr>
          <a:xfrm>
            <a:off x="889000" y="5207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四者关系：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Dice/IoU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看整体重叠；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。最终模型要在误检和漏检之间折中。</a:t>
            </a:r>
          </a:p>
        </p:txBody>
      </p:sp>
    </p:spTree>
    <p:extLst>
      <p:ext uri="{BB962C8B-B14F-4D97-AF65-F5344CB8AC3E}">
        <p14:creationId xmlns:p14="http://schemas.microsoft.com/office/powerpoint/2010/main" val="2678521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0D3315-2AA4-458A-4191-7E51473A0F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56F4E1-74BC-7798-FF85-AF3751335E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3A8C62-2305-51D0-01A3-A96DA7A0C21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公式符号说明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839C9A-AB5A-9D71-7322-690293255AB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公式里的字母分别代表什么？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A90CC2-E139-4119-DDB1-71655938F22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先统一符号，再看每个公式。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8056714-3044-4478-E046-80D0579F0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382876"/>
              </p:ext>
            </p:extLst>
          </p:nvPr>
        </p:nvGraphicFramePr>
        <p:xfrm>
          <a:off x="1206500" y="1651000"/>
          <a:ext cx="9779000" cy="425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9500">
                  <a:extLst>
                    <a:ext uri="{9D8B030D-6E8A-4147-A177-3AD203B41FA5}">
                      <a16:colId xmlns:a16="http://schemas.microsoft.com/office/drawing/2014/main" val="488618841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1305241141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符号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58618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真实二值掩码。感染区域为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，背景为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70112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M_hat(x,y)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模型预测二值掩码。阈值化后感染区域为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409786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模型预测的感染概率，范围为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到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345461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True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，预测为感染且真实也是感染的像素数。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64575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，预测为感染但真实是背景的像素数。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328690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Negative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，真实是感染但模型预测为背景的像素数。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791135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epsilon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很小的平滑项，防止分母为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254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695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9CCD20-6806-8A20-F129-AB4B6A0A14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0BE112-2A10-9CB3-6DD5-DE5737D5BEE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01C6B6-B651-8023-D7CC-668F4D79825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15 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AA19C6-333A-6EC2-2C25-3180CB1704B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重叠类指标怎么算？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2EE816-BD40-5848-59AE-0B28C3FDB4A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越接近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，预测和真实区域越一致。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04F96D-4EE0-8D3E-B9FB-62DD70907864}"/>
              </a:ext>
            </a:extLst>
          </p:cNvPr>
          <p:cNvSpPr txBox="1"/>
          <p:nvPr/>
        </p:nvSpPr>
        <p:spPr>
          <a:xfrm>
            <a:off x="889000" y="1905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Dice = (2 × TP + epsilon) / (2 × TP + FP + FN + epsilon)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CF59AE-6E6C-B679-EE85-5C018AF34CB2}"/>
              </a:ext>
            </a:extLst>
          </p:cNvPr>
          <p:cNvSpPr txBox="1"/>
          <p:nvPr/>
        </p:nvSpPr>
        <p:spPr>
          <a:xfrm>
            <a:off x="889000" y="2540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2563EB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2563EB"/>
                </a:solidFill>
                <a:latin typeface="Microsoft YaHei" panose="020B0503020204020204" pitchFamily="34" charset="-122"/>
              </a:rPr>
              <a:t>Dice = 2 × |M_hat ∩ M| / (|M_hat| + |M|)</a:t>
            </a:r>
            <a:endParaRPr lang="zh-CN" altLang="en-US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F161A5-51F8-CE24-C80F-11E4FB919AEF}"/>
              </a:ext>
            </a:extLst>
          </p:cNvPr>
          <p:cNvSpPr txBox="1"/>
          <p:nvPr/>
        </p:nvSpPr>
        <p:spPr>
          <a:xfrm>
            <a:off x="889000" y="3556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059669"/>
                </a:solidFill>
                <a:latin typeface="Microsoft YaHei" panose="020B0503020204020204" pitchFamily="34" charset="-122"/>
              </a:rPr>
              <a:t>IoU = (TP + epsilon) / (TP + FP + FN + epsilon)</a:t>
            </a:r>
            <a:endParaRPr lang="zh-CN" altLang="en-US" sz="20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3C7573-901F-6555-4105-8EF71254F065}"/>
              </a:ext>
            </a:extLst>
          </p:cNvPr>
          <p:cNvSpPr txBox="1"/>
          <p:nvPr/>
        </p:nvSpPr>
        <p:spPr>
          <a:xfrm>
            <a:off x="889000" y="4191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059669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059669"/>
                </a:solidFill>
                <a:latin typeface="Microsoft YaHei" panose="020B0503020204020204" pitchFamily="34" charset="-122"/>
              </a:rPr>
              <a:t>IoU = |M_hat ∩ M| / |M_hat ∪ M|</a:t>
            </a:r>
            <a:endParaRPr lang="zh-CN" altLang="en-US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BF5C28-650A-9A6B-00ED-81BDBB59E200}"/>
              </a:ext>
            </a:extLst>
          </p:cNvPr>
          <p:cNvSpPr txBox="1"/>
          <p:nvPr/>
        </p:nvSpPr>
        <p:spPr>
          <a:xfrm>
            <a:off x="1016000" y="5334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对重叠比较友好；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IoU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分母是并集，因此同样错误下通常比 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更低、更严格。</a:t>
            </a:r>
          </a:p>
        </p:txBody>
      </p:sp>
    </p:spTree>
    <p:extLst>
      <p:ext uri="{BB962C8B-B14F-4D97-AF65-F5344CB8AC3E}">
        <p14:creationId xmlns:p14="http://schemas.microsoft.com/office/powerpoint/2010/main" val="2934234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BCA901-29BE-87B7-F8A6-B60284A725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4681B-34D6-5E05-C5E9-8544C452D9C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27416B-D8D5-E58B-BF90-883B96F5961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16 Precision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8E082C-3ACB-4A05-9B75-FF2506E0792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误检和漏检怎么算？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52837A-78F6-8994-ADBF-861FF625C9E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这两个指标对应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两类错误。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55C6B4-90EF-AF47-4E36-3CB17766B144}"/>
              </a:ext>
            </a:extLst>
          </p:cNvPr>
          <p:cNvSpPr txBox="1"/>
          <p:nvPr/>
        </p:nvSpPr>
        <p:spPr>
          <a:xfrm>
            <a:off x="889000" y="2032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97706"/>
                </a:solidFill>
                <a:latin typeface="Microsoft YaHei" panose="020B0503020204020204" pitchFamily="34" charset="-122"/>
              </a:rPr>
              <a:t>Precision = (TP + epsilon) / (TP + FP + epsilon)</a:t>
            </a:r>
            <a:endParaRPr lang="zh-CN" altLang="en-US" sz="20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2E645E-0D79-7495-A697-F1658D3A899A}"/>
              </a:ext>
            </a:extLst>
          </p:cNvPr>
          <p:cNvSpPr txBox="1"/>
          <p:nvPr/>
        </p:nvSpPr>
        <p:spPr>
          <a:xfrm>
            <a:off x="1079500" y="2692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含义：模型说是感染的像素中，有多少是真的感染。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误检多。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618817-D87A-D2F2-9C01-9824633519BD}"/>
              </a:ext>
            </a:extLst>
          </p:cNvPr>
          <p:cNvSpPr txBox="1"/>
          <p:nvPr/>
        </p:nvSpPr>
        <p:spPr>
          <a:xfrm>
            <a:off x="889000" y="3810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C2626"/>
                </a:solidFill>
                <a:latin typeface="Microsoft YaHei" panose="020B0503020204020204" pitchFamily="34" charset="-122"/>
              </a:rPr>
              <a:t>Recall = (TP + epsilon) / (TP + FN + epsilon)</a:t>
            </a:r>
            <a:endParaRPr lang="zh-CN" altLang="en-US" sz="20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22881D-C2DE-1B09-8C70-E6643D3E618C}"/>
              </a:ext>
            </a:extLst>
          </p:cNvPr>
          <p:cNvSpPr txBox="1"/>
          <p:nvPr/>
        </p:nvSpPr>
        <p:spPr>
          <a:xfrm>
            <a:off x="1079500" y="4470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含义：真实感染像素中，有多少被模型找出来。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漏检多。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66624E-0E44-B24E-468C-C741E58C2980}"/>
              </a:ext>
            </a:extLst>
          </p:cNvPr>
          <p:cNvSpPr txBox="1"/>
          <p:nvPr/>
        </p:nvSpPr>
        <p:spPr>
          <a:xfrm>
            <a:off x="1016000" y="5461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为什么低分专家要分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/ recall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：过分割主要看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，漏分割主要看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，优化方向相反。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3362167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526030-3069-FAAF-ED2F-4C3FBE0022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0BAFD9-955B-A9CA-FF93-36CB688F351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049601-3168-EBAD-6480-04F1AF2F7C2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损失函数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7AD3E9-3F98-3EED-9E69-C6EE9333C98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训练时模型靠什么学习？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9FF007-20E7-1BC6-9815-944B79B7D1F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Dice/Focal/Tversky/Boundary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等损失组合处理类别不平衡和困难边界。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97323D-1DCC-0CBA-3F20-A3DD98474C99}"/>
              </a:ext>
            </a:extLst>
          </p:cNvPr>
          <p:cNvSpPr txBox="1"/>
          <p:nvPr/>
        </p:nvSpPr>
        <p:spPr>
          <a:xfrm>
            <a:off x="762000" y="1841500"/>
            <a:ext cx="1079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Soft Dice Loss = 1 - (2 ×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Σ(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× M) + epsilon) / (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+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M + epsilon)</a:t>
            </a:r>
            <a:endParaRPr lang="zh-CN" altLang="en-US" sz="1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D15512-3CFA-2BD5-F689-F320A60C366F}"/>
              </a:ext>
            </a:extLst>
          </p:cNvPr>
          <p:cNvSpPr txBox="1"/>
          <p:nvPr/>
        </p:nvSpPr>
        <p:spPr>
          <a:xfrm>
            <a:off x="762000" y="2603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Focal Loss</a:t>
            </a:r>
            <a:r>
              <a:rPr lang="zh-CN" altLang="en-US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：降低易分类背景像素权重，让模型更关注难分像素。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86DA46-6993-B21C-28C6-2B1FA5991DD6}"/>
              </a:ext>
            </a:extLst>
          </p:cNvPr>
          <p:cNvSpPr txBox="1"/>
          <p:nvPr/>
        </p:nvSpPr>
        <p:spPr>
          <a:xfrm>
            <a:off x="762000" y="3365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Tversky Loss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：通过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beta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调整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的惩罚强度。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413488-A533-B8B9-7ED2-1CC659ED5216}"/>
              </a:ext>
            </a:extLst>
          </p:cNvPr>
          <p:cNvSpPr txBox="1"/>
          <p:nvPr/>
        </p:nvSpPr>
        <p:spPr>
          <a:xfrm>
            <a:off x="762000" y="4127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Boundary Loss</a:t>
            </a:r>
            <a:r>
              <a:rPr lang="zh-CN" altLang="en-US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：对边界带区域加权，缓解病灶边缘模糊导致的偏移。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8D4F01-852F-53BF-48FD-40B34E5A0774}"/>
              </a:ext>
            </a:extLst>
          </p:cNvPr>
          <p:cNvSpPr txBox="1"/>
          <p:nvPr/>
        </p:nvSpPr>
        <p:spPr>
          <a:xfrm>
            <a:off x="952500" y="53340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本项目不同专家使用不同损失倾向：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专家更重视边界。</a:t>
            </a:r>
          </a:p>
        </p:txBody>
      </p:sp>
    </p:spTree>
    <p:extLst>
      <p:ext uri="{BB962C8B-B14F-4D97-AF65-F5344CB8AC3E}">
        <p14:creationId xmlns:p14="http://schemas.microsoft.com/office/powerpoint/2010/main" val="402140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6D2B6B-089E-A3D5-B048-7CBEDCBD1A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0785EE-F59E-A5EB-D5C7-4231A384316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8FB21E-8094-83C9-38F6-E3158D92452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全测试集结果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3E36A8-2BA1-3FBD-1417-1F18FA8469B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最终结果提升多少？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CCFC0A-9B35-E58E-68A4-B065202C431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是当前最终版。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DC263B-A27C-4E3A-7BF6-CCA67BA6715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87500"/>
            <a:ext cx="6731000" cy="38735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4713D85D-E503-9D31-9535-9767DE0FD034}"/>
              </a:ext>
            </a:extLst>
          </p:cNvPr>
          <p:cNvSpPr/>
          <p:nvPr/>
        </p:nvSpPr>
        <p:spPr>
          <a:xfrm>
            <a:off x="7874000" y="1752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5B2CE4-60E0-4F37-63A4-43B385368CD8}"/>
              </a:ext>
            </a:extLst>
          </p:cNvPr>
          <p:cNvSpPr txBox="1"/>
          <p:nvPr/>
        </p:nvSpPr>
        <p:spPr>
          <a:xfrm>
            <a:off x="8051800" y="1892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D8FD0B-3D66-AFDC-1761-613022071F51}"/>
              </a:ext>
            </a:extLst>
          </p:cNvPr>
          <p:cNvSpPr txBox="1"/>
          <p:nvPr/>
        </p:nvSpPr>
        <p:spPr>
          <a:xfrm>
            <a:off x="8051800" y="2146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CCC06B-88BA-90E1-E42F-9A142050C25F}"/>
              </a:ext>
            </a:extLst>
          </p:cNvPr>
          <p:cNvSpPr txBox="1"/>
          <p:nvPr/>
        </p:nvSpPr>
        <p:spPr>
          <a:xfrm>
            <a:off x="8051800" y="2616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FEA13CF-519D-52A5-EADD-793A018031F1}"/>
              </a:ext>
            </a:extLst>
          </p:cNvPr>
          <p:cNvSpPr/>
          <p:nvPr/>
        </p:nvSpPr>
        <p:spPr>
          <a:xfrm>
            <a:off x="7874000" y="3276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2D798B-ABB0-AF5F-E99C-929DB8B01497}"/>
              </a:ext>
            </a:extLst>
          </p:cNvPr>
          <p:cNvSpPr txBox="1"/>
          <p:nvPr/>
        </p:nvSpPr>
        <p:spPr>
          <a:xfrm>
            <a:off x="8051800" y="3416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v18-aware Gate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4E9B02-1C38-6701-538A-918B82F196F2}"/>
              </a:ext>
            </a:extLst>
          </p:cNvPr>
          <p:cNvSpPr txBox="1"/>
          <p:nvPr/>
        </p:nvSpPr>
        <p:spPr>
          <a:xfrm>
            <a:off x="8051800" y="3670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0.7959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D1F9F4-CF9F-BCA2-EF13-62CFBC5E9C91}"/>
              </a:ext>
            </a:extLst>
          </p:cNvPr>
          <p:cNvSpPr txBox="1"/>
          <p:nvPr/>
        </p:nvSpPr>
        <p:spPr>
          <a:xfrm>
            <a:off x="8051800" y="4140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+0.0219 vs v18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188C245-32BB-05B9-16CF-1A0015421A04}"/>
              </a:ext>
            </a:extLst>
          </p:cNvPr>
          <p:cNvSpPr/>
          <p:nvPr/>
        </p:nvSpPr>
        <p:spPr>
          <a:xfrm>
            <a:off x="7874000" y="4800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84DBF8-E929-1028-4ED1-DB885D0360E1}"/>
              </a:ext>
            </a:extLst>
          </p:cNvPr>
          <p:cNvSpPr txBox="1"/>
          <p:nvPr/>
        </p:nvSpPr>
        <p:spPr>
          <a:xfrm>
            <a:off x="8051800" y="4940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Oracle Upper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31D0E9-40F1-1BA7-33E5-7F1CC26BA106}"/>
              </a:ext>
            </a:extLst>
          </p:cNvPr>
          <p:cNvSpPr txBox="1"/>
          <p:nvPr/>
        </p:nvSpPr>
        <p:spPr>
          <a:xfrm>
            <a:off x="8051800" y="5194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AC9CA9-594C-7800-03C4-ABAD1A9D8D23}"/>
              </a:ext>
            </a:extLst>
          </p:cNvPr>
          <p:cNvSpPr txBox="1"/>
          <p:nvPr/>
        </p:nvSpPr>
        <p:spPr>
          <a:xfrm>
            <a:off x="8051800" y="5664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专家池上限分析</a:t>
            </a:r>
          </a:p>
        </p:txBody>
      </p:sp>
    </p:spTree>
    <p:extLst>
      <p:ext uri="{BB962C8B-B14F-4D97-AF65-F5344CB8AC3E}">
        <p14:creationId xmlns:p14="http://schemas.microsoft.com/office/powerpoint/2010/main" val="3837478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60F83C-7EEA-CB8E-D614-8B96E6379C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41A8A6-614B-E80C-2FD5-5E996F75F0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987B05-9EF6-F8F4-C2E6-240BC7A228B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3F7252-0DA0-0E0C-8FBD-09A2C31BCE6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低分样本是本轮优化重点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9C6060-1974-4611-D8A9-FD5B8BFF75D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平均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0.4033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提升到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0.5319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CC0033F-A4B1-02F4-DAD9-F465AEBAF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771559"/>
              </p:ext>
            </p:extLst>
          </p:nvPr>
        </p:nvGraphicFramePr>
        <p:xfrm>
          <a:off x="825500" y="1714500"/>
          <a:ext cx="1054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250">
                  <a:extLst>
                    <a:ext uri="{9D8B030D-6E8A-4147-A177-3AD203B41FA5}">
                      <a16:colId xmlns:a16="http://schemas.microsoft.com/office/drawing/2014/main" val="2127111561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3179625442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4232884204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390634058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低分子集 </a:t>
                      </a:r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Dice&lt;0.60 </a:t>
                      </a: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数量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88092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0.4033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158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原始低分集合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82282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0.4683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通用困难样本专家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3539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Expanded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0.5276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多专家错误类型门控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51948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0.5319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97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边界偏移回退到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05113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Oracle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0.6315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每例选最优专家，仅作上限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76020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0144F72-5D6E-674F-A69C-2A8A70A4D3F4}"/>
              </a:ext>
            </a:extLst>
          </p:cNvPr>
          <p:cNvSpPr txBox="1"/>
          <p:nvPr/>
        </p:nvSpPr>
        <p:spPr>
          <a:xfrm>
            <a:off x="952500" y="55245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上限不是可部署策略，只用于说明专家池还有潜力；真实部署还需要无真值门控分类器。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1629190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3E24E5-5648-B51E-7EFA-00278CFC3E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E4661-AEDB-8116-BEC3-2957950FE838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CA7067-8127-8BB1-D37D-A97A7DB2B7C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可视化颜色说明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CB82AC-172F-0B74-ACB4-DCD7E03C56B2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分割效果展示里的颜色代表什么？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C38BD5-EEF6-DE55-9310-EE48ED87DCD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看图时先看颜色图例，再判断错在哪里。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17D1D3-61C0-891A-19A3-9DF889FCFF83}"/>
              </a:ext>
            </a:extLst>
          </p:cNvPr>
          <p:cNvSpPr/>
          <p:nvPr/>
        </p:nvSpPr>
        <p:spPr>
          <a:xfrm>
            <a:off x="1079500" y="1841500"/>
            <a:ext cx="2921000" cy="114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1EA691-16D4-73E6-8408-772E22A4C96F}"/>
              </a:ext>
            </a:extLst>
          </p:cNvPr>
          <p:cNvSpPr txBox="1"/>
          <p:nvPr/>
        </p:nvSpPr>
        <p:spPr>
          <a:xfrm>
            <a:off x="1257300" y="199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红色填充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9DA91D-464E-A6B5-055C-B9E18A946302}"/>
              </a:ext>
            </a:extLst>
          </p:cNvPr>
          <p:cNvSpPr txBox="1"/>
          <p:nvPr/>
        </p:nvSpPr>
        <p:spPr>
          <a:xfrm>
            <a:off x="1257300" y="241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模型预测的感染区域；红色越大，预测病灶面积越大。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C5DF7C-2B4F-D996-0203-A5FBD99FEAB5}"/>
              </a:ext>
            </a:extLst>
          </p:cNvPr>
          <p:cNvSpPr/>
          <p:nvPr/>
        </p:nvSpPr>
        <p:spPr>
          <a:xfrm>
            <a:off x="4635500" y="1841500"/>
            <a:ext cx="2921000" cy="1143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9C6E7A-2908-4E61-990F-DBF910917D61}"/>
              </a:ext>
            </a:extLst>
          </p:cNvPr>
          <p:cNvSpPr txBox="1"/>
          <p:nvPr/>
        </p:nvSpPr>
        <p:spPr>
          <a:xfrm>
            <a:off x="4813300" y="199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黄色轮廓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7C06DC-ACA3-331C-6D53-517F9F978D80}"/>
              </a:ext>
            </a:extLst>
          </p:cNvPr>
          <p:cNvSpPr txBox="1"/>
          <p:nvPr/>
        </p:nvSpPr>
        <p:spPr>
          <a:xfrm>
            <a:off x="4813300" y="241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Ground Truth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真实标注边界，用于和预测边界对比。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F01A10E-EC76-37C4-F5F7-E020C07A3E64}"/>
              </a:ext>
            </a:extLst>
          </p:cNvPr>
          <p:cNvSpPr/>
          <p:nvPr/>
        </p:nvSpPr>
        <p:spPr>
          <a:xfrm>
            <a:off x="8191500" y="1841500"/>
            <a:ext cx="2921000" cy="11430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E42F84-29DA-C9B6-0E4B-69DE1082EC55}"/>
              </a:ext>
            </a:extLst>
          </p:cNvPr>
          <p:cNvSpPr txBox="1"/>
          <p:nvPr/>
        </p:nvSpPr>
        <p:spPr>
          <a:xfrm>
            <a:off x="8369300" y="199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青色轮廓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ACB5DD-102C-6D58-20ED-9A9122461BCC}"/>
              </a:ext>
            </a:extLst>
          </p:cNvPr>
          <p:cNvSpPr txBox="1"/>
          <p:nvPr/>
        </p:nvSpPr>
        <p:spPr>
          <a:xfrm>
            <a:off x="8369300" y="241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Prediction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预测边界，反映模型输出的形状。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1377C47-3C95-3DB8-8921-2DE026549736}"/>
              </a:ext>
            </a:extLst>
          </p:cNvPr>
          <p:cNvSpPr/>
          <p:nvPr/>
        </p:nvSpPr>
        <p:spPr>
          <a:xfrm>
            <a:off x="1079500" y="3556000"/>
            <a:ext cx="2921000" cy="1270000"/>
          </a:xfrm>
          <a:prstGeom prst="roundRect">
            <a:avLst/>
          </a:prstGeom>
          <a:solidFill>
            <a:srgbClr val="FECACA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A831D3-1FD5-B3D5-CF73-B9ED8F286B8D}"/>
              </a:ext>
            </a:extLst>
          </p:cNvPr>
          <p:cNvSpPr txBox="1"/>
          <p:nvPr/>
        </p:nvSpPr>
        <p:spPr>
          <a:xfrm>
            <a:off x="1257300" y="37084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红色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F1C25F-75A0-100A-C2AD-0AD045A1525E}"/>
              </a:ext>
            </a:extLst>
          </p:cNvPr>
          <p:cNvSpPr txBox="1"/>
          <p:nvPr/>
        </p:nvSpPr>
        <p:spPr>
          <a:xfrm>
            <a:off x="1257300" y="41275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：预测正确的感染区域，即预测和真值重合部分。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A5DA2E2-436E-7DDC-B122-7385F0A7C7D4}"/>
              </a:ext>
            </a:extLst>
          </p:cNvPr>
          <p:cNvSpPr/>
          <p:nvPr/>
        </p:nvSpPr>
        <p:spPr>
          <a:xfrm>
            <a:off x="4635500" y="3556000"/>
            <a:ext cx="2921000" cy="127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A0C902-BB36-2817-3993-5EF21317EDFB}"/>
              </a:ext>
            </a:extLst>
          </p:cNvPr>
          <p:cNvSpPr txBox="1"/>
          <p:nvPr/>
        </p:nvSpPr>
        <p:spPr>
          <a:xfrm>
            <a:off x="4813300" y="37084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绿色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17A8A8-2F0F-8F9D-02E4-06D89330230A}"/>
              </a:ext>
            </a:extLst>
          </p:cNvPr>
          <p:cNvSpPr txBox="1"/>
          <p:nvPr/>
        </p:nvSpPr>
        <p:spPr>
          <a:xfrm>
            <a:off x="4813300" y="41275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：真实有病灶但模型没预测出来，表示漏检。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83A15BB-FECA-5AE1-BB92-85965F2DF303}"/>
              </a:ext>
            </a:extLst>
          </p:cNvPr>
          <p:cNvSpPr/>
          <p:nvPr/>
        </p:nvSpPr>
        <p:spPr>
          <a:xfrm>
            <a:off x="8191500" y="3556000"/>
            <a:ext cx="2921000" cy="127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9D337B-6F29-0175-0D37-BA98D6FE4689}"/>
              </a:ext>
            </a:extLst>
          </p:cNvPr>
          <p:cNvSpPr txBox="1"/>
          <p:nvPr/>
        </p:nvSpPr>
        <p:spPr>
          <a:xfrm>
            <a:off x="8369300" y="37084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蓝色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38B90D-9076-1CAC-172E-76C8DA792DC7}"/>
              </a:ext>
            </a:extLst>
          </p:cNvPr>
          <p:cNvSpPr txBox="1"/>
          <p:nvPr/>
        </p:nvSpPr>
        <p:spPr>
          <a:xfrm>
            <a:off x="8369300" y="41275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：模型预测为病灶但真实不是，表示误检。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56CFD4-6381-6471-5A8C-41773ED5E4F9}"/>
              </a:ext>
            </a:extLst>
          </p:cNvPr>
          <p:cNvSpPr txBox="1"/>
          <p:nvPr/>
        </p:nvSpPr>
        <p:spPr>
          <a:xfrm>
            <a:off x="952500" y="54610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如果绿色多，说明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不足；如果蓝色多，说明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不足；如果轮廓整体错位，通常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Dice/IoU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会明显下降。</a:t>
            </a:r>
          </a:p>
        </p:txBody>
      </p:sp>
    </p:spTree>
    <p:extLst>
      <p:ext uri="{BB962C8B-B14F-4D97-AF65-F5344CB8AC3E}">
        <p14:creationId xmlns:p14="http://schemas.microsoft.com/office/powerpoint/2010/main" val="3433246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D0830E-1932-54FE-2106-83CC439E9C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54CA85-F734-E71C-856C-876648B4F95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E72DE2-74E7-EC53-D951-0797A0266348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80511A-B005-D7BC-9806-0B2F945D5732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和低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DA54A-A883-A2C7-BAB3-B67AA2A9585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Original / Ground Truth / Prediction / Overlay / Error Map</a:t>
            </a:r>
            <a:endParaRPr lang="zh-CN" altLang="en-US" sz="14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5CD4813-12E4-8EA8-178A-0BE7C79E9F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51000"/>
            <a:ext cx="5334000" cy="3302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8AB3C16-889E-59A1-9A6B-B95242A217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651000"/>
            <a:ext cx="5334000" cy="3302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32A6FB2-A7A2-4765-5E6C-B2334D19A138}"/>
              </a:ext>
            </a:extLst>
          </p:cNvPr>
          <p:cNvSpPr txBox="1"/>
          <p:nvPr/>
        </p:nvSpPr>
        <p:spPr>
          <a:xfrm>
            <a:off x="889000" y="54356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左：预测和真值高度重合；右：低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样本更容易出现漏检、误检或错位，是专家模型重点处理对象。</a:t>
            </a:r>
          </a:p>
        </p:txBody>
      </p:sp>
    </p:spTree>
    <p:extLst>
      <p:ext uri="{BB962C8B-B14F-4D97-AF65-F5344CB8AC3E}">
        <p14:creationId xmlns:p14="http://schemas.microsoft.com/office/powerpoint/2010/main" val="4138284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5FF5077-6D10-E017-3F0F-B69B590957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68F433-1A51-DDAE-FD36-D23454D0DE8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441FB1-3F8A-CAC8-2B5E-B94C888118FF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结果图怎么读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08381F-5B87-61A8-5B51-6F7336F73E22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一行结果图的阅读顺序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B0FE2D-E225-88A8-CE16-055D45BE027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从左到右判断模型是否分对。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608DA0-F15A-24E8-CB02-3CB46BEF91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10414000" cy="317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FD5CCE2-B3D2-82E0-6EB0-45B008EC2140}"/>
              </a:ext>
            </a:extLst>
          </p:cNvPr>
          <p:cNvSpPr txBox="1"/>
          <p:nvPr/>
        </p:nvSpPr>
        <p:spPr>
          <a:xfrm>
            <a:off x="952500" y="52705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：原始胸片；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Ground Truth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：人工标注；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Prediction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：模型二值结果；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：预测叠加；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：红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、绿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、蓝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88295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40A29B-1386-B3A5-8850-A7375130BB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9E257-1160-125E-4443-CCBAF8FE64B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D32446-7C7E-7910-C796-7F82F0BA71C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23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40B97D-E900-6DA5-D205-57606D03818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网页端功能怎么展示？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ADBFEA-6690-4EC9-5665-1CE44F134515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本地服务打开后即可上传胸片查看结果。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3A20576-41BF-953F-FF9E-5173E191717D}"/>
              </a:ext>
            </a:extLst>
          </p:cNvPr>
          <p:cNvSpPr/>
          <p:nvPr/>
        </p:nvSpPr>
        <p:spPr>
          <a:xfrm>
            <a:off x="825500" y="1841500"/>
            <a:ext cx="31115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9FCAAD-402A-D48A-E38E-454F4BA5E789}"/>
              </a:ext>
            </a:extLst>
          </p:cNvPr>
          <p:cNvSpPr txBox="1"/>
          <p:nvPr/>
        </p:nvSpPr>
        <p:spPr>
          <a:xfrm>
            <a:off x="10033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输入与参数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CD93FD-C407-2284-4728-736A5C150B2D}"/>
              </a:ext>
            </a:extLst>
          </p:cNvPr>
          <p:cNvSpPr txBox="1"/>
          <p:nvPr/>
        </p:nvSpPr>
        <p:spPr>
          <a:xfrm>
            <a:off x="10033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checkpoint/config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threshold / min_area / TTA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25E182C-12F0-4726-6C0F-ABFF26063046}"/>
              </a:ext>
            </a:extLst>
          </p:cNvPr>
          <p:cNvSpPr/>
          <p:nvPr/>
        </p:nvSpPr>
        <p:spPr>
          <a:xfrm>
            <a:off x="4533900" y="1841500"/>
            <a:ext cx="31115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D2D18A-7F9A-9AE1-97A2-695CB33AB72C}"/>
              </a:ext>
            </a:extLst>
          </p:cNvPr>
          <p:cNvSpPr txBox="1"/>
          <p:nvPr/>
        </p:nvSpPr>
        <p:spPr>
          <a:xfrm>
            <a:off x="47117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结果预览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19DB91-F9C2-DFA3-F2D2-93861FF9C56B}"/>
              </a:ext>
            </a:extLst>
          </p:cNvPr>
          <p:cNvSpPr txBox="1"/>
          <p:nvPr/>
        </p:nvSpPr>
        <p:spPr>
          <a:xfrm>
            <a:off x="4711700" y="2413000"/>
            <a:ext cx="27559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感染面积占比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5F19FC8-BA17-7033-467E-1E07EAEC1DCE}"/>
              </a:ext>
            </a:extLst>
          </p:cNvPr>
          <p:cNvSpPr/>
          <p:nvPr/>
        </p:nvSpPr>
        <p:spPr>
          <a:xfrm>
            <a:off x="8255000" y="1841500"/>
            <a:ext cx="31115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ACADCD-6C1E-E618-49F9-8DAD4FA03A7A}"/>
              </a:ext>
            </a:extLst>
          </p:cNvPr>
          <p:cNvSpPr txBox="1"/>
          <p:nvPr/>
        </p:nvSpPr>
        <p:spPr>
          <a:xfrm>
            <a:off x="84328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评估与保存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50EF3B-C6D4-BAE2-CC51-8CD411EABC36}"/>
              </a:ext>
            </a:extLst>
          </p:cNvPr>
          <p:cNvSpPr txBox="1"/>
          <p:nvPr/>
        </p:nvSpPr>
        <p:spPr>
          <a:xfrm>
            <a:off x="84328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自动匹配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GT mask
Dice / IoU / Precision / Recall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保存到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outputs/web_infer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58F601-C18D-3447-98B8-31DCA08B629C}"/>
              </a:ext>
            </a:extLst>
          </p:cNvPr>
          <p:cNvSpPr txBox="1"/>
          <p:nvPr/>
        </p:nvSpPr>
        <p:spPr>
          <a:xfrm>
            <a:off x="952500" y="5397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启动命令：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python app_v12_web.py    </a:t>
            </a:r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访问地址：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http://127.0.0.1:8000</a:t>
            </a:r>
            <a:endParaRPr lang="zh-CN" altLang="en-US" sz="17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826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26B5BF-2BC0-A7D5-0B33-598D892705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C5460C-B79D-762B-AAEC-1348B0736E7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E4F23D-2FF8-4A09-560D-AE0631CD14E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9DC0FE-D8C3-27FD-7060-CF385DF3CBB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LowDiceRefineNet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：为什么适合低分样本？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3908A1-B35A-9818-3220-649D7D8DE67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加入边缘、局部对比和坐标先验。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FBCD6A-39CE-AF9F-B024-259C706FBF93}"/>
              </a:ext>
            </a:extLst>
          </p:cNvPr>
          <p:cNvSpPr/>
          <p:nvPr/>
        </p:nvSpPr>
        <p:spPr>
          <a:xfrm>
            <a:off x="698500" y="1905000"/>
            <a:ext cx="10795000" cy="3810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B66DD7-BA74-6E4C-3660-6BA9E44DDC17}"/>
              </a:ext>
            </a:extLst>
          </p:cNvPr>
          <p:cNvSpPr txBox="1"/>
          <p:nvPr/>
        </p:nvSpPr>
        <p:spPr>
          <a:xfrm>
            <a:off x="876300" y="2057400"/>
            <a:ext cx="10439400" cy="30469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E2E8F0"/>
                </a:solidFill>
                <a:latin typeface="Consolas" panose="020B0609020204030204" pitchFamily="49" charset="0"/>
              </a:rPr>
              <a:t>class _LowDicePrior(nn.Module):
    def forward(self, x):
        gray = x[:, :1]
        low = avg_pool(gray)
        high = abs(gray - low)
        edge = sqrt(sobel_x(gray)^2 + sobel_y(gray)^2)
        lap = abs(laplace(gray))
        return concat([gray, low, high, edge, lap, xx, yy])
class LowDiceRefineNet2D(nn.Module):
    def forward(self, x):
        prior = self.prior(x)
        x0 = self.stem(concat([x, prior]))
        ...
        d1 = self.local_refine(concat([d1, prior]))
        return {"seg": self.seg_head(d1)}</a:t>
            </a:r>
            <a:endParaRPr lang="zh-CN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C6A76C-DC97-210B-E055-CE2067981FA0}"/>
              </a:ext>
            </a:extLst>
          </p:cNvPr>
          <p:cNvSpPr txBox="1"/>
          <p:nvPr/>
        </p:nvSpPr>
        <p:spPr>
          <a:xfrm>
            <a:off x="889000" y="59690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解释：低分样本常见小病灶、边界复杂和位置偏移；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edge/lap/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坐标先验给模型额外空间和边界信息。</a:t>
            </a:r>
          </a:p>
        </p:txBody>
      </p:sp>
    </p:spTree>
    <p:extLst>
      <p:ext uri="{BB962C8B-B14F-4D97-AF65-F5344CB8AC3E}">
        <p14:creationId xmlns:p14="http://schemas.microsoft.com/office/powerpoint/2010/main" val="2633038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8680B5-55C9-8D75-4503-88C6C453E6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EC9ED6-2C01-B710-EB53-92CA3C8A6CE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40B8BA-388D-180E-251F-276B58652AF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764A20-BCB0-FD1E-0E1A-6BC9E22F8F4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门控路由代码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00DE65-928A-5DB1-D8A7-B31FAE42B785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最终策略的核心是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gate_choice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56B4ED-D64E-0C2C-6C9D-6DAFF6AD2DE8}"/>
              </a:ext>
            </a:extLst>
          </p:cNvPr>
          <p:cNvSpPr/>
          <p:nvPr/>
        </p:nvSpPr>
        <p:spPr>
          <a:xfrm>
            <a:off x="698500" y="1841500"/>
            <a:ext cx="10795000" cy="41275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419A11-7C5E-63B9-C5F3-2BB5D0FD53A3}"/>
              </a:ext>
            </a:extLst>
          </p:cNvPr>
          <p:cNvSpPr txBox="1"/>
          <p:nvPr/>
        </p:nvSpPr>
        <p:spPr>
          <a:xfrm>
            <a:off x="876300" y="1993900"/>
            <a:ext cx="104394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E2E8F0"/>
                </a:solidFill>
                <a:latin typeface="Consolas" panose="020B0609020204030204" pitchFamily="49" charset="0"/>
              </a:rPr>
              <a:t>def gate_choice(failure_type, available):
    routing = {
        "over_segmented_fp": ("actual_fp", "actual_all", "precision", "broad"),
        "wrong_location_no_overlap": ("actual_boundary", "precision", "actual_all", "broad"),
        "under_segmented_fn": ("actual_fn", "boundary", "recall", "broad"),
        "mostly_missed_fn": ("recall", "actual_fn", "boundary", "broad"),
        "missed_all": ("actual_all", "actual_fn", "broad", "recall"),
        "boundary_or_shift_error": ("basev18", "actual_all", "broad", "actual_boundary"),
    }.get(str(failure_type), ("broad",))
    for preferred in routing:
        if preferred in available:
            return preferred</a:t>
            </a:r>
            <a:endParaRPr lang="zh-CN" altLang="en-US" sz="11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210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61B086-1830-EE33-3659-6CD2CAC58D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4DB069-C3E2-0183-E9AD-39C0338CDE3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C7EE20-C27B-F3D2-FC94-2AEC3F6A3E4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87A514-41AC-1EEE-B5F7-A60B646B815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推理后处理与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Overlay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1CA8D1-8A41-7D4D-8079-A07F320B673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这部分决定网页端展示出来的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Mask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和红色叠加图。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02540B-77B8-7756-8016-D7E1F208FEE0}"/>
              </a:ext>
            </a:extLst>
          </p:cNvPr>
          <p:cNvSpPr/>
          <p:nvPr/>
        </p:nvSpPr>
        <p:spPr>
          <a:xfrm>
            <a:off x="889000" y="1905000"/>
            <a:ext cx="10414000" cy="3556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F84CA5-5E28-05F3-6DF0-7DB8979D6A4F}"/>
              </a:ext>
            </a:extLst>
          </p:cNvPr>
          <p:cNvSpPr txBox="1"/>
          <p:nvPr/>
        </p:nvSpPr>
        <p:spPr>
          <a:xfrm>
            <a:off x="1066800" y="2057400"/>
            <a:ext cx="100584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E2E8F0"/>
                </a:solidFill>
                <a:latin typeface="Consolas" panose="020B0609020204030204" pitchFamily="49" charset="0"/>
              </a:rPr>
              <a:t>def remove_small_components(mask, min_area):
    labels, stats = connectedComponentsWithStats(mask)
    keep component if area &gt;= min_area
def build_overlay(image01, mask, alpha=0.35):
    rgb = stack([image_u8, image_u8, image_u8])
    red[..., 0] = 255
    overlay = rgb * (1 - alpha * mask) + red * alpha * mask
pred = (prob &gt; threshold)
pred = remove_small_components(pred, min_area)</a:t>
            </a:r>
            <a:endParaRPr lang="zh-CN" altLang="en-US" sz="13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E6A9C8-6427-7005-528B-DB549D70323F}"/>
              </a:ext>
            </a:extLst>
          </p:cNvPr>
          <p:cNvSpPr txBox="1"/>
          <p:nvPr/>
        </p:nvSpPr>
        <p:spPr>
          <a:xfrm>
            <a:off x="952500" y="5778500"/>
            <a:ext cx="1028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控制是否预测为病灶；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控制是否过滤小碎片；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alpha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控制红色 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的透明度。</a:t>
            </a:r>
          </a:p>
        </p:txBody>
      </p:sp>
    </p:spTree>
    <p:extLst>
      <p:ext uri="{BB962C8B-B14F-4D97-AF65-F5344CB8AC3E}">
        <p14:creationId xmlns:p14="http://schemas.microsoft.com/office/powerpoint/2010/main" val="1942027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B63BF09-160C-C80B-15B0-7E3BCED4D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2E8C12-4493-4256-2437-127E76510B6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675935-8F81-0802-5103-3781F8B3E0D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F97DD3-D9CE-6DFE-A0EE-0949D37B213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端调用流程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A384F7-4BD6-C437-2DF3-B584F6ABCEA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上传文件后，后端调用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V12Segmenter /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配置模型完成推理。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ED4A6A-529F-C30F-8B34-EDE368CDE034}"/>
              </a:ext>
            </a:extLst>
          </p:cNvPr>
          <p:cNvSpPr/>
          <p:nvPr/>
        </p:nvSpPr>
        <p:spPr>
          <a:xfrm>
            <a:off x="1270000" y="2032000"/>
            <a:ext cx="9652000" cy="2921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C9D412-BA77-81BD-8E2B-D53160BD269F}"/>
              </a:ext>
            </a:extLst>
          </p:cNvPr>
          <p:cNvSpPr txBox="1"/>
          <p:nvPr/>
        </p:nvSpPr>
        <p:spPr>
          <a:xfrm>
            <a:off x="1447800" y="2184400"/>
            <a:ext cx="92964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>
                <a:solidFill>
                  <a:srgbClr val="E2E8F0"/>
                </a:solidFill>
                <a:latin typeface="Consolas" panose="020B0609020204030204" pitchFamily="49" charset="0"/>
              </a:rPr>
              <a:t>POST /api/predict
  1. parse multipart form
  2. resolve checkpoint/config path
  3. save uploaded image to temp path
  4. segmenter.segment_file(...)
  5. save original / mask / overlay / meta
  6. return JSON with preview images and metrics</a:t>
            </a:r>
            <a:endParaRPr lang="zh-CN" altLang="en-US" sz="15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C1F3FD-1452-3403-DCAF-1077A94CB638}"/>
              </a:ext>
            </a:extLst>
          </p:cNvPr>
          <p:cNvSpPr txBox="1"/>
          <p:nvPr/>
        </p:nvSpPr>
        <p:spPr>
          <a:xfrm>
            <a:off x="952500" y="53340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实际页面展示三张核心图：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；如果能匹配真值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，还会显示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90126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4D0B8F-BBCB-EA22-97E8-19B6BF53B8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DFB138-D88B-4657-5785-CFAD1508DCB8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0FDD42-DCA2-68C6-89A9-8843FC4195C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853375-9753-51A7-1A86-29CF4FA0C9F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项目最终结论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F0404C-7B13-3750-18FC-70ACF610ABF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从能分割，到能解释为什么提升。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294D95B-B4F4-AC41-518C-816D5D29E3A7}"/>
              </a:ext>
            </a:extLst>
          </p:cNvPr>
          <p:cNvSpPr/>
          <p:nvPr/>
        </p:nvSpPr>
        <p:spPr>
          <a:xfrm>
            <a:off x="762000" y="1841500"/>
            <a:ext cx="3302000" cy="3111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FCC2ED-56E3-4755-FA08-694938A1949F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完成内容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1AF7E0-5512-755B-ACC6-7B085CAA5C24}"/>
              </a:ext>
            </a:extLst>
          </p:cNvPr>
          <p:cNvSpPr txBox="1"/>
          <p:nvPr/>
        </p:nvSpPr>
        <p:spPr>
          <a:xfrm>
            <a:off x="939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胸片感染区域分割训练流程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可视化系统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低分样本错误分析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多专家模型池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836801-9DB1-0EDE-F28B-14E8C40F01BC}"/>
              </a:ext>
            </a:extLst>
          </p:cNvPr>
          <p:cNvSpPr/>
          <p:nvPr/>
        </p:nvSpPr>
        <p:spPr>
          <a:xfrm>
            <a:off x="4445000" y="1841500"/>
            <a:ext cx="3302000" cy="3111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21477B-A4CA-9DA3-F6EF-203B406DCA82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最终效果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E790FD-6AEC-6747-ABD6-AB176A4AA89B}"/>
              </a:ext>
            </a:extLst>
          </p:cNvPr>
          <p:cNvSpPr txBox="1"/>
          <p:nvPr/>
        </p:nvSpPr>
        <p:spPr>
          <a:xfrm>
            <a:off x="4622800" y="2413000"/>
            <a:ext cx="2946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0.7959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低分子集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0.4033 → 0.5319
Oracle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2062B30-3252-9643-B1CA-394DC5F096F0}"/>
              </a:ext>
            </a:extLst>
          </p:cNvPr>
          <p:cNvSpPr/>
          <p:nvPr/>
        </p:nvSpPr>
        <p:spPr>
          <a:xfrm>
            <a:off x="8128000" y="1841500"/>
            <a:ext cx="3302000" cy="3111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BDFC6C-C535-F643-AF96-585AF000AE11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后续工作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FAD379-EED4-ABD4-42B5-6B07501E041A}"/>
              </a:ext>
            </a:extLst>
          </p:cNvPr>
          <p:cNvSpPr txBox="1"/>
          <p:nvPr/>
        </p:nvSpPr>
        <p:spPr>
          <a:xfrm>
            <a:off x="8305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训练无真值门控分类器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接入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
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增加外部数据验证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优化错位无重叠样本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C6725B-EB2B-8B71-726C-9D5E11947716}"/>
              </a:ext>
            </a:extLst>
          </p:cNvPr>
          <p:cNvSpPr txBox="1"/>
          <p:nvPr/>
        </p:nvSpPr>
        <p:spPr>
          <a:xfrm>
            <a:off x="1270000" y="5461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</a:rPr>
              <a:t>答辩重点：不是简单堆模型，而是基于错误类型进行有针对性的专家化优化。</a:t>
            </a:r>
          </a:p>
        </p:txBody>
      </p:sp>
    </p:spTree>
    <p:extLst>
      <p:ext uri="{BB962C8B-B14F-4D97-AF65-F5344CB8AC3E}">
        <p14:creationId xmlns:p14="http://schemas.microsoft.com/office/powerpoint/2010/main" val="3522535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3392</Words>
  <Application>Microsoft Office PowerPoint</Application>
  <PresentationFormat>自定义</PresentationFormat>
  <Paragraphs>360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2026-05-20T09:15:41Z</dcterms:created>
  <dcterms:modified xsi:type="dcterms:W3CDTF">2026-05-20T09:15:41Z</dcterms:modified>
</cp:coreProperties>
</file>