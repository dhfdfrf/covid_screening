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B5B9A-1532-352A-3EE7-18118AA8C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224D13-B29C-6B9A-5668-F2332251F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EDD10-3CBF-7939-65D0-18C24527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6994C5-3A9C-A1F0-D576-5C152E3B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9D511-3E86-BBEB-7060-DFA9FF72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906CD-7D28-491B-2962-2ED8DC6E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F5217-2E7A-576E-AAFF-C7DC78BC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8AA3C-A71F-D6FA-E576-4F37133E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ACCE74-60C7-2B21-EEBD-5BE10CEA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8966B-A5AD-6383-11BE-DDF37D24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77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C8568-DCFB-9361-B286-D4A44D47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08F3C0-7ADA-7876-A6BE-C1E97A2A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79781-4F31-EF19-BFA4-8E942D93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2D1BF-C982-7FD8-CE30-2C3B1B0A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F4BB2-83E0-CDAB-B531-2CBDC28D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8F55-782C-7F87-71E7-ABE53A2E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AC63A-9CC7-5823-3713-63AE53FAE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C7FFF6-6799-92F5-B05E-4AAE5028C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61E71-D030-7F14-596B-2913702E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68690-F211-0A4D-F36D-8AF5E952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5A1D0A-A6E3-22C9-1F8C-33271FC7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63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816F7-C99B-C037-F2C4-5BA110E9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17183-E8B0-128A-7206-D89F39459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6C3701-F241-85CD-11A9-9D2E7939E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A76D4E-CC3A-3C72-80C2-15D4B621E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FA63C-AF37-2D48-AA16-0FD44F16E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382FA1-09A2-17EC-1214-932A511F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07DBD0-E5D7-8F5D-4CAB-9CA204D8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0EEF5A-7064-54D6-CCF9-38A9BED6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1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F1517-C354-7DB2-9E00-4C338C20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F9497F-CB34-6650-A3FC-B69C8020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25C92E-6AF0-C1E0-4B55-E625909F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45414B-867D-1826-D28E-6064355B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25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B48A32-CED8-5E08-A887-A8C23790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6EFB1E-02BD-B19D-94AA-CBA26A4A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549D9-B754-F701-B889-880C464B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8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6BC45-F844-D6EE-7455-F32FED73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4BCED-7078-2621-35F2-9F88C3B3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85D6BF-9DF2-E5E4-8DC6-B9581607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E2006A-0B9F-721A-1892-B5633DC5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016298-548D-CAFB-C1A2-F2258251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BD0C4-260F-98B8-A324-2FCB1D1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31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4FFD6-4D8D-CBDD-6399-B9F7BA39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C114FA-56A3-5B29-49BA-4AFBADA34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F2AE27-25CC-B04A-894C-8DA9107E9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0B67A-F558-CF3A-2F6C-1521F558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621452-D7C5-DE83-5FE8-F4641688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36C76-0F04-7F87-A748-B490452D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4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2A06-04BA-10F4-F818-D235A05D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EC1A72-45E7-801C-171F-6E9576F3D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3A39E-F870-3CCC-4C9E-81513073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12B48-D259-2C65-0661-8BA3EB04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F2486-87F4-5CC9-FE4A-BB2E0288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56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CCD7EE-C101-928A-29FA-62FA66D90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12C62C-A4A1-A830-0D96-AB0C91808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CE36E-BB89-661B-2FA6-CE82E198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A54DB-9E9A-CF94-DD00-1A2F428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C20E26-58EA-70EA-FD03-D029F2E1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86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39D6E-C8C1-7FA1-7458-283A068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4BD09-41E4-78AE-988F-6058557CE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61E15-050A-31BA-3F88-15CA1756D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27B3B-E6B5-C3F4-B25C-3E8C3E8FF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091F1F-2207-08F1-787F-9349A3BEE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9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809265-F2AB-3C98-61CC-6ED87AAE0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45F51F-E248-6C37-B210-5CB25C2421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E0CE08-BB55-934B-A053-57ABF29DC0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C9F2D3-8863-6EBD-6D19-8AA51CC4A493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380467-502B-B82B-B08D-5EE43E722A73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FB8280-A0FE-46FB-F1B2-50C8A2E03170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3E3D68-873F-3632-323C-1AB3ECE57EDB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F7A40C-38AF-5AED-C872-94A4849D68F2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39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12321D-A59B-4A04-3E38-B173E6205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E5AF1E-BBD0-8045-0E7E-E387836A5A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273CDF-738C-5843-8B70-C47ED14599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7AD251-AC11-B118-719D-7AAD53D1B93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43734-0DB3-F304-E017-2C19590EEFB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2A1EC0-EC4C-1E7E-60A5-220F0BC95E7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1DE96C-B8FA-DE16-E728-4CAE8B32487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3DDE2-5E1B-35C9-206E-FBE1E0F8B9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608D5B-0F9E-43AB-36F6-B3EBC54EC774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7FEEC6-881C-0D66-999F-02493F56479C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E5D5A3-562E-3333-A3C3-DA1D889A0840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E948DD9-6577-E952-38BC-8AE5D6E635A5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E8C8A4-1DB5-8384-4397-06B3FCA6BE0F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1B7BAA-6BC1-76F6-73DF-F589A86564B8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150ACA-C4CF-03A5-6B00-BBB8A206118F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2973E5-D4D3-EF62-6E00-1C785BFBC44C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E6C23C-6305-DF0E-0514-0368945AB0A2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9847817-F269-2076-36CD-11BEF21D540D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C5EBD9-3CF4-E471-BAC4-5946FB2D0CF4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1C382B-591B-FD90-DDF4-B1BC64A49192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0EE84CA-ABF7-4747-A97E-014C2546734E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BFBFFF-0ED0-1904-53EF-154EB1A494EA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EC18F5-AD39-91FA-4303-531F7E4A7B9D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D545E3E-251F-41E6-AE2F-48D7DD81A15D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D179C9-C5D4-131B-34CE-FA1478D43BAD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C03025-7118-EEF0-8361-FD769D49BB5A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249650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5030E3-8D85-B211-672A-4DD260C3B1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F0138E-FEB5-9DCC-5986-8F05B7035F1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F3A6A-6256-7B99-CA4D-6D1EC796190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257E4F-CD20-9AE2-9F5D-1B324AB9BC2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0411E2-6295-B155-3976-01BD7582898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1C3DA-9C81-ABE7-2ACE-F5BFF53702B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DFCD0F-4F94-4E48-BF51-803D7302B4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6A986B-E5F2-48F3-52C7-64E35C1BFF5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992943-3FAC-3E7A-46D8-47C5AB48B2CA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66A7D0-CD64-249A-123A-AA30BDDD19B7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CC329C-03D5-F45B-47A6-7B00EE24DF35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D53532-3694-EE2E-6758-E36B4BB6E088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459A82-3299-E8A3-790E-BA442779BC73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6146BC-4179-45B2-5D7F-9593C4F1C05E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21FE9C-653C-83B1-3CFE-68682C945DD3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BF6BB8-652F-10E5-C199-4CD3CB2A60E5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3573CB-2767-8AA3-AF34-80D41E722367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04B3E52-DF8D-1FC9-739C-193AC3231F19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C1C660-F998-921C-E865-4C634AA40113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45256-FCA7-DE26-5081-0CC4A387B8EB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1534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52062A-6058-8A8E-14D9-78FD80285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266C83-97C7-F683-0E01-D89640C6BC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875B04-5FCD-9A7C-FB43-AB8BAE8A9CD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D95EB6-55DD-8CC0-0C7F-94771359FF9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477FBD-AAD0-9625-7FF4-D47E220ACA0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3A511E-757C-AB83-8122-376810C2129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EB5941-EC38-2907-5E0B-E6935DA781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AFD1E9-4DAB-59D1-815C-845EC8B1D9B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BAA9B8-55AF-46CC-A738-8FE57B0F4E2E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FAA0A6-E9C9-A2BB-1BC6-04DF6B54A452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53A991-510C-DF47-3ED7-57EB6BC88273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7D1A005-CA54-7362-F5B6-D0FEFCB03D8A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DF82EC-48BB-57CB-29DE-FB0572232FC0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2524E1-6C15-0027-83FB-ED3CF51A5D3B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320FE6-4FD7-0AC1-A8B2-0BABB03D5ED1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A47CFA-415C-53C2-C5F5-259B69E5C063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4140C0-FB5B-6AC4-27B4-98F551A50D63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38044E0-A971-A130-A491-9D309A0A1898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8C24C1-12C3-9BD1-1AAA-C586D6589509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8E9EE-6832-7FAF-481C-C1F815E0C6AF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DE4507A-69A4-8BB4-C6A4-207C2D52091C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44AE96-4778-1E3C-70E4-94EC15B74466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FDF082-D095-A4B5-0DD9-C00DE1CF2EFE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7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B575D6-299C-877A-BF67-F50FDDD6B1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29E2D8-CCD0-8871-A4C7-C4221C5BBD7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E7426-31F1-8B4A-8E76-36411B72D9A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4ECB01-444B-223F-CF3E-AE056EBB447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780C81-D1AB-07E3-07CE-3455896BD53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5ABAAC-BFA1-9006-2E37-082CF9B0843D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1A7AF6-73AA-2409-E4FE-611B11A1AE7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8DB02-025B-FE3E-3CC6-2C69F28DAD1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9E3574-71C6-983D-A8DD-CA7A4BB1023A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A4ABC6-CB60-64F3-69FD-D4BA1AC34EB7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E94421-DD32-423D-8DF3-E9F2A01B45B2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5BA95-CF3B-6A75-3022-79764969A722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1A643AA-A86E-9C9E-991B-805A5B5A67B7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BECFC2-1B62-A46E-689A-E86F1A42AEEE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B14B7D-C328-9D7D-16DC-2BCB682F7167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C54CC1-12AB-1E67-C27A-1421BBD69B3F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90C7E3-02C8-A2FB-A952-80419325C739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AB9873-D634-ADD7-696E-E0F228B479A0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170D14-D10F-6D19-E40B-248FF03F249A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DBF6E6-FB1A-01BC-B510-3FB2EF6DA23D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720015-955B-C65B-4F67-4F58088B1510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B21B91-2EFA-AFBF-957C-010B62367F10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15F9EA-DBB9-0082-D225-77B35E6DAEDC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42E0505-9456-9108-B63A-E938BD2E6AB2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2387AA-3CD6-4716-258B-EF02C3449F56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6B4DC4-40ED-44FD-6E4E-1C72CC4CDB79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355930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BB2154-0BA3-5617-937D-0AA8CC6997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63A562-7B18-CAA4-7B1B-CC0E08B13C1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00DC5A-CADE-703A-506F-2B7659A8F4B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8FB1CE-C7D9-40DD-50F0-BACA864BC0F8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0F43EB-80DC-A360-A9BD-5BCB58EB50F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025AE-DFCE-7BE1-B978-071CD0CBCF5A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8A07BE-37BD-4A77-A185-06D7C63B36E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1C45D7-A09C-B2F1-D0C2-BCAB218260F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FE9A4A-64A6-2BB4-7A01-47776D8E0BB4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558C23-8801-2BFE-A586-305EA57EA301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F8A8A1-A1BD-3191-2899-D815F5AA44D0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9AF899-3FC7-99CF-F5BA-2581C4213EFA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A3EC2D-AFBF-0CB7-5DB8-01C8960CA26E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D25AF-300A-F6DA-35FE-D0E492A39572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BDD2074-AB27-3A89-1C6D-DE5FDA968904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E92B0-C9A9-AFBF-3218-933921326D62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675700-A046-059E-7229-6E7D319E1F06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FE891F-F528-77C0-F30B-00B3B7C02350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45D25D-7454-DC3F-C889-443EDCEAB1E1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A4AEDD-3A70-796B-9172-E31503817E4E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C90087C-9E25-9753-3FC4-C6A920202A34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CB0CB2-3EB0-21E6-176E-C220D591579B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452A6D-C3C7-093C-8B2D-8BC3A0786685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231EC42-6413-D401-2347-6B2194607AB1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FF670D6-7E4E-F8C1-80B2-9308D49BCF22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0F58086-95C7-35AB-6DA7-8E851EBDA704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0692898-1419-5E4C-F3CA-B6E1617D5F27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534669C-D3FB-E45B-DDB4-473410812FC5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263675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304845-E339-0EA7-7DB7-7B9FE50B97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C5D209-B88F-F685-9B2C-CF38A2C7716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BAF067-27BF-554B-8A8A-60185C04C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9B5B0-419C-09FD-BE3B-DF6E3786DD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19CFC1-CA55-9819-B98D-9E85D2EF948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C5EEC3-B266-6CC0-8DB8-4F4E25CF0DA6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4A278-C979-CC39-6B40-E99E1A4A594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968712-C59C-94D8-3FD7-E6344628F9A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6096006-A0BF-44D5-D7DE-F1E457688118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AC7B04-23F1-EB3C-0489-1B59C887AC5A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22F439-F675-42CF-69B0-F28BED8AE2AB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EE19F8-19F0-2317-2829-E0969DE42436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6BF15F-5D9E-D6AB-A217-AD2D40E65681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CDFD9B-0A82-BEC1-9E85-9D7FB5509A77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CBC6DEC-94A3-E719-F7D4-CBD4C45649CC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3D632B-0174-988F-40FD-B0512B3A0EB9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65CD9D-403E-28E8-E2B1-096AA57393EC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80DB2C-DEEC-6E8B-3EB6-93ADD42F06F3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BD96AA-4332-CC8F-B0E3-B6C7082E7685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B97C70-4485-9B36-31A5-3F2B2765A1C8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2CC870-02DA-E029-D824-EC419E7861D1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CBD15B3-3B2E-A8D4-6F25-6B2A5B1DED55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5A1E71-E7FB-C5F3-A457-DFC89BD2D386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4E52572-9097-B112-7938-E62F381E2069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428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446638-2F68-94F2-E539-633B376FB3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362BE4-D18A-C4F3-3EE4-3BE85D0CC7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42D2FE-88C3-3090-7907-9987534E61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375BB-90BC-E8CB-2C4A-6EB6216BD84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DEAC5E-559A-8B3C-DCC7-97929CF5C16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1CA6B3-FAF9-70C4-444D-7CCBF409D3E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32C720-5395-3561-602C-20A6D517F2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0DDF62-2530-8EF6-6115-50D1EAE5FF8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6EF6CD-74CB-6270-F4D3-0B477B60191B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E03728-7BC1-80D4-78B5-E7D80FB2A2BC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98F600-F275-8BAB-4A01-7DBE45A27EE5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F7257F-F973-27A3-DCB7-EA4583E5D965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102634-BCE3-41D3-ECB5-99175582AF1D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422562-8A64-B030-2D59-9ACE717FA802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BA0949-9612-2A33-2904-0AF9ED876575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361080-C2B5-DACE-C2C1-135A5B2EC10A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F27824-11FE-1816-96DB-92D203F32636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3C1C63-3537-AA4C-AA5D-7A0E4CE2DE2B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B5EB51-FA7C-E256-DD11-E1BC3FD4516D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A8DEF9-B40B-2715-65B7-40F30FB98D98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BBC53BA-B70B-B24E-99DF-8B2CC2B95C7A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215486-58C7-484A-EEB1-DFF2705D84C6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F33537-0B4D-9185-8774-22F8687FD825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84121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F60418-047B-AFC6-0F53-4DC4D3AB37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920E35-99AC-15BD-B2FA-008B4AB5A19D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DB5122-8DCB-A0DE-A8F6-3C9B63AB354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647019-ECF1-2636-2DF4-4449F45882E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B867AD-3A01-CC1E-1A5E-AE921E610C4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EC0C16-2CD2-91D7-F373-E9958CD17B5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2B6F1D-7715-06BC-8AAD-BC8280DF25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1B48F7-B5F4-E598-1312-A062DFC1061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8AC87-DFC0-96C6-8600-9EDCD13C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15178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3950196151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614222013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47370312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388757863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555059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809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4967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9347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84583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53D44AB-7A81-A6B2-5024-E5FFC56C5987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411112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1BBF5B-1CA6-DB0D-7CA1-8FFC607899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133C81-DFDB-DCBA-0F92-AC7CBA14F23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559A49-A0BA-0A91-9C20-7BD12CA67E3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E3E821-1C87-62D5-1EB3-DDDD57BCAAB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C5EAAF-BD2C-9DFB-A2FB-F7A7B89197B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主要模型改动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EA6CDC-40C8-9B23-F0B8-2D435A50D2A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02E744-8879-E0BD-7DE7-334003A359C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主要模型到底改在哪里？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FCF6E4-6541-974C-386D-958AE809026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最终版不是只改一个网络文件，而是模型结构、训练损失、低分数据划分和门控策略一起改。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8540175-E00F-6C32-E0D9-682156E3D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81385"/>
              </p:ext>
            </p:extLst>
          </p:nvPr>
        </p:nvGraphicFramePr>
        <p:xfrm>
          <a:off x="482600" y="1778000"/>
          <a:ext cx="11226801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267">
                  <a:extLst>
                    <a:ext uri="{9D8B030D-6E8A-4147-A177-3AD203B41FA5}">
                      <a16:colId xmlns:a16="http://schemas.microsoft.com/office/drawing/2014/main" val="3231796715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1604774140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4818513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改动位置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具体内容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解决的问题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8452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LowDiceRefineNet2D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：边缘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频域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坐标先验，高分辨率解码，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SE/ASPP/AttentionMerge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给低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样本单独建专家模型。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46439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boundary_shift_combo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不同专家使用不同损失倾向。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35026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scripts/build_qata_v18_error_expert_manifests.py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的实际错误把低分样本拆成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actual_fn / actual_boundary / actual_all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让训练集和错误类型对应起来。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5151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gate_choice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路由，按错误类型选择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或对应专家。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避免平均融合，把每个样本交给更合适的模型。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6114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C55A8D-FBCF-3624-0D52-AC2FCD89CF67}"/>
              </a:ext>
            </a:extLst>
          </p:cNvPr>
          <p:cNvSpPr/>
          <p:nvPr/>
        </p:nvSpPr>
        <p:spPr>
          <a:xfrm>
            <a:off x="1397000" y="5715000"/>
            <a:ext cx="939800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777BDE-E5C7-D732-8E96-6B40A4903A55}"/>
              </a:ext>
            </a:extLst>
          </p:cNvPr>
          <p:cNvSpPr txBox="1"/>
          <p:nvPr/>
        </p:nvSpPr>
        <p:spPr>
          <a:xfrm>
            <a:off x="1574800" y="5867400"/>
            <a:ext cx="904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zh-CN" altLang="en-US" sz="15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E0AB77-6200-0A27-CF4D-39BEC37854A6}"/>
              </a:ext>
            </a:extLst>
          </p:cNvPr>
          <p:cNvSpPr txBox="1"/>
          <p:nvPr/>
        </p:nvSpPr>
        <p:spPr>
          <a:xfrm>
            <a:off x="1574800" y="5901491"/>
            <a:ext cx="904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最终模型改动点是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anose="020B0503020204020204" pitchFamily="34" charset="-122"/>
              </a:rPr>
              <a:t>LowDice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+ v18-aware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门控路由，不是单纯把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换成一个新模型。</a:t>
            </a:r>
          </a:p>
        </p:txBody>
      </p:sp>
    </p:spTree>
    <p:extLst>
      <p:ext uri="{BB962C8B-B14F-4D97-AF65-F5344CB8AC3E}">
        <p14:creationId xmlns:p14="http://schemas.microsoft.com/office/powerpoint/2010/main" val="30140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485583-18BA-148D-52B6-E7A232DA9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96DA8-1C61-7D94-4798-B4898E10533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85497D-E5E5-0165-0738-FDEC00292CB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D121F6-05E5-96F5-0314-E1485338EB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9618FF-F828-1ACD-833C-081BB662BB3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5F0723-DEBA-D2A9-DA96-3F9BA5E0AC9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58C58B-B144-E47C-3B71-2451A9ACA2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DA83A4-4DFF-D057-A5AC-88723E12FD0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5D59AB-107A-0EBA-B401-D81CB46753F5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FEB5C1-D41A-0B4B-FB97-AEBFC6AF82B2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1B2703-AFFF-B07B-2C11-218CD074ADE8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6B3E94-16EF-A6A1-CD4D-7380233FFC8E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77B05C-D19B-727E-AC46-4B1E78AFBD78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823C27-AB5B-1598-4DDF-1F871E0988A3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96AEC2-5E45-8932-C5A9-F98233F8CB14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090B3-3D52-4959-841A-83FAC052C729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EDEF7C-E264-C3C6-E932-30ECA3764451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7F584E-49D9-0D6F-BEF4-64BB40ABF363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722C61-0700-7E01-4695-E51840B6EB6F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707BCC-E707-75B5-1013-1A930D3D2AD5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5A14EA9-2C47-AB11-7F37-04CEB0C80D8A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AE9230-D473-5570-4801-49E2CF34DCDD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2AB25D-21B2-2FF4-D6FD-A18F1434072F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192326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362051-49A1-13CA-B67D-248BBB4637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5AB42-9AA0-AC87-E30D-569FF515AEE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D0BBFF-F59B-51B3-C4F9-A8A3CABE1E9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43A567-F024-2CD1-0FFC-C4BB112FC50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E74B8A-1E48-52FD-A9AE-954F9C4121B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CD5376-EEF5-A669-3A0E-C1CCDF84331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ADAEA-82BA-76B3-C8F5-EA8478A2D3B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E1EF8-128B-9392-9743-65FB1039C29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906761-1A64-83A3-0A9D-6BC736170F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89F121-6CF2-DF3E-A34F-AA963A0FDEF1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B07F6A-E183-902E-2176-B3A54F6D77EF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59B7DC-A698-ABD3-FE00-928944B2B6C2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62E11C1-CA6A-9778-D2D3-DA3ED69FAAED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DF4723-D13F-FC4F-4B21-1049182C4390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24333D-5692-7330-9F83-740CE9103552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FB9307E-EF4B-D69B-69D0-BBAFD381F7FB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65C03-4CED-9ED4-B8A7-42A9FE219143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92A7CD-B4AF-9A0A-1AB2-B69952DFC058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2FB43E-75F2-A21F-D5B3-6A4B1A7E82C7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DB9DD4-68DA-0464-0407-2E1032B9F535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B568CA-668B-C479-2936-3F12CDC199CC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10858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A2F9FB-8007-7554-6B84-C12411FEF0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F081D-CD08-5BA9-0FDA-7B8236BF21D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A4E0B-2AEF-C3B1-A395-B7A5D6119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20B7A1-3776-F8C0-0A03-7D9DC7559CF1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07413A-C7EC-D9D6-640E-233C7F90787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B038FE-3F1D-BA37-C583-DEEE849E7ED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E40146-9C34-6843-FB6E-F5F767A5F47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499AA3-645A-7E14-A040-10FCB51FC17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3D846CE-9721-E496-1A71-FDAAD2AB0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90676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84117331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5241564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98024102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761374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92948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2032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674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4493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904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7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27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738C8D-9D75-D234-6E4D-36A4FF4625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E257A2-D8AE-2F7D-76D0-44CD2A0454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C5FBC-D9AF-F3A4-D422-B639315D5A2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D0838-C2E6-BFA7-3761-C9EC19ACBBB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1C03B2-EB9A-7032-6871-D0C98B0F794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78C0C2-BAEB-1AE0-E306-0B1366658D5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73D39E-ED56-D3AA-A4E6-D2E51D07741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718E64-E42E-2E8C-8867-1006B20B69C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AA0D4B0-92CF-4F52-58E1-E198F4FFF3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3F77507-E488-B708-5D2B-2E47B50519E3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217438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DD370A-546B-8BE6-768F-EF0BDFB0EB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9CB9E7-F80A-D0EF-E5B1-8A6DCBC08B6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F96BE6-6E65-E982-FEF7-6A3B1AFCC74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0B26B5-178C-7B7D-B23F-4716733CB4F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CE00AB-8C17-DAD3-30C8-BF9AE8654FC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17DB9F-717C-E245-F2AC-397F5BED2B9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5E0F8-C8C7-4126-8ECA-F727D544165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3C9D75-928A-24F6-1B7A-5D8ACA1D2DD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16AB0AF-42ED-1CE7-102C-0B4044010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43400"/>
              </p:ext>
            </p:extLst>
          </p:nvPr>
        </p:nvGraphicFramePr>
        <p:xfrm>
          <a:off x="571500" y="1651000"/>
          <a:ext cx="11049000" cy="425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161379681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84546315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605225220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55911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07438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60759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778817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0115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29400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94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6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198385-7374-9F94-798F-9D58B624C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48C32-120A-C85F-14CA-9200CBFEA454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E42070-3456-8C70-0322-0CAECCF224D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820109-B2B6-B2BB-A987-FCD2F254EA4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AFA50F-249F-0A05-970E-CDA5BB015BA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BB3698-4F4A-38E6-3E5F-2CDFAA04C13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D4C09C-3668-25A9-FA6A-AD8F5D3A208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E3534-46E7-A948-120D-42EF337172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1AB887-7657-B8FB-BAF9-57F6A6637DD5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1AE927-A7F0-C83D-4EB0-FAA8CBA4FFEF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F0E75-0299-EA45-F6AA-0091AAFC28FC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0491C6-6FAC-0F2E-596E-EA0305467B98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1A9BC7-39F2-EED7-C6B5-85AB17D2126A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5D0C6B-5EBE-71E7-8F63-9FFC1C4AF497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085F06-3CE7-BE5B-F045-4490DC5AA2C7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297755-35A7-E5F9-CF9D-273EB7C319AC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2D1312-F125-4097-ED64-111129612848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02A1C4E-2C31-2893-9DF7-D1A17436B569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A8EC3-7764-8DE6-6CEC-E39F3FCC8A62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5E5CBC-97A2-DB94-3FF1-186A57CAA74A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9FC14E-59D5-D41D-1B55-D1BCCE07FE63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144272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FEDFB2-7156-3179-77BA-A95EC656BE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3A74EC-11D8-EE75-A329-DF3240DA601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54898D-27F8-03CA-F641-C5523DEA7FC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16383-45DC-36DB-C898-C7EF2ADA1EEF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40E05-A0EB-4F7B-C151-10FECB94C1D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29701C-A565-B7CF-AED0-846CF1C9A3A8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8CB6BC-9A35-6ED7-69FA-F614A6B8253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66BF12-F421-A7C9-B620-72341E0ABEE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F34E74D-7538-D22A-D09A-769AE095A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14919"/>
              </p:ext>
            </p:extLst>
          </p:nvPr>
        </p:nvGraphicFramePr>
        <p:xfrm>
          <a:off x="1206500" y="1651000"/>
          <a:ext cx="9779000" cy="425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792029762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3493583931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82364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092598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9486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19843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2839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328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8752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6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A05693-04EB-1220-B147-72F624E4ED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CEF350-D426-F185-339A-D9F552767FA8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71F0B-A477-960D-1249-511E25C5F57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B5135C-8717-3CFD-30A9-BFB1E40C015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484842-CF2E-BEEA-CFC8-ADBE7983FA1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95133-537F-83A2-7B92-1FC91EF8BF54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7D5E2-25B3-6D85-1DE1-5AE89E3DA8B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3AA724-E568-74E2-DD14-E9207F3A808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CA07B-1C46-190D-3D38-D679C6CCA386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A9DE83-A1C5-A441-E39E-B874428158D2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599FD2-F831-6FF5-DD11-0A407B323675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755D46-E0B3-00D7-5E24-61263404F4ED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411ABB-D938-3589-AEFB-B9D6EC13B924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38667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1FB9DB-8EF7-95FD-1453-8FB7E47BC6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200CC-546C-DFDB-160E-711AC082853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2102D9-27C2-4C08-5A14-262CDC832D0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C0978-38A8-73A9-1850-E6F7C90C1BB4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97CC22-9F08-6897-FD95-B4293CF8FE9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F8C05-F837-1B39-79BF-6645610F29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087ABD-E441-0F4E-851D-E57F7BE830A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F898F3-4C08-37D3-C8D9-7D1E605AAC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C5260E-8236-B19C-5207-A0375A029CF0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D879BD-9315-142F-0B59-33426EECC0BD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9D376D-AFFD-1B48-4369-6357303B48C0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44450F-E8D0-B2AC-3E6D-135FD845623C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6266B6-6DF3-25FE-F8DF-EDFBD8770544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66564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555CF1-530C-48C6-0CC1-F7757AB24C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A0C98B-DD03-F35D-BA28-FD7E78650FC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165168-9659-018C-E9DD-F2155FF6C02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1C6355-E3C2-D818-5F7D-1F1905543D3A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37B67E-60C3-E5FF-FEE1-4C91FBA5670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79E91C-31E6-A5AA-733B-7CD61176DE7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9E500-F827-A49C-F93F-4AAD60C8017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E7EF88-CA3B-83E2-6541-D31FAF2E6B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FB497C-5990-796B-FBB7-B951868678A1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5A55B1-EEA7-7E63-CCE7-2B004944D07C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C26857-2D0C-FF41-C945-2FB16F17EF87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E000FB-F401-5DFD-625D-15DE238FB8B3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4CF6A6-9919-EA6B-8CF9-149D5BEFDBE9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871600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821C1F-41F9-8E0A-D2A0-9ECE4D3818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5AD5FD-A911-755F-32D9-BE2E4FAF29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DD8F2-190E-6A47-BC39-0E922D8A4A7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6CE413-5D3E-617E-0C39-2BF37DF61DF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69FEA-5A0D-2613-6F7D-25C1D89B73E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论文结果表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990A3C-AF18-936C-E166-1CEBBDD3409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A5AB3-072D-A16D-8F55-6BD5238DAED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论文里的最终结果表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115662-DBA1-F555-4495-ABEE473E1F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公式讲完后再看结果表，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的含义更清楚。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B3F73EB-431E-6905-39CA-28745BF64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62831"/>
              </p:ext>
            </p:extLst>
          </p:nvPr>
        </p:nvGraphicFramePr>
        <p:xfrm>
          <a:off x="698500" y="1714500"/>
          <a:ext cx="1079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26628937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88434859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43796058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1852587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15944114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IoU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838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0.7755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0.6708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0.8344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9403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0.6722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0.7640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0.8542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7403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概率级融合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0.6851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0.7831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0.8482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34616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0.7894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2939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0.6792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0.7948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6832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多专家门控（最终）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0.6893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0.7988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0.8303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9211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Oracle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0.8129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4873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C51C1F6-6F6C-9D96-5C57-84DD936BB046}"/>
              </a:ext>
            </a:extLst>
          </p:cNvPr>
          <p:cNvSpPr txBox="1"/>
          <p:nvPr/>
        </p:nvSpPr>
        <p:spPr>
          <a:xfrm>
            <a:off x="889000" y="58166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写论文和答辩时：最终可部署结果写 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多专家门控；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只作为专家池潜力分析，不当作真实部署成绩。</a:t>
            </a:r>
          </a:p>
        </p:txBody>
      </p:sp>
    </p:spTree>
    <p:extLst>
      <p:ext uri="{BB962C8B-B14F-4D97-AF65-F5344CB8AC3E}">
        <p14:creationId xmlns:p14="http://schemas.microsoft.com/office/powerpoint/2010/main" val="97518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B1D066-F85F-6E93-92EA-F5EB7BBAB2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996CEA-1F0F-0175-6DD7-0531A5613B2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0E3A63-15E1-B82E-E524-0693F4563A6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CFFB3-C5A9-0F8B-354D-AB286D10B7B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C3613-C71D-F84F-5639-CF3370B8311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0ACB25-D07B-E9EE-B676-A8EB1F2F63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5B74DD-6AD7-6EAD-0077-CC657037B52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13892-5F8F-B917-4CCC-B4DD0EACE3B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BDD98D-E235-0E3E-8DC2-52E30125B6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EEC092-C210-DB86-E60C-D8F06C84AB93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56BB8B-00B9-863C-EF72-63087183E116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8F2884-377D-DF6C-D95F-07AF0674D285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B52364-8F6E-63D0-4502-BABD2B84DE5A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F6C3D05-5D26-E7E1-137E-552532A99E9D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6C4885-FB0E-AF59-587E-126E3F62A377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9F1C8A-5190-3B80-7810-19C55F15BC32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A439A5-E097-9BE1-EB21-BA86827D425E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840A3E-1BDA-8DD7-9880-6E9F447F9193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B5FA4-D2CB-639A-DC9F-C65CEB1F5364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97B33F-D5D6-0091-92BB-B2175FEDCD91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77F1EB-7C59-7491-BFDA-898C06822C21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2811570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1A5C0B-F4DB-9E43-EDC1-E92A585C2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2D5BB2-D4A8-4750-B0DD-ECF0861F358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7722F-826E-FADF-2868-CD429EE6DC2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FF0C9-4856-6503-A9D6-CF62D4BDE67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97B24D-5B82-49DE-C40E-834D470E37D0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CF6644-C5EE-C443-1577-D344C71AA6C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EAC8B-D021-B967-04D3-9C348E599AB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0A8208-338D-09AD-9846-70BE6D47CDD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6DC9CF-4DF7-BB1A-78D1-15CBA07AC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63911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851124432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222199977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497198690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50970534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4000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5571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32914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4710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643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2998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10D50A7-EA9F-42F2-71F2-AE020924A45C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257188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FA03CB-534C-623B-2D81-B984E3811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96FA44-CB22-A36C-3D1E-E96CDD76335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F96931-A96A-A5CA-1870-06A9798DAED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8AE8CA-410F-083E-C4AD-0D39057ABE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F08F1B-6612-BD22-2CA4-D8ECEF7298E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AB61D-7C5C-66D4-53B8-086FAAA1CBA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F22ECD-9F01-1DFB-A49C-2FB3BAC6444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样本：预测和真值基本重合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9754F-5D68-EB15-F8A5-F2E884BC1CA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重点看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，判断模型是否真正覆盖病灶。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930952-AE5A-59C0-9186-3FC288D9D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AA51D7E-45BB-0602-F9CA-25A46CEB3B81}"/>
              </a:ext>
            </a:extLst>
          </p:cNvPr>
          <p:cNvSpPr txBox="1"/>
          <p:nvPr/>
        </p:nvSpPr>
        <p:spPr>
          <a:xfrm>
            <a:off x="736600" y="4953000"/>
            <a:ext cx="15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颜色含义：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F00F61-66D1-2FE4-5C77-BCDAB85F8C1D}"/>
              </a:ext>
            </a:extLst>
          </p:cNvPr>
          <p:cNvSpPr/>
          <p:nvPr/>
        </p:nvSpPr>
        <p:spPr>
          <a:xfrm>
            <a:off x="762000" y="5384800"/>
            <a:ext cx="203200" cy="203200"/>
          </a:xfrm>
          <a:prstGeom prst="rect">
            <a:avLst/>
          </a:prstGeom>
          <a:solidFill>
            <a:srgbClr val="EF444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F2302B-1E28-0CA6-F0CD-519831687A2B}"/>
              </a:ext>
            </a:extLst>
          </p:cNvPr>
          <p:cNvSpPr txBox="1"/>
          <p:nvPr/>
        </p:nvSpPr>
        <p:spPr>
          <a:xfrm>
            <a:off x="105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红色填充：预测感染区域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E9BD64-1E30-2BF4-EC47-3DE1426A8584}"/>
              </a:ext>
            </a:extLst>
          </p:cNvPr>
          <p:cNvSpPr/>
          <p:nvPr/>
        </p:nvSpPr>
        <p:spPr>
          <a:xfrm>
            <a:off x="4572000" y="5384800"/>
            <a:ext cx="203200" cy="203200"/>
          </a:xfrm>
          <a:prstGeom prst="rect">
            <a:avLst/>
          </a:prstGeom>
          <a:solidFill>
            <a:srgbClr val="EAB30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47BD84-C17A-3B9C-8FDA-AF7352344D53}"/>
              </a:ext>
            </a:extLst>
          </p:cNvPr>
          <p:cNvSpPr txBox="1"/>
          <p:nvPr/>
        </p:nvSpPr>
        <p:spPr>
          <a:xfrm>
            <a:off x="486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黄色轮廓：真实标注 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8A6668-3194-3B43-CB5E-BA691250EBE1}"/>
              </a:ext>
            </a:extLst>
          </p:cNvPr>
          <p:cNvSpPr/>
          <p:nvPr/>
        </p:nvSpPr>
        <p:spPr>
          <a:xfrm>
            <a:off x="8382000" y="5384800"/>
            <a:ext cx="203200" cy="203200"/>
          </a:xfrm>
          <a:prstGeom prst="rect">
            <a:avLst/>
          </a:prstGeom>
          <a:solidFill>
            <a:srgbClr val="06B6D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9837B5-5E15-F81D-AA9D-FCBDF5BD9073}"/>
              </a:ext>
            </a:extLst>
          </p:cNvPr>
          <p:cNvSpPr txBox="1"/>
          <p:nvPr/>
        </p:nvSpPr>
        <p:spPr>
          <a:xfrm>
            <a:off x="867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青色轮廓：预测边界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C06F99-2753-D624-1BEF-56E753829F38}"/>
              </a:ext>
            </a:extLst>
          </p:cNvPr>
          <p:cNvSpPr/>
          <p:nvPr/>
        </p:nvSpPr>
        <p:spPr>
          <a:xfrm>
            <a:off x="762000" y="5842000"/>
            <a:ext cx="203200" cy="203200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E2382C-8EE5-B344-9EF7-8F49E57705FC}"/>
              </a:ext>
            </a:extLst>
          </p:cNvPr>
          <p:cNvSpPr txBox="1"/>
          <p:nvPr/>
        </p:nvSpPr>
        <p:spPr>
          <a:xfrm>
            <a:off x="105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，预测正确重叠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979863-7B67-4582-D8E6-32863460F68A}"/>
              </a:ext>
            </a:extLst>
          </p:cNvPr>
          <p:cNvSpPr/>
          <p:nvPr/>
        </p:nvSpPr>
        <p:spPr>
          <a:xfrm>
            <a:off x="4572000" y="5842000"/>
            <a:ext cx="203200" cy="203200"/>
          </a:xfrm>
          <a:prstGeom prst="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A3CA67-385D-A419-9687-74FDFD6EAFD6}"/>
              </a:ext>
            </a:extLst>
          </p:cNvPr>
          <p:cNvSpPr txBox="1"/>
          <p:nvPr/>
        </p:nvSpPr>
        <p:spPr>
          <a:xfrm>
            <a:off x="486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绿色：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，真实有但漏检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10E207-78E0-6E5F-CBAD-78F42261728B}"/>
              </a:ext>
            </a:extLst>
          </p:cNvPr>
          <p:cNvSpPr/>
          <p:nvPr/>
        </p:nvSpPr>
        <p:spPr>
          <a:xfrm>
            <a:off x="8382000" y="5842000"/>
            <a:ext cx="203200" cy="20320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DF5AA1-C8B3-0E56-8AF2-394FA065E4DB}"/>
              </a:ext>
            </a:extLst>
          </p:cNvPr>
          <p:cNvSpPr txBox="1"/>
          <p:nvPr/>
        </p:nvSpPr>
        <p:spPr>
          <a:xfrm>
            <a:off x="867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蓝色：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，模型误检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9E196C-37F7-5DA2-C9F1-D68785F747FA}"/>
              </a:ext>
            </a:extLst>
          </p:cNvPr>
          <p:cNvSpPr txBox="1"/>
          <p:nvPr/>
        </p:nvSpPr>
        <p:spPr>
          <a:xfrm>
            <a:off x="952500" y="63754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的图像通常红色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占主导，黄色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边界和青色预测边界贴合，说明模型定位和形状都比较准确。</a:t>
            </a:r>
          </a:p>
        </p:txBody>
      </p:sp>
    </p:spTree>
    <p:extLst>
      <p:ext uri="{BB962C8B-B14F-4D97-AF65-F5344CB8AC3E}">
        <p14:creationId xmlns:p14="http://schemas.microsoft.com/office/powerpoint/2010/main" val="259700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19943F-CCE6-27CF-BFCF-81BAECAFE4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D02685-741A-3914-073B-5087A8AEA0A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A12B2F-9249-74B9-39B1-C8120505F89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A3D855-3B36-7EBF-D4C4-265E5E101F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266639-7D04-8844-BAA1-FF9715D2C8E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2E79AD-BED2-8C64-0801-B87F874982C2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63C269-A1C7-13D1-303B-FF87BD506DC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样本：看漏检、误检和边界错位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83A949-47CF-A32E-7C9A-56AFB847B32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低分样本是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专家池和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的主要优化对象。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167385-7B2D-1BB4-2FB5-E5C375C360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DD6BF3-B706-77AB-C8DD-05CC469E9301}"/>
              </a:ext>
            </a:extLst>
          </p:cNvPr>
          <p:cNvSpPr/>
          <p:nvPr/>
        </p:nvSpPr>
        <p:spPr>
          <a:xfrm>
            <a:off x="889000" y="4978400"/>
            <a:ext cx="3175000" cy="9906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09C340-4035-146F-7A04-120FA1DB9503}"/>
              </a:ext>
            </a:extLst>
          </p:cNvPr>
          <p:cNvSpPr txBox="1"/>
          <p:nvPr/>
        </p:nvSpPr>
        <p:spPr>
          <a:xfrm>
            <a:off x="1066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绿色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20B276-D655-8E8C-B0F3-119106BEF07A}"/>
              </a:ext>
            </a:extLst>
          </p:cNvPr>
          <p:cNvSpPr txBox="1"/>
          <p:nvPr/>
        </p:nvSpPr>
        <p:spPr>
          <a:xfrm>
            <a:off x="10668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真实有感染但模型没分出来，说明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/ actual_fn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87965C-ACF9-BCC9-D5E3-50FEE5BD5D58}"/>
              </a:ext>
            </a:extLst>
          </p:cNvPr>
          <p:cNvSpPr/>
          <p:nvPr/>
        </p:nvSpPr>
        <p:spPr>
          <a:xfrm>
            <a:off x="4508500" y="4978400"/>
            <a:ext cx="3175000" cy="990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6D7C63-F2C8-7E99-0A62-DD65555CB1A3}"/>
              </a:ext>
            </a:extLst>
          </p:cNvPr>
          <p:cNvSpPr txBox="1"/>
          <p:nvPr/>
        </p:nvSpPr>
        <p:spPr>
          <a:xfrm>
            <a:off x="46863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蓝色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BF5A4A-FE25-9224-3AF3-A49D0DB4B960}"/>
              </a:ext>
            </a:extLst>
          </p:cNvPr>
          <p:cNvSpPr txBox="1"/>
          <p:nvPr/>
        </p:nvSpPr>
        <p:spPr>
          <a:xfrm>
            <a:off x="46863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模型把背景误分为感染，说明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/ actual_fp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C0F72B4-EF84-FBD2-9DC8-FD98F7BE321A}"/>
              </a:ext>
            </a:extLst>
          </p:cNvPr>
          <p:cNvSpPr/>
          <p:nvPr/>
        </p:nvSpPr>
        <p:spPr>
          <a:xfrm>
            <a:off x="8128000" y="4978400"/>
            <a:ext cx="3175000" cy="990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3DF564-94DD-0651-6200-32F2C655C180}"/>
              </a:ext>
            </a:extLst>
          </p:cNvPr>
          <p:cNvSpPr txBox="1"/>
          <p:nvPr/>
        </p:nvSpPr>
        <p:spPr>
          <a:xfrm>
            <a:off x="8305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轮廓整体错位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B85805-2555-E23B-7A72-0001D6FD4352}"/>
              </a:ext>
            </a:extLst>
          </p:cNvPr>
          <p:cNvSpPr txBox="1"/>
          <p:nvPr/>
        </p:nvSpPr>
        <p:spPr>
          <a:xfrm>
            <a:off x="8305800" y="5549900"/>
            <a:ext cx="2819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位置大体接近但边界偏移时，优先保留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basev18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或使用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类专家。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22F1D7-B43F-0D6C-EA60-33A81C5E3836}"/>
              </a:ext>
            </a:extLst>
          </p:cNvPr>
          <p:cNvSpPr txBox="1"/>
          <p:nvPr/>
        </p:nvSpPr>
        <p:spPr>
          <a:xfrm>
            <a:off x="952500" y="62484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颜色直接对应错误来源：红色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是对的，绿色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是漏检，蓝色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是误检；最终门控就是按这些错误类型选择专家。</a:t>
            </a:r>
          </a:p>
        </p:txBody>
      </p:sp>
    </p:spTree>
    <p:extLst>
      <p:ext uri="{BB962C8B-B14F-4D97-AF65-F5344CB8AC3E}">
        <p14:creationId xmlns:p14="http://schemas.microsoft.com/office/powerpoint/2010/main" val="1014471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C7B1CF-C72A-E2B1-7B73-995831E791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8A3440-C6E0-58CF-C5EA-4F70C3E302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345114-F9F3-E4F7-9A7E-32E819DCB9C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662E9E-6F4A-2630-6B41-960F2FE0406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3D194-D63F-FE78-AC85-5B9FB532B78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A42088-3D3D-9983-70E0-783A5306EA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2C5D19-4CFE-6D7E-4F39-602F3D21446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8BD4E-74C7-93EC-A0D6-A922F6CF70F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422AE2-CB42-AF39-CB64-A19E71DE6F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B0276E-1CD9-746F-719D-B67CDF65B317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18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C3AE2E-F768-AD20-8A55-5F201D043A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B64672-9691-B746-539A-EFD522275F7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85BC9-42AB-DA30-3FDF-86D03099B0F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5976C-D4A7-753A-F917-41F4D90E03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2AD6ED-EDFC-4081-E718-66EDB441A51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65279E-85D9-BE4F-CDAB-46A8A07522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BB1479-C2D4-6C69-F323-E2D35BEA86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001FFD-296B-B7E9-4FB0-DA9C2E1E591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07F6DD3-E964-08F9-42EE-748EE6F08C9D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D461A8-E3A3-3372-A384-D9191E9BCDDE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22F485-7CCA-4B5F-D02D-1040F897CC76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A71DBA8-FEA9-4F64-2E34-B11592F04368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050E4D-343E-018E-1E93-E9D09BD05DBC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2ABC43-B431-1333-EDC3-85156F0356A7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F366831-2E3E-FFCC-6A13-1B172ED715FE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1193E-0E21-9A2D-9C2E-12273D0773DB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46871D-C336-5631-F7D3-D414A1FDC69E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4EAAD2-20C1-BD20-B9A9-72C3B8F9B01B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065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79FC82-2DFA-FE84-BCCA-EBA00F9171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CEC5-C27C-4284-FBF1-4C51D16A287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8EE62D-2E0A-D34C-89B3-E91CF6C42968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F5ECDE-330C-81DB-17A0-9FF038F5BBE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5C1B04-1F32-CC40-2D43-A30E498C40C3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代码展示总览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809321-8B02-07E8-3B4F-9987B5FC56E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EDC1F1-BA95-23F1-C240-0E97797CFE87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答辩时先讲代码怎么串起来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99C1A-65BD-4288-1532-250AF58E0FCE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按请求入口、模型加载、模型前向、门控选择、结果返回五步讲，不陷入细枝末节。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930AAC-6516-9386-E1F6-1883C85F5E7C}"/>
              </a:ext>
            </a:extLst>
          </p:cNvPr>
          <p:cNvSpPr/>
          <p:nvPr/>
        </p:nvSpPr>
        <p:spPr>
          <a:xfrm>
            <a:off x="571500" y="1968500"/>
            <a:ext cx="1905000" cy="120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E56B1E-A353-1F7A-AF81-4B8E4C669701}"/>
              </a:ext>
            </a:extLst>
          </p:cNvPr>
          <p:cNvSpPr txBox="1"/>
          <p:nvPr/>
        </p:nvSpPr>
        <p:spPr>
          <a:xfrm>
            <a:off x="723900" y="2095500"/>
            <a:ext cx="160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1. Web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0226C3-31BF-9D43-6311-D107A1105E73}"/>
              </a:ext>
            </a:extLst>
          </p:cNvPr>
          <p:cNvSpPr txBox="1"/>
          <p:nvPr/>
        </p:nvSpPr>
        <p:spPr>
          <a:xfrm>
            <a:off x="723900" y="2451100"/>
            <a:ext cx="1600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app_v12_web.py
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接收上传图片和参数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AB41D70-3C64-13B4-632D-953E2BA2847F}"/>
              </a:ext>
            </a:extLst>
          </p:cNvPr>
          <p:cNvSpPr/>
          <p:nvPr/>
        </p:nvSpPr>
        <p:spPr>
          <a:xfrm>
            <a:off x="2857500" y="1968500"/>
            <a:ext cx="1905000" cy="120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FFCAAC-CBB1-7CA4-4764-93DE9DADAF58}"/>
              </a:ext>
            </a:extLst>
          </p:cNvPr>
          <p:cNvSpPr txBox="1"/>
          <p:nvPr/>
        </p:nvSpPr>
        <p:spPr>
          <a:xfrm>
            <a:off x="3009900" y="2095500"/>
            <a:ext cx="160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推理封装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463E86-169E-B63B-B769-1EA1100B3FB4}"/>
              </a:ext>
            </a:extLst>
          </p:cNvPr>
          <p:cNvSpPr txBox="1"/>
          <p:nvPr/>
        </p:nvSpPr>
        <p:spPr>
          <a:xfrm>
            <a:off x="3009900" y="2451100"/>
            <a:ext cx="160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src/v12_predictor.py
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读图、归一化、调用模型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387B5C-85EE-6D41-3D62-D85BD598FE2B}"/>
              </a:ext>
            </a:extLst>
          </p:cNvPr>
          <p:cNvSpPr/>
          <p:nvPr/>
        </p:nvSpPr>
        <p:spPr>
          <a:xfrm>
            <a:off x="5143500" y="1968500"/>
            <a:ext cx="1905000" cy="120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9E9F6D-D3B2-C8AB-E33D-A62A67E8B11B}"/>
              </a:ext>
            </a:extLst>
          </p:cNvPr>
          <p:cNvSpPr txBox="1"/>
          <p:nvPr/>
        </p:nvSpPr>
        <p:spPr>
          <a:xfrm>
            <a:off x="5295900" y="2095500"/>
            <a:ext cx="160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模型构建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0843A7-959D-E205-8FA3-C8FACC67001E}"/>
              </a:ext>
            </a:extLst>
          </p:cNvPr>
          <p:cNvSpPr txBox="1"/>
          <p:nvPr/>
        </p:nvSpPr>
        <p:spPr>
          <a:xfrm>
            <a:off x="5295900" y="2451100"/>
            <a:ext cx="160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model_factory.py
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按名称创建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LowDice</a:t>
            </a:r>
            <a:endParaRPr lang="zh-CN" altLang="en-US" sz="105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A72600-1A2C-8500-46A2-121A5AEF5F31}"/>
              </a:ext>
            </a:extLst>
          </p:cNvPr>
          <p:cNvSpPr/>
          <p:nvPr/>
        </p:nvSpPr>
        <p:spPr>
          <a:xfrm>
            <a:off x="7429500" y="1968500"/>
            <a:ext cx="1905000" cy="1206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17EDB7-7A5E-2822-CC7E-6933587C12B3}"/>
              </a:ext>
            </a:extLst>
          </p:cNvPr>
          <p:cNvSpPr txBox="1"/>
          <p:nvPr/>
        </p:nvSpPr>
        <p:spPr>
          <a:xfrm>
            <a:off x="7581900" y="2095500"/>
            <a:ext cx="160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门控选择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694D8E-A988-86E7-0800-FA3C0B6FB302}"/>
              </a:ext>
            </a:extLst>
          </p:cNvPr>
          <p:cNvSpPr txBox="1"/>
          <p:nvPr/>
        </p:nvSpPr>
        <p:spPr>
          <a:xfrm>
            <a:off x="7581900" y="2451100"/>
            <a:ext cx="160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eval_lowdice_expert_gate.py
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按错误类型选专家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E8E205-0C05-86FF-136C-2EF3AD7AEE2B}"/>
              </a:ext>
            </a:extLst>
          </p:cNvPr>
          <p:cNvSpPr/>
          <p:nvPr/>
        </p:nvSpPr>
        <p:spPr>
          <a:xfrm>
            <a:off x="9715500" y="1968500"/>
            <a:ext cx="1905000" cy="1206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B7904D-C20B-58E6-1FC8-C8D1D409A3FA}"/>
              </a:ext>
            </a:extLst>
          </p:cNvPr>
          <p:cNvSpPr txBox="1"/>
          <p:nvPr/>
        </p:nvSpPr>
        <p:spPr>
          <a:xfrm>
            <a:off x="9867900" y="2095500"/>
            <a:ext cx="160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可视化返回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A28EA8-566A-8DA8-716E-B717761AF7C3}"/>
              </a:ext>
            </a:extLst>
          </p:cNvPr>
          <p:cNvSpPr txBox="1"/>
          <p:nvPr/>
        </p:nvSpPr>
        <p:spPr>
          <a:xfrm>
            <a:off x="9867900" y="2451100"/>
            <a:ext cx="160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metrics
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返回网页展示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939F60A-5311-1C9E-9F36-B8FDE095A61F}"/>
              </a:ext>
            </a:extLst>
          </p:cNvPr>
          <p:cNvCxnSpPr/>
          <p:nvPr/>
        </p:nvCxnSpPr>
        <p:spPr>
          <a:xfrm>
            <a:off x="2476500" y="25654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6BD1BD5-EE44-57FE-DFBD-B3EBCB91ECD5}"/>
              </a:ext>
            </a:extLst>
          </p:cNvPr>
          <p:cNvCxnSpPr/>
          <p:nvPr/>
        </p:nvCxnSpPr>
        <p:spPr>
          <a:xfrm>
            <a:off x="4762500" y="25654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36D6DFF-799E-EA2E-6C45-1B23FEBBED0B}"/>
              </a:ext>
            </a:extLst>
          </p:cNvPr>
          <p:cNvCxnSpPr/>
          <p:nvPr/>
        </p:nvCxnSpPr>
        <p:spPr>
          <a:xfrm>
            <a:off x="7048500" y="25654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77B8397-51D3-65F4-A825-BA3C853CF7B1}"/>
              </a:ext>
            </a:extLst>
          </p:cNvPr>
          <p:cNvCxnSpPr/>
          <p:nvPr/>
        </p:nvCxnSpPr>
        <p:spPr>
          <a:xfrm>
            <a:off x="9334500" y="25654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E7D9752-A966-8EAB-DFB8-6D6E8D482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42667"/>
              </p:ext>
            </p:extLst>
          </p:nvPr>
        </p:nvGraphicFramePr>
        <p:xfrm>
          <a:off x="1143000" y="3810000"/>
          <a:ext cx="990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92224556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0016906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答辩说法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重点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4570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不是只贴代码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说明系统从上传到输出的完整链路。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5148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不是平均融合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最终策略是错误类型感知的多专家门控。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8974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不是单模型硬堆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提供稳定基线，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专家处理困难样本。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593342"/>
                  </a:ext>
                </a:extLst>
              </a:tr>
            </a:tbl>
          </a:graphicData>
        </a:graphic>
      </p:graphicFrame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09F3163-476A-AC61-9AE0-3C5FE6E0DFBA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915C1F5-3D27-5960-80C7-12CD29E4F7A4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讲法：先用这一页把评委带到主线，后面每页只讲一个关键代码点。</a:t>
            </a:r>
          </a:p>
        </p:txBody>
      </p:sp>
    </p:spTree>
    <p:extLst>
      <p:ext uri="{BB962C8B-B14F-4D97-AF65-F5344CB8AC3E}">
        <p14:creationId xmlns:p14="http://schemas.microsoft.com/office/powerpoint/2010/main" val="1777727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FAD9E7-41BD-B12C-0F20-9065B9433D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4A171B-C757-7FB5-8546-0D35ACCB287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3366FD-67ED-DC7F-16DD-F43F65ECC3D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D344A8-4317-0599-F289-10AED567B46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0ED7BC-A114-B4D2-E41D-BF62BEFAAFC1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195A9E-E9E3-29A5-51F9-9D9A38F64E1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C417C4-7A31-88BB-6B41-C818FF2FDE76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基线模型：稳定分割主干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BD0069-DA8F-36DD-5630-A4D3550CE1ED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负责大多数常规样本，是后续专家门控的基准和回退输出。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697888-AC51-F62A-4023-54335A5C5BF5}"/>
              </a:ext>
            </a:extLst>
          </p:cNvPr>
          <p:cNvSpPr/>
          <p:nvPr/>
        </p:nvSpPr>
        <p:spPr>
          <a:xfrm>
            <a:off x="533400" y="1803400"/>
            <a:ext cx="7112000" cy="3302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890C14-1FAE-918A-930C-3C4C5A2F9699}"/>
              </a:ext>
            </a:extLst>
          </p:cNvPr>
          <p:cNvSpPr txBox="1"/>
          <p:nvPr/>
        </p:nvSpPr>
        <p:spPr>
          <a:xfrm>
            <a:off x="685800" y="1930400"/>
            <a:ext cx="68072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prior_feat, prior_logits = self.prior_branch(x)
s1 = self.adapter1(self.enc1(x), prior_feat, prior_logits)
s2 = self.adapter2(self.enc2(down(s1)), prior_feat, prior_logits)
s3 = self.adapter3(self.enc3(down(s2)), prior_feat, prior_logits)
s4 = self.adapter4(self.enc4(down(s3)), prior_feat, prior_logits)
tokens = self.transformer(flatten(down(s4)), h, w)
d1 = decode_with_spatial_gates(tokens, [s4, s3, s2, s1])
seg = coarse_out(d1) + refine(d1, coarse_out(d1))
return {"seg": seg, "prior": prior_logits, "boundary": boundary_head(d1)}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376E4A0-E176-4BD2-CD3D-03B84C25FC53}"/>
              </a:ext>
            </a:extLst>
          </p:cNvPr>
          <p:cNvSpPr/>
          <p:nvPr/>
        </p:nvSpPr>
        <p:spPr>
          <a:xfrm>
            <a:off x="8001000" y="1841500"/>
            <a:ext cx="3302000" cy="8128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BDDECA-AEF1-E987-7F58-9DB36B210103}"/>
              </a:ext>
            </a:extLst>
          </p:cNvPr>
          <p:cNvSpPr txBox="1"/>
          <p:nvPr/>
        </p:nvSpPr>
        <p:spPr>
          <a:xfrm>
            <a:off x="8153400" y="19685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prior_branch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DC7AF8-BC91-2B93-3559-DB959575F252}"/>
              </a:ext>
            </a:extLst>
          </p:cNvPr>
          <p:cNvSpPr txBox="1"/>
          <p:nvPr/>
        </p:nvSpPr>
        <p:spPr>
          <a:xfrm>
            <a:off x="8153400" y="23241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从灰度、低频、高频、边缘和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Laplace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响应中提取病灶先验。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706924-8CF1-2922-02EF-0706D99C8D3E}"/>
              </a:ext>
            </a:extLst>
          </p:cNvPr>
          <p:cNvSpPr/>
          <p:nvPr/>
        </p:nvSpPr>
        <p:spPr>
          <a:xfrm>
            <a:off x="8001000" y="2819400"/>
            <a:ext cx="3302000" cy="8128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EAE745-3567-128E-21AE-4578DE075CCE}"/>
              </a:ext>
            </a:extLst>
          </p:cNvPr>
          <p:cNvSpPr txBox="1"/>
          <p:nvPr/>
        </p:nvSpPr>
        <p:spPr>
          <a:xfrm>
            <a:off x="8153400" y="29464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adapter1-4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A9DFD7-F650-B8BC-D2B5-4C94BDF19B0E}"/>
              </a:ext>
            </a:extLst>
          </p:cNvPr>
          <p:cNvSpPr txBox="1"/>
          <p:nvPr/>
        </p:nvSpPr>
        <p:spPr>
          <a:xfrm>
            <a:off x="8153400" y="33020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把先验注入不同尺度特征，增强模型对病灶边界和纹理的关注。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204A1A-92A5-05C1-E8B9-E8C42166BA50}"/>
              </a:ext>
            </a:extLst>
          </p:cNvPr>
          <p:cNvSpPr/>
          <p:nvPr/>
        </p:nvSpPr>
        <p:spPr>
          <a:xfrm>
            <a:off x="8001000" y="3797300"/>
            <a:ext cx="3302000" cy="812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3A5C8D-7028-220C-634A-6C9C171F5977}"/>
              </a:ext>
            </a:extLst>
          </p:cNvPr>
          <p:cNvSpPr txBox="1"/>
          <p:nvPr/>
        </p:nvSpPr>
        <p:spPr>
          <a:xfrm>
            <a:off x="8153400" y="39243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transformer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51CB12-F444-809C-816F-AAD4D998BD1F}"/>
              </a:ext>
            </a:extLst>
          </p:cNvPr>
          <p:cNvSpPr txBox="1"/>
          <p:nvPr/>
        </p:nvSpPr>
        <p:spPr>
          <a:xfrm>
            <a:off x="8153400" y="42799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在瓶颈层建模全局上下文，补足卷积局部感受野不足。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9900C79-D3A6-333B-972E-1156867482BD}"/>
              </a:ext>
            </a:extLst>
          </p:cNvPr>
          <p:cNvSpPr/>
          <p:nvPr/>
        </p:nvSpPr>
        <p:spPr>
          <a:xfrm>
            <a:off x="8001000" y="4775200"/>
            <a:ext cx="3302000" cy="8128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D2C4E0-7487-9F22-908F-A841BAD297A4}"/>
              </a:ext>
            </a:extLst>
          </p:cNvPr>
          <p:cNvSpPr txBox="1"/>
          <p:nvPr/>
        </p:nvSpPr>
        <p:spPr>
          <a:xfrm>
            <a:off x="8153400" y="49022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输出字典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0259B7-CF6C-22F5-BAD4-6DF2FBEB1E53}"/>
              </a:ext>
            </a:extLst>
          </p:cNvPr>
          <p:cNvSpPr txBox="1"/>
          <p:nvPr/>
        </p:nvSpPr>
        <p:spPr>
          <a:xfrm>
            <a:off x="8153400" y="52578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seg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是分割结果，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prior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是先验监督，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是边界辅助输出。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90C1678-81C2-3F34-5E75-5F9E03689490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A0741F-6E13-21A9-6F5B-68B46297E26A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讲法：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的创新点是频域先验残差注入，但最终策略不是只靠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，而是把它作为稳定基线。</a:t>
            </a:r>
          </a:p>
        </p:txBody>
      </p:sp>
    </p:spTree>
    <p:extLst>
      <p:ext uri="{BB962C8B-B14F-4D97-AF65-F5344CB8AC3E}">
        <p14:creationId xmlns:p14="http://schemas.microsoft.com/office/powerpoint/2010/main" val="1268450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E7C8A2-DB31-FAC0-DDAA-DB050CA11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28F50-AFD3-EA21-E74A-011DA29EF33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B46C79-F941-F33C-55ED-06F8FDD3E2D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7E53DC-782F-1DAA-06F2-82A49674E9FA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49A167-9E93-666C-37D4-246EA507359A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426CAA-2962-4191-FB90-CC640ACC8FE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3CEDCE-C215-8AB2-4CD0-FFE74C432A2A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专家：专门处理困难样本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E85410-4E2F-BA57-9767-38DA5B53A38C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低分样本通常是小病灶、低对比度、边界错位或大面积漏检。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503B89-0C18-DFBB-CF09-E7E49D167E57}"/>
              </a:ext>
            </a:extLst>
          </p:cNvPr>
          <p:cNvSpPr/>
          <p:nvPr/>
        </p:nvSpPr>
        <p:spPr>
          <a:xfrm>
            <a:off x="533400" y="1803400"/>
            <a:ext cx="7112000" cy="3810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30D90A-7D34-E0D2-13EC-63AD69DA2CEC}"/>
              </a:ext>
            </a:extLst>
          </p:cNvPr>
          <p:cNvSpPr txBox="1"/>
          <p:nvPr/>
        </p:nvSpPr>
        <p:spPr>
          <a:xfrm>
            <a:off x="685800" y="1930400"/>
            <a:ext cx="6807200" cy="16158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gray = x[:, :1]
low  = avg_pool(gray, kernel=9)
high = abs(gray - low)
edge = sqrt(sobel_x(gray)^2 + sobel_y(gray)^2)
lap  = abs(laplace(gray))
xx, yy = normalized_coord(gray.shape)
prior = concat([gray, low, high, edge, lap, xx, yy])
feat = self.encoder(self.stem(concat([x, prior])))
feat = self.aspp(feat)
d1 = self.local_refine(concat([self.decoder(feat), prior]))
return {"seg": self.seg_head(d1)}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B4AC94-D096-BF9C-8EB6-DA2321507EBE}"/>
              </a:ext>
            </a:extLst>
          </p:cNvPr>
          <p:cNvSpPr/>
          <p:nvPr/>
        </p:nvSpPr>
        <p:spPr>
          <a:xfrm>
            <a:off x="8001000" y="1841500"/>
            <a:ext cx="3302000" cy="736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69389B-9855-1D84-3D54-AFA8B0A3FA02}"/>
              </a:ext>
            </a:extLst>
          </p:cNvPr>
          <p:cNvSpPr txBox="1"/>
          <p:nvPr/>
        </p:nvSpPr>
        <p:spPr>
          <a:xfrm>
            <a:off x="8153400" y="19685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low / high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7626E-EC9B-1F79-6372-BC029681D2EC}"/>
              </a:ext>
            </a:extLst>
          </p:cNvPr>
          <p:cNvSpPr txBox="1"/>
          <p:nvPr/>
        </p:nvSpPr>
        <p:spPr>
          <a:xfrm>
            <a:off x="8153400" y="23241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low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表示整体亮度趋势，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high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表示局部纹理差异。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AF58FA3-CD7D-BC2E-7F01-6C3F14EF8DC4}"/>
              </a:ext>
            </a:extLst>
          </p:cNvPr>
          <p:cNvSpPr/>
          <p:nvPr/>
        </p:nvSpPr>
        <p:spPr>
          <a:xfrm>
            <a:off x="8001000" y="2717800"/>
            <a:ext cx="3302000" cy="7366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41DE4C-354A-87A1-AD89-2F954C41D83F}"/>
              </a:ext>
            </a:extLst>
          </p:cNvPr>
          <p:cNvSpPr txBox="1"/>
          <p:nvPr/>
        </p:nvSpPr>
        <p:spPr>
          <a:xfrm>
            <a:off x="8153400" y="28448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edge / lap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9CCB38-5584-C2D6-116A-AACE67236C01}"/>
              </a:ext>
            </a:extLst>
          </p:cNvPr>
          <p:cNvSpPr txBox="1"/>
          <p:nvPr/>
        </p:nvSpPr>
        <p:spPr>
          <a:xfrm>
            <a:off x="8153400" y="32004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Sobel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Laplace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强化边界信息，减少边缘错位。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E80722-B382-7271-C85C-D87DDF27FE43}"/>
              </a:ext>
            </a:extLst>
          </p:cNvPr>
          <p:cNvSpPr/>
          <p:nvPr/>
        </p:nvSpPr>
        <p:spPr>
          <a:xfrm>
            <a:off x="8001000" y="3594100"/>
            <a:ext cx="3302000" cy="736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756E450-B6E5-B1DD-54E6-1A88AC780552}"/>
              </a:ext>
            </a:extLst>
          </p:cNvPr>
          <p:cNvSpPr txBox="1"/>
          <p:nvPr/>
        </p:nvSpPr>
        <p:spPr>
          <a:xfrm>
            <a:off x="8153400" y="37211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xx / yy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6770BD-8443-3BD2-A089-016BFE1AE3D0}"/>
              </a:ext>
            </a:extLst>
          </p:cNvPr>
          <p:cNvSpPr txBox="1"/>
          <p:nvPr/>
        </p:nvSpPr>
        <p:spPr>
          <a:xfrm>
            <a:off x="8153400" y="40767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坐标先验告诉模型左右肺和上下位置，减少位置混淆。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1138D20-6427-BFBE-C996-CCFD4CABD18E}"/>
              </a:ext>
            </a:extLst>
          </p:cNvPr>
          <p:cNvSpPr/>
          <p:nvPr/>
        </p:nvSpPr>
        <p:spPr>
          <a:xfrm>
            <a:off x="8001000" y="4470400"/>
            <a:ext cx="3302000" cy="7366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B1154D-5DFA-7FEF-A51B-17D2D49FEC38}"/>
              </a:ext>
            </a:extLst>
          </p:cNvPr>
          <p:cNvSpPr txBox="1"/>
          <p:nvPr/>
        </p:nvSpPr>
        <p:spPr>
          <a:xfrm>
            <a:off x="8153400" y="4597400"/>
            <a:ext cx="2997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aspp + refine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D4F8B3-3C16-993F-A0F6-29D890AAB26E}"/>
              </a:ext>
            </a:extLst>
          </p:cNvPr>
          <p:cNvSpPr txBox="1"/>
          <p:nvPr/>
        </p:nvSpPr>
        <p:spPr>
          <a:xfrm>
            <a:off x="8153400" y="4953000"/>
            <a:ext cx="2997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多尺度上下文加局部细化，针对困难病灶修正形状。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B59F738-9D37-944A-5712-6109C7ECCA68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41919A8-CD10-95E2-8850-FCCAAF8BCB81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讲法：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专家不是替代所有样本，而是对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已经明显失败的样本做专项纠错。</a:t>
            </a:r>
          </a:p>
        </p:txBody>
      </p:sp>
    </p:spTree>
    <p:extLst>
      <p:ext uri="{BB962C8B-B14F-4D97-AF65-F5344CB8AC3E}">
        <p14:creationId xmlns:p14="http://schemas.microsoft.com/office/powerpoint/2010/main" val="1859717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104D48-03BD-5AE8-5F8A-306438E22E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044EF5-93D1-943D-0017-75C0B55CB91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88B7ED-E401-BB10-39F0-DB45A6C9108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52E801-4335-FB14-BA40-04654E127DF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44C30B-CD59-3439-82A6-AD996FFAEAB6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1C9967-5DFC-4FAB-F17D-A4BE78423110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09D1E0-5183-8BD2-892E-D50B5EFFB571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v18-aware Gate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：按错误类型选专家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88F213-038A-9240-9FB4-3CB76D7919FB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这页是最终优化策略的核心，说明为什么不是简单平均融合。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373647B-A43C-3418-FBE7-8AE234C07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176527"/>
              </p:ext>
            </p:extLst>
          </p:nvPr>
        </p:nvGraphicFramePr>
        <p:xfrm>
          <a:off x="660400" y="1778000"/>
          <a:ext cx="108712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733">
                  <a:extLst>
                    <a:ext uri="{9D8B030D-6E8A-4147-A177-3AD203B41FA5}">
                      <a16:colId xmlns:a16="http://schemas.microsoft.com/office/drawing/2014/main" val="4021197286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1544558061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2407762506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优先专家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答辩解释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80346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预测太大，优先用抑制误检的专家。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06167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真实病灶没覆盖够，优先用提高召回的专家。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6801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/ 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大体位置对但边界偏，先保留稳定基线或边界专家。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0731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位置错得明显，需要更强的边界和保守预测。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8617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完全漏检时，用整体低分专家或漏检专家补救。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86748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105E3BD-18CA-5598-9322-CDC2176A9A5A}"/>
              </a:ext>
            </a:extLst>
          </p:cNvPr>
          <p:cNvSpPr/>
          <p:nvPr/>
        </p:nvSpPr>
        <p:spPr>
          <a:xfrm>
            <a:off x="1397000" y="5334000"/>
            <a:ext cx="4191000" cy="889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DC29DA-A6E4-C093-F743-EC3BECCE54AD}"/>
              </a:ext>
            </a:extLst>
          </p:cNvPr>
          <p:cNvSpPr txBox="1"/>
          <p:nvPr/>
        </p:nvSpPr>
        <p:spPr>
          <a:xfrm>
            <a:off x="1549400" y="5461000"/>
            <a:ext cx="38862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2E8F0"/>
                </a:solidFill>
                <a:latin typeface="Consolas" panose="020B0609020204030204" pitchFamily="49" charset="0"/>
              </a:rPr>
              <a:t>for preferred in routing[failure_type]:
    if preferred in available:
        return preferred
return "basev18"</a:t>
            </a:r>
            <a:endParaRPr lang="zh-CN" altLang="en-US" sz="10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639092-0695-6BBB-89AA-37CF181EAF80}"/>
              </a:ext>
            </a:extLst>
          </p:cNvPr>
          <p:cNvSpPr txBox="1"/>
          <p:nvPr/>
        </p:nvSpPr>
        <p:spPr>
          <a:xfrm>
            <a:off x="6096000" y="5334000"/>
            <a:ext cx="482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334155"/>
                </a:solidFill>
                <a:latin typeface="Microsoft YaHei" panose="020B0503020204020204" pitchFamily="34" charset="-122"/>
              </a:rPr>
              <a:t>这几行代码的含义：按候选顺序逐个找可用专家，找到就返回；如果都不可用，就回退到 </a:t>
            </a:r>
            <a:r>
              <a:rPr lang="en-US" altLang="zh-CN" sz="1200" b="1">
                <a:solidFill>
                  <a:srgbClr val="334155"/>
                </a:solidFill>
                <a:latin typeface="Microsoft YaHei" panose="020B0503020204020204" pitchFamily="34" charset="-122"/>
              </a:rPr>
              <a:t>basev18</a:t>
            </a:r>
            <a:r>
              <a:rPr lang="zh-CN" altLang="en-US" sz="1200" b="1">
                <a:solidFill>
                  <a:srgbClr val="334155"/>
                </a:solidFill>
                <a:latin typeface="Microsoft YaHei" panose="020B0503020204020204" pitchFamily="34" charset="-122"/>
              </a:rPr>
              <a:t>，保证系统稳定。</a:t>
            </a:r>
          </a:p>
        </p:txBody>
      </p:sp>
    </p:spTree>
    <p:extLst>
      <p:ext uri="{BB962C8B-B14F-4D97-AF65-F5344CB8AC3E}">
        <p14:creationId xmlns:p14="http://schemas.microsoft.com/office/powerpoint/2010/main" val="262255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8F17A2-F2D8-30F4-210A-EAF471434F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6708D-5233-D533-02EF-6D4C047D1B1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CFC660-3C4A-672A-4DC7-B85C78671C9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6D0C55-06EF-4C55-1171-2B88CA8D054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21A4BC-FB71-A2D6-82B2-79532BB09476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F301B9-7F5C-3D2E-DC34-9B3FDE50B83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69C84C-AEFE-6334-08DF-3D953FEB0107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网页端推理：从上传图片到返回结果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6680FE-A272-FE33-F2CA-17209570E990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答辩时只讲输入、模型调用、后处理、输出四件事。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F6E9C-5F99-AB85-FAD8-CCDA7B1526E9}"/>
              </a:ext>
            </a:extLst>
          </p:cNvPr>
          <p:cNvSpPr/>
          <p:nvPr/>
        </p:nvSpPr>
        <p:spPr>
          <a:xfrm>
            <a:off x="533400" y="1651000"/>
            <a:ext cx="7239000" cy="4064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4E4056-AD22-3DF6-53A2-DB3160A1D80F}"/>
              </a:ext>
            </a:extLst>
          </p:cNvPr>
          <p:cNvSpPr txBox="1"/>
          <p:nvPr/>
        </p:nvSpPr>
        <p:spPr>
          <a:xfrm>
            <a:off x="685800" y="1778000"/>
            <a:ext cx="69342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@app.post("/api/predict")
async def predict(file, checkpoint, threshold=0.25, min_area=32):
    image_path = save_upload(file)
    result = segmenter.segment_file(
        image_path,
        checkpoint=checkpoint,
        threshold=threshold,
        min_area=min_area,
    )
    metrics = evaluate_if_gt_exists(image_path, result.mask)
    return {
        "original": url(result.original_png),
        "mask": url(result.mask_png),
        "overlay": url(result.overlay_png),
        "metrics": metrics,
    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2810FD1-ED44-1F5E-7081-7141873CE323}"/>
              </a:ext>
            </a:extLst>
          </p:cNvPr>
          <p:cNvSpPr/>
          <p:nvPr/>
        </p:nvSpPr>
        <p:spPr>
          <a:xfrm>
            <a:off x="8128000" y="1676400"/>
            <a:ext cx="3111500" cy="8382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038BB3-B3E1-CD26-9FB1-FC674D6D1C5A}"/>
              </a:ext>
            </a:extLst>
          </p:cNvPr>
          <p:cNvSpPr txBox="1"/>
          <p:nvPr/>
        </p:nvSpPr>
        <p:spPr>
          <a:xfrm>
            <a:off x="8280400" y="18034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threshold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D235F9-B9B0-51AD-14B7-7F9C4A791BA3}"/>
              </a:ext>
            </a:extLst>
          </p:cNvPr>
          <p:cNvSpPr txBox="1"/>
          <p:nvPr/>
        </p:nvSpPr>
        <p:spPr>
          <a:xfrm>
            <a:off x="8280400" y="2159000"/>
            <a:ext cx="28067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概率阈值，控制模型输出是否判为感染区域。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02485FC-3134-E1E8-C529-711B8A8124F1}"/>
              </a:ext>
            </a:extLst>
          </p:cNvPr>
          <p:cNvSpPr/>
          <p:nvPr/>
        </p:nvSpPr>
        <p:spPr>
          <a:xfrm>
            <a:off x="8128000" y="2641600"/>
            <a:ext cx="3111500" cy="8382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531B0F-5C82-76D9-174F-32E50F1EAD4B}"/>
              </a:ext>
            </a:extLst>
          </p:cNvPr>
          <p:cNvSpPr txBox="1"/>
          <p:nvPr/>
        </p:nvSpPr>
        <p:spPr>
          <a:xfrm>
            <a:off x="8280400" y="27686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CAC904-A455-E55F-ABC1-2D243F72D705}"/>
              </a:ext>
            </a:extLst>
          </p:cNvPr>
          <p:cNvSpPr txBox="1"/>
          <p:nvPr/>
        </p:nvSpPr>
        <p:spPr>
          <a:xfrm>
            <a:off x="8280400" y="3124200"/>
            <a:ext cx="28067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最小连通域面积，用于过滤孤立噪声点。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867DDB0-724C-F21D-E1A2-018ADDDFA31E}"/>
              </a:ext>
            </a:extLst>
          </p:cNvPr>
          <p:cNvSpPr/>
          <p:nvPr/>
        </p:nvSpPr>
        <p:spPr>
          <a:xfrm>
            <a:off x="8128000" y="3606800"/>
            <a:ext cx="3111500" cy="8382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4EC05F-4F03-0BD5-3431-083D97AA9176}"/>
              </a:ext>
            </a:extLst>
          </p:cNvPr>
          <p:cNvSpPr txBox="1"/>
          <p:nvPr/>
        </p:nvSpPr>
        <p:spPr>
          <a:xfrm>
            <a:off x="8280400" y="37338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evaluate_if_gt_exists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B13A66-A172-9D89-7D72-CAC6CD709E97}"/>
              </a:ext>
            </a:extLst>
          </p:cNvPr>
          <p:cNvSpPr txBox="1"/>
          <p:nvPr/>
        </p:nvSpPr>
        <p:spPr>
          <a:xfrm>
            <a:off x="8280400" y="4089400"/>
            <a:ext cx="28067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如果能找到真值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，就自动计算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AD3738F-6B15-17DA-3EA4-36BD66E666A8}"/>
              </a:ext>
            </a:extLst>
          </p:cNvPr>
          <p:cNvSpPr/>
          <p:nvPr/>
        </p:nvSpPr>
        <p:spPr>
          <a:xfrm>
            <a:off x="8128000" y="4572000"/>
            <a:ext cx="3111500" cy="8382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B853E7-93DE-BB20-AE64-18D57B8AF7BA}"/>
              </a:ext>
            </a:extLst>
          </p:cNvPr>
          <p:cNvSpPr txBox="1"/>
          <p:nvPr/>
        </p:nvSpPr>
        <p:spPr>
          <a:xfrm>
            <a:off x="8280400" y="46990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return JSON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CE7AFE-3271-23AE-3287-67F8305A8557}"/>
              </a:ext>
            </a:extLst>
          </p:cNvPr>
          <p:cNvSpPr txBox="1"/>
          <p:nvPr/>
        </p:nvSpPr>
        <p:spPr>
          <a:xfrm>
            <a:off x="8280400" y="5054600"/>
            <a:ext cx="28067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把原图、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和指标返回给前端页面展示。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31B548D-87C0-8AAC-A0BA-4E3A81F8DD94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2ADF7D8-E62D-4F11-55F7-C09F6834CE53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讲法：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端证明系统不是只停留在训练脚本，而是能把模型输出可视化给用户。</a:t>
            </a:r>
          </a:p>
        </p:txBody>
      </p:sp>
    </p:spTree>
    <p:extLst>
      <p:ext uri="{BB962C8B-B14F-4D97-AF65-F5344CB8AC3E}">
        <p14:creationId xmlns:p14="http://schemas.microsoft.com/office/powerpoint/2010/main" val="831318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EC2058-2027-6152-C92C-6F3E37F358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6F4EC2-2492-8EA5-F09F-7F66744F1EE4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0AF33-D334-0EDF-2352-ABFD06ABDED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30F809-E796-22EC-7BC1-5C63DB78408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CC9112-0765-2288-58AB-685C42AD922A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AB08C0-9607-E633-B99A-9C4A0F5CCF2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A4F07F-0282-AB96-5180-0B26F6B7B162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答辩版代码展示收束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3E2289-FCB6-D918-FF96-B3252F0425B4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最后把代码落到创新点和结果上。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9235C7-3B88-D694-3B6E-E44277E33FFF}"/>
              </a:ext>
            </a:extLst>
          </p:cNvPr>
          <p:cNvSpPr/>
          <p:nvPr/>
        </p:nvSpPr>
        <p:spPr>
          <a:xfrm>
            <a:off x="889000" y="1905000"/>
            <a:ext cx="3175000" cy="2794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DBC02D-3E13-C279-4BF2-218264A569C5}"/>
              </a:ext>
            </a:extLst>
          </p:cNvPr>
          <p:cNvSpPr txBox="1"/>
          <p:nvPr/>
        </p:nvSpPr>
        <p:spPr>
          <a:xfrm>
            <a:off x="1041400" y="20320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856BD8-EC92-A845-EEBF-4FB28BEFA413}"/>
              </a:ext>
            </a:extLst>
          </p:cNvPr>
          <p:cNvSpPr txBox="1"/>
          <p:nvPr/>
        </p:nvSpPr>
        <p:spPr>
          <a:xfrm>
            <a:off x="1041400" y="2387600"/>
            <a:ext cx="287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提供稳定基线；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专家补足低分样本；边界、频域和坐标先验增强困难病灶表达。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11B0AAB-8D21-F9E2-A97A-BE6FAF99BBF3}"/>
              </a:ext>
            </a:extLst>
          </p:cNvPr>
          <p:cNvSpPr/>
          <p:nvPr/>
        </p:nvSpPr>
        <p:spPr>
          <a:xfrm>
            <a:off x="4508500" y="1905000"/>
            <a:ext cx="3175000" cy="2794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A33BDD-F12A-A120-4D2F-B36DE9CD88E1}"/>
              </a:ext>
            </a:extLst>
          </p:cNvPr>
          <p:cNvSpPr txBox="1"/>
          <p:nvPr/>
        </p:nvSpPr>
        <p:spPr>
          <a:xfrm>
            <a:off x="4660900" y="20320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策略层面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0631B1-C260-96B4-5896-549F336DED95}"/>
              </a:ext>
            </a:extLst>
          </p:cNvPr>
          <p:cNvSpPr txBox="1"/>
          <p:nvPr/>
        </p:nvSpPr>
        <p:spPr>
          <a:xfrm>
            <a:off x="4660900" y="2387600"/>
            <a:ext cx="28702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按错误类型选专家，不做盲目平均融合，避免专家在不适合的样本上拖低结果。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B0A50DD-928D-700C-1706-12D7855448F3}"/>
              </a:ext>
            </a:extLst>
          </p:cNvPr>
          <p:cNvSpPr/>
          <p:nvPr/>
        </p:nvSpPr>
        <p:spPr>
          <a:xfrm>
            <a:off x="8128000" y="1905000"/>
            <a:ext cx="3175000" cy="2794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D87546-CDA5-2CBC-832D-DF024E26534B}"/>
              </a:ext>
            </a:extLst>
          </p:cNvPr>
          <p:cNvSpPr txBox="1"/>
          <p:nvPr/>
        </p:nvSpPr>
        <p:spPr>
          <a:xfrm>
            <a:off x="8280400" y="20320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系统层面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2427BC-E321-D586-F722-1842637D6FA4}"/>
              </a:ext>
            </a:extLst>
          </p:cNvPr>
          <p:cNvSpPr txBox="1"/>
          <p:nvPr/>
        </p:nvSpPr>
        <p:spPr>
          <a:xfrm>
            <a:off x="8280400" y="2387600"/>
            <a:ext cx="2870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网页端完成上传、推理、后处理、可视化和指标计算，形成完整展示闭环。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1FFE90-F660-C4F1-A724-90D60A711D7D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C4DC80-02E5-4EA3-B156-BC3AAE4AEC75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结尾说法：最终提升来自错误类型分析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专家化模型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可视化系统，不是单一代码片段。</a:t>
            </a:r>
          </a:p>
        </p:txBody>
      </p:sp>
    </p:spTree>
    <p:extLst>
      <p:ext uri="{BB962C8B-B14F-4D97-AF65-F5344CB8AC3E}">
        <p14:creationId xmlns:p14="http://schemas.microsoft.com/office/powerpoint/2010/main" val="238764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4322</Words>
  <Application>Microsoft Office PowerPoint</Application>
  <PresentationFormat>宽屏</PresentationFormat>
  <Paragraphs>489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2026-05-20T11:13:44Z</dcterms:created>
  <dcterms:modified xsi:type="dcterms:W3CDTF">2026-05-21T10:48:14Z</dcterms:modified>
</cp:coreProperties>
</file>