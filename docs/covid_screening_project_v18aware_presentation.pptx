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9389B-59D4-4422-0173-85740ABFA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F636D2-CC53-EB76-E1BA-F40F5B65A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9F156-28FA-ED5C-9D63-A2588ABC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38901-A421-A84F-2B31-E5DBD483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C82F06-4B83-3E88-D493-A6D2F45B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35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E5B71-5A80-6060-CCD7-09CFD2F0B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B10C31-5859-97F2-D479-8824DB5FC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F0F84-1CDE-783C-3B3A-0273A3C4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B2EB99-DB1C-D3E8-F518-06B1A740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63BDC-54C5-BC44-93A2-C5EDAF0F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35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D297A-AF5B-EE2A-5FB9-503E4EDD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1D479B-8F99-E254-E45D-91549383F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6CB057-4295-755A-BDAE-38499203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D72C99-4255-D24B-6A83-B7BD7903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BF556-3E42-2E6A-8E4F-9B2A9380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33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B6818-144C-7979-723B-E8B09F6A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CF6AAD-FE0D-3341-DAA1-6AC279CA8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64A12B-0AA3-D44A-8B08-A7387C872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0ABB80-273E-C26A-F3B9-B325D553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A5642-A8DF-25C1-5486-8495FF69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71ADD9-A651-B984-E031-B96EDBD0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80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641C6-04C3-1C28-9C66-EB6C434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7BCAB9-C8A6-F93F-50F3-C114730CD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C3E798-3928-8F5A-F59E-FD73C40F2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D2267B-E719-84D5-A5A5-47068C6D4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9A0BA1-7929-8850-E33B-C6AC0639C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73B76B-CD2D-BC41-4293-41C52F75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6BC41F-BB62-F148-E9F2-4B5CE0EC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F75C08-F9D5-DBF0-691C-F5FA59F8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35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A2440-355B-9400-3821-E46CD434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154E26-D7C2-F361-F5E8-445BF9F6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CBADEC-D562-342A-4725-B607FC87E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888C90-78C6-FFE4-1587-C0707B77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7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770F02-90AD-E5A9-D985-A24099BD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03FCC5B-196E-9ABB-F68E-8D67BBD9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C91CC9-FCA0-A58A-CECF-61FB6D58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09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789BF-42C9-1CFE-1922-D72091FEE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027F74-5C86-EB5F-17D5-875324379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FD6BB8-C513-2478-38D0-DB6636186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173664-2ED9-86A3-656D-D2A99C03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B05396-43C5-8F22-7F71-27F10BFE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472C9A-63BB-4561-BD29-F0EDFF11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989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9FBB4-B273-90AC-F87A-CBDCED7DD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11C5B8-B801-E071-9E8D-B61207D34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7F09B7-F067-4E5E-67E0-506A17395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33D2A2-B863-7F56-CFE0-56113CBB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A4ECA5-207C-BEA4-4A5D-8551284E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91B2D6-F63F-FB82-2A62-3279F187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42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AF02D-D552-7B02-49C5-EB88CD00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EB03C8-811D-B2B1-ED46-199FABB63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B5555F-5931-282F-5EF4-6D78E3083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39E186-9A22-1CFD-8A4E-A31C39CE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62E009-2710-6317-118F-C6BAA79C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55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D49294-BE44-C13C-496F-962107407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3E256B-7978-11C7-64CF-A16F5C3F7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A9B0D5-1221-CD9C-6586-072B7094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A6F41-E93A-2682-4B80-9CDEA2C8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5DDD1-817F-B0C9-711A-278B826D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66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456CA1-FE6C-2071-62C2-196EC554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B05417-1C0C-BF74-BBFD-E0958D0EC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9793AD-1797-6F6A-EDFC-C23181D44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65243-0042-4078-AC59-D283D71B5EF0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4B341-E861-3148-9C1A-F84BE7B21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88004D-9884-41C6-F732-411031D2B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2A18F-1FD9-4D35-B30E-83DFC20AC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3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EF1D8F-8F1F-0691-B8F7-DAF0DD5652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3D70F6-17D9-9E38-19A5-A7876AF5BC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A5AB6F-13C5-17D5-48ED-A2680DDA9E98}"/>
              </a:ext>
            </a:extLst>
          </p:cNvPr>
          <p:cNvSpPr/>
          <p:nvPr/>
        </p:nvSpPr>
        <p:spPr>
          <a:xfrm>
            <a:off x="0" y="5308600"/>
            <a:ext cx="12192000" cy="15494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FC27A3-EF9C-21A7-ADF7-DC4E18EF4385}"/>
              </a:ext>
            </a:extLst>
          </p:cNvPr>
          <p:cNvSpPr txBox="1"/>
          <p:nvPr/>
        </p:nvSpPr>
        <p:spPr>
          <a:xfrm>
            <a:off x="787400" y="1168400"/>
            <a:ext cx="10414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胸片感染区域分割系统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A45A42-B183-B81E-6903-40805FBB9DCF}"/>
              </a:ext>
            </a:extLst>
          </p:cNvPr>
          <p:cNvSpPr txBox="1"/>
          <p:nvPr/>
        </p:nvSpPr>
        <p:spPr>
          <a:xfrm>
            <a:off x="838200" y="19558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>
                <a:solidFill>
                  <a:srgbClr val="CBD5E1"/>
                </a:solidFill>
                <a:latin typeface="Microsoft YaHei" panose="020B0503020204020204" pitchFamily="34" charset="-122"/>
              </a:rPr>
              <a:t>TransUNet2D v18 + LowDice </a:t>
            </a:r>
            <a:r>
              <a:rPr lang="zh-CN" altLang="en-US" sz="2000">
                <a:solidFill>
                  <a:srgbClr val="CBD5E1"/>
                </a:solidFill>
                <a:latin typeface="Microsoft YaHei" panose="020B0503020204020204" pitchFamily="34" charset="-122"/>
              </a:rPr>
              <a:t>多专家门控优化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3B3A89-2D58-30D1-281F-F6600D7AEEA1}"/>
              </a:ext>
            </a:extLst>
          </p:cNvPr>
          <p:cNvSpPr txBox="1"/>
          <p:nvPr/>
        </p:nvSpPr>
        <p:spPr>
          <a:xfrm>
            <a:off x="838200" y="5715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项目展示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PPT  |  QaTa-COV19  |  Web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可视化系统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6FE92A-EE61-F4F1-3304-6712FF1AB6B7}"/>
              </a:ext>
            </a:extLst>
          </p:cNvPr>
          <p:cNvSpPr txBox="1"/>
          <p:nvPr/>
        </p:nvSpPr>
        <p:spPr>
          <a:xfrm>
            <a:off x="8890000" y="1079500"/>
            <a:ext cx="266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FCD34D"/>
                </a:solidFill>
                <a:latin typeface="Microsoft YaHei" panose="020B0503020204020204" pitchFamily="34" charset="-122"/>
              </a:rPr>
              <a:t>Final Dice 0.7959</a:t>
            </a:r>
            <a:endParaRPr lang="zh-CN" altLang="en-US" sz="2000" b="1">
              <a:solidFill>
                <a:srgbClr val="FCD34D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707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B88FD3-9676-3A13-397C-584F4E94C1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C2382A-CC67-A6F4-AF0D-57F050B0F6A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5DAABF-75B7-2ACB-BAE5-E5E7A701D2C5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研究任务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972F80-CA29-3152-1D38-55EC08AFB335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任务背景与目标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F4D142-680B-ED6B-6E34-DA9DF699C56A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用胸部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光图像自动分割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感染区域，输出可视化掩码与定量指标。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B24347B-6FC5-7D5A-E959-4B5BFEC72461}"/>
              </a:ext>
            </a:extLst>
          </p:cNvPr>
          <p:cNvSpPr/>
          <p:nvPr/>
        </p:nvSpPr>
        <p:spPr>
          <a:xfrm>
            <a:off x="711200" y="2159000"/>
            <a:ext cx="31750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ED9479-D566-CCF6-BDB7-C8139C140863}"/>
              </a:ext>
            </a:extLst>
          </p:cNvPr>
          <p:cNvSpPr txBox="1"/>
          <p:nvPr/>
        </p:nvSpPr>
        <p:spPr>
          <a:xfrm>
            <a:off x="914400" y="23368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69D20E-A429-FC47-C6E3-867242376064}"/>
              </a:ext>
            </a:extLst>
          </p:cNvPr>
          <p:cNvSpPr txBox="1"/>
          <p:nvPr/>
        </p:nvSpPr>
        <p:spPr>
          <a:xfrm>
            <a:off x="914400" y="2768600"/>
            <a:ext cx="2768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光图像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数据集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可扩展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293206F-4573-3112-10FE-C5CF2E6A8555}"/>
              </a:ext>
            </a:extLst>
          </p:cNvPr>
          <p:cNvSpPr/>
          <p:nvPr/>
        </p:nvSpPr>
        <p:spPr>
          <a:xfrm>
            <a:off x="4508500" y="2159000"/>
            <a:ext cx="31750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966527-7355-CE96-5AD6-F5756E6026B8}"/>
              </a:ext>
            </a:extLst>
          </p:cNvPr>
          <p:cNvSpPr txBox="1"/>
          <p:nvPr/>
        </p:nvSpPr>
        <p:spPr>
          <a:xfrm>
            <a:off x="4711700" y="23368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1DE8C9-392F-B1FD-9DC2-03EC678658DF}"/>
              </a:ext>
            </a:extLst>
          </p:cNvPr>
          <p:cNvSpPr txBox="1"/>
          <p:nvPr/>
        </p:nvSpPr>
        <p:spPr>
          <a:xfrm>
            <a:off x="4711700" y="2768600"/>
            <a:ext cx="2768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基线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专家模型池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门控选择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A8EB232-1191-7FD1-86B6-8EED24832725}"/>
              </a:ext>
            </a:extLst>
          </p:cNvPr>
          <p:cNvSpPr/>
          <p:nvPr/>
        </p:nvSpPr>
        <p:spPr>
          <a:xfrm>
            <a:off x="8305800" y="2159000"/>
            <a:ext cx="31750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2DFAF7-209B-E196-CBE7-77CA04656FF8}"/>
              </a:ext>
            </a:extLst>
          </p:cNvPr>
          <p:cNvSpPr txBox="1"/>
          <p:nvPr/>
        </p:nvSpPr>
        <p:spPr>
          <a:xfrm>
            <a:off x="8509000" y="2336800"/>
            <a:ext cx="2768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E920D5-AFBF-A16C-079C-67830145BDB3}"/>
              </a:ext>
            </a:extLst>
          </p:cNvPr>
          <p:cNvSpPr txBox="1"/>
          <p:nvPr/>
        </p:nvSpPr>
        <p:spPr>
          <a:xfrm>
            <a:off x="8509000" y="2768600"/>
            <a:ext cx="2768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感染区域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Mask
Overlay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可视化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/ IoU / Precision / Recall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4EED49-787A-ADFF-1B1E-6DFC0ABD83D6}"/>
              </a:ext>
            </a:extLst>
          </p:cNvPr>
          <p:cNvCxnSpPr/>
          <p:nvPr/>
        </p:nvCxnSpPr>
        <p:spPr>
          <a:xfrm>
            <a:off x="3886200" y="3619500"/>
            <a:ext cx="6223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182EAE7-E591-3A30-2CF7-2987A3E7C5CD}"/>
              </a:ext>
            </a:extLst>
          </p:cNvPr>
          <p:cNvCxnSpPr/>
          <p:nvPr/>
        </p:nvCxnSpPr>
        <p:spPr>
          <a:xfrm>
            <a:off x="7683500" y="3619500"/>
            <a:ext cx="6223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12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9C50A3-71C6-973E-192F-18ED157CF8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67DEE5-0394-FFFD-3B8D-F914B732C70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BA76CC-07FB-11F2-C452-7662E276A805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数据与预处理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410683-CD13-7347-62B2-1EB0F894ED03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数据集与训练设置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F518B4-4A8D-1B25-4088-04CF05D60CFD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胸片分割数据，统一预处理后进行训练、验证与测试。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2503CCD-20AF-DA2B-AF2F-385AE5266DC4}"/>
              </a:ext>
            </a:extLst>
          </p:cNvPr>
          <p:cNvSpPr/>
          <p:nvPr/>
        </p:nvSpPr>
        <p:spPr>
          <a:xfrm>
            <a:off x="736600" y="1968500"/>
            <a:ext cx="2286000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6FC53-2F56-76AD-06FB-AE3DB2AA5629}"/>
              </a:ext>
            </a:extLst>
          </p:cNvPr>
          <p:cNvSpPr txBox="1"/>
          <p:nvPr/>
        </p:nvSpPr>
        <p:spPr>
          <a:xfrm>
            <a:off x="914400" y="2120900"/>
            <a:ext cx="193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样本总量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F9FC89-22DC-122F-6BE6-E1281A62A2DC}"/>
              </a:ext>
            </a:extLst>
          </p:cNvPr>
          <p:cNvSpPr txBox="1"/>
          <p:nvPr/>
        </p:nvSpPr>
        <p:spPr>
          <a:xfrm>
            <a:off x="914400" y="2400300"/>
            <a:ext cx="1930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500" b="1">
                <a:solidFill>
                  <a:srgbClr val="2563EB"/>
                </a:solidFill>
                <a:latin typeface="Microsoft YaHei" panose="020B0503020204020204" pitchFamily="34" charset="-122"/>
              </a:rPr>
              <a:t>9258</a:t>
            </a:r>
            <a:endParaRPr lang="zh-CN" altLang="en-US" sz="25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64C1FE-1EEF-7AB5-1453-C5EA9E44BF1E}"/>
              </a:ext>
            </a:extLst>
          </p:cNvPr>
          <p:cNvSpPr txBox="1"/>
          <p:nvPr/>
        </p:nvSpPr>
        <p:spPr>
          <a:xfrm>
            <a:off x="914400" y="2882900"/>
            <a:ext cx="1930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train 7406 / val 925 / test 927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EDB5670-7380-9ACC-7B04-053137186ED4}"/>
              </a:ext>
            </a:extLst>
          </p:cNvPr>
          <p:cNvSpPr/>
          <p:nvPr/>
        </p:nvSpPr>
        <p:spPr>
          <a:xfrm>
            <a:off x="3530600" y="1968500"/>
            <a:ext cx="2286000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FFDE6E-3817-A67E-7856-00194C76BF52}"/>
              </a:ext>
            </a:extLst>
          </p:cNvPr>
          <p:cNvSpPr txBox="1"/>
          <p:nvPr/>
        </p:nvSpPr>
        <p:spPr>
          <a:xfrm>
            <a:off x="3708400" y="2120900"/>
            <a:ext cx="193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低分样本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862420-182C-69DB-A6BE-4790F820DF68}"/>
              </a:ext>
            </a:extLst>
          </p:cNvPr>
          <p:cNvSpPr txBox="1"/>
          <p:nvPr/>
        </p:nvSpPr>
        <p:spPr>
          <a:xfrm>
            <a:off x="3708400" y="2400300"/>
            <a:ext cx="1930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500" b="1">
                <a:solidFill>
                  <a:srgbClr val="DC2626"/>
                </a:solidFill>
                <a:latin typeface="Microsoft YaHei" panose="020B0503020204020204" pitchFamily="34" charset="-122"/>
              </a:rPr>
              <a:t>158</a:t>
            </a:r>
            <a:endParaRPr lang="zh-CN" altLang="en-US" sz="25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5A882C-B016-FD90-4137-4C55284DCA27}"/>
              </a:ext>
            </a:extLst>
          </p:cNvPr>
          <p:cNvSpPr txBox="1"/>
          <p:nvPr/>
        </p:nvSpPr>
        <p:spPr>
          <a:xfrm>
            <a:off x="3708400" y="28829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v18 Dice &lt; 0.60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33391D2-09C4-D595-64F2-9A75E5B2EA21}"/>
              </a:ext>
            </a:extLst>
          </p:cNvPr>
          <p:cNvSpPr/>
          <p:nvPr/>
        </p:nvSpPr>
        <p:spPr>
          <a:xfrm>
            <a:off x="6324600" y="1968500"/>
            <a:ext cx="2286000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C0987D-7258-B744-0358-0E63A28EB5B0}"/>
              </a:ext>
            </a:extLst>
          </p:cNvPr>
          <p:cNvSpPr txBox="1"/>
          <p:nvPr/>
        </p:nvSpPr>
        <p:spPr>
          <a:xfrm>
            <a:off x="6502400" y="2120900"/>
            <a:ext cx="193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输入尺寸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7E967E-AB03-B255-47BB-38C8FA976985}"/>
              </a:ext>
            </a:extLst>
          </p:cNvPr>
          <p:cNvSpPr txBox="1"/>
          <p:nvPr/>
        </p:nvSpPr>
        <p:spPr>
          <a:xfrm>
            <a:off x="6502400" y="2400300"/>
            <a:ext cx="1930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500" b="1">
                <a:solidFill>
                  <a:srgbClr val="059669"/>
                </a:solidFill>
                <a:latin typeface="Microsoft YaHei" panose="020B0503020204020204" pitchFamily="34" charset="-122"/>
              </a:rPr>
              <a:t>224×224</a:t>
            </a:r>
            <a:endParaRPr lang="zh-CN" altLang="en-US" sz="25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18DCA6-0206-ED05-59F2-58932150B698}"/>
              </a:ext>
            </a:extLst>
          </p:cNvPr>
          <p:cNvSpPr txBox="1"/>
          <p:nvPr/>
        </p:nvSpPr>
        <p:spPr>
          <a:xfrm>
            <a:off x="6502400" y="28829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灰度归一化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二值掩码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4D100EF-7FA4-7C05-7BE0-1B6B6280134B}"/>
              </a:ext>
            </a:extLst>
          </p:cNvPr>
          <p:cNvSpPr/>
          <p:nvPr/>
        </p:nvSpPr>
        <p:spPr>
          <a:xfrm>
            <a:off x="9118600" y="1968500"/>
            <a:ext cx="2286000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66CE02-C23A-08E0-5D52-EF5BD8908F29}"/>
              </a:ext>
            </a:extLst>
          </p:cNvPr>
          <p:cNvSpPr txBox="1"/>
          <p:nvPr/>
        </p:nvSpPr>
        <p:spPr>
          <a:xfrm>
            <a:off x="9296400" y="2120900"/>
            <a:ext cx="1930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训练方式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9A0DA8-312F-F774-CF68-52F495BC0016}"/>
              </a:ext>
            </a:extLst>
          </p:cNvPr>
          <p:cNvSpPr txBox="1"/>
          <p:nvPr/>
        </p:nvSpPr>
        <p:spPr>
          <a:xfrm>
            <a:off x="9296400" y="2400300"/>
            <a:ext cx="1930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500" b="1">
                <a:solidFill>
                  <a:srgbClr val="7C3AED"/>
                </a:solidFill>
                <a:latin typeface="Microsoft YaHei" panose="020B0503020204020204" pitchFamily="34" charset="-122"/>
              </a:rPr>
              <a:t>AMP</a:t>
            </a:r>
            <a:endParaRPr lang="zh-CN" altLang="en-US" sz="25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5F103B-79BB-0833-81BD-E48E376A81D0}"/>
              </a:ext>
            </a:extLst>
          </p:cNvPr>
          <p:cNvSpPr txBox="1"/>
          <p:nvPr/>
        </p:nvSpPr>
        <p:spPr>
          <a:xfrm>
            <a:off x="9296400" y="28829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AdamW + Cosine LR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EF221F-F898-2395-C711-5BFB26612221}"/>
              </a:ext>
            </a:extLst>
          </p:cNvPr>
          <p:cNvSpPr txBox="1"/>
          <p:nvPr/>
        </p:nvSpPr>
        <p:spPr>
          <a:xfrm>
            <a:off x="889000" y="4000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1E293B"/>
                </a:solidFill>
                <a:latin typeface="Microsoft YaHei" panose="020B0503020204020204" pitchFamily="34" charset="-122"/>
              </a:rPr>
              <a:t>预处理流程：读取图像与标注 → 灰度归一化 → 统一尺寸 → 二值化 </a:t>
            </a:r>
            <a:r>
              <a:rPr lang="en-US" altLang="zh-CN" sz="1700" b="1">
                <a:solidFill>
                  <a:srgbClr val="1E293B"/>
                </a:solidFill>
                <a:latin typeface="Microsoft YaHei" panose="020B0503020204020204" pitchFamily="34" charset="-122"/>
              </a:rPr>
              <a:t>Mask → </a:t>
            </a:r>
            <a:r>
              <a:rPr lang="zh-CN" altLang="en-US" sz="1700" b="1">
                <a:solidFill>
                  <a:srgbClr val="1E293B"/>
                </a:solidFill>
                <a:latin typeface="Microsoft YaHei" panose="020B0503020204020204" pitchFamily="34" charset="-122"/>
              </a:rPr>
              <a:t>生成 </a:t>
            </a:r>
            <a:r>
              <a:rPr lang="en-US" altLang="zh-CN" sz="1700" b="1">
                <a:solidFill>
                  <a:srgbClr val="1E293B"/>
                </a:solidFill>
                <a:latin typeface="Microsoft YaHei" panose="020B0503020204020204" pitchFamily="34" charset="-122"/>
              </a:rPr>
              <a:t>NPZ </a:t>
            </a:r>
            <a:r>
              <a:rPr lang="zh-CN" altLang="en-US" sz="1700" b="1">
                <a:solidFill>
                  <a:srgbClr val="1E293B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700" b="1">
                <a:solidFill>
                  <a:srgbClr val="1E293B"/>
                </a:solidFill>
                <a:latin typeface="Microsoft YaHei" panose="020B0503020204020204" pitchFamily="34" charset="-122"/>
              </a:rPr>
              <a:t>manifest.csv</a:t>
            </a:r>
            <a:endParaRPr lang="zh-CN" altLang="en-US" sz="1700" b="1">
              <a:solidFill>
                <a:srgbClr val="1E293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25C19F3-0A0F-B253-DCD7-2562147CF5D7}"/>
              </a:ext>
            </a:extLst>
          </p:cNvPr>
          <p:cNvSpPr txBox="1"/>
          <p:nvPr/>
        </p:nvSpPr>
        <p:spPr>
          <a:xfrm>
            <a:off x="889000" y="4699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评价指标：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衡量整体重叠，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IoU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对边界偏移更敏感，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反映误检，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反映漏检。</a:t>
            </a:r>
          </a:p>
        </p:txBody>
      </p:sp>
    </p:spTree>
    <p:extLst>
      <p:ext uri="{BB962C8B-B14F-4D97-AF65-F5344CB8AC3E}">
        <p14:creationId xmlns:p14="http://schemas.microsoft.com/office/powerpoint/2010/main" val="414778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B690B78-FBD2-E781-C0E0-022618AA69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66D652-7DD7-21B4-017B-2F035E5C69A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10DB1D-3618-07F6-1101-3E43782CC56A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方法框架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982375-7D72-3F3A-78B8-811E0765BEA9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系统级分割流程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AFA34C-8DE3-78A5-2CEE-CDDB04AE7E2A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从胸片输入到分割掩码、误差分析与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展示。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35B16A-82E9-4C98-F761-1FCB76BA14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14500"/>
            <a:ext cx="10350500" cy="3810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96C5CEE-11F6-25D0-F58A-B050B730199C}"/>
              </a:ext>
            </a:extLst>
          </p:cNvPr>
          <p:cNvSpPr txBox="1"/>
          <p:nvPr/>
        </p:nvSpPr>
        <p:spPr>
          <a:xfrm>
            <a:off x="1168400" y="5816600"/>
            <a:ext cx="990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</a:rPr>
              <a:t>早期方案以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</a:rPr>
              <a:t>TransUNet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</a:rPr>
              <a:t>系列和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</a:rPr>
              <a:t>UCTRansNet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</a:rPr>
              <a:t>融合为主；本轮优化转向低分样本专家化纠错。</a:t>
            </a:r>
          </a:p>
        </p:txBody>
      </p:sp>
    </p:spTree>
    <p:extLst>
      <p:ext uri="{BB962C8B-B14F-4D97-AF65-F5344CB8AC3E}">
        <p14:creationId xmlns:p14="http://schemas.microsoft.com/office/powerpoint/2010/main" val="272400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DBD6D4-C87C-4519-1331-88E33B952E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0354D4-7BF8-11D4-6E09-C69158D1CBC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35BCA1-43F4-F514-FA14-F9F783C9EC00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模型迭代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5FE0A9-846D-02AE-FA0A-2693BBB1C8E4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从单模型到困难样本专家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80B2B5-0C66-2DBA-B747-C9A9EBD824EB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单纯堆叠模块提升有限，低分样本需要专项优化。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E7C358B-88D0-CA3C-C589-F3244F14AE4E}"/>
              </a:ext>
            </a:extLst>
          </p:cNvPr>
          <p:cNvSpPr/>
          <p:nvPr/>
        </p:nvSpPr>
        <p:spPr>
          <a:xfrm>
            <a:off x="698500" y="1905000"/>
            <a:ext cx="2413000" cy="2921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DCADD3-CA47-DD81-318E-BF642117FEC9}"/>
              </a:ext>
            </a:extLst>
          </p:cNvPr>
          <p:cNvSpPr txBox="1"/>
          <p:nvPr/>
        </p:nvSpPr>
        <p:spPr>
          <a:xfrm>
            <a:off x="901700" y="2082800"/>
            <a:ext cx="2006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Baseline</a:t>
            </a:r>
            <a:endParaRPr lang="zh-CN" altLang="en-US" sz="16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EB6767-5B3E-9D43-C65F-546DF71BA0CD}"/>
              </a:ext>
            </a:extLst>
          </p:cNvPr>
          <p:cNvSpPr txBox="1"/>
          <p:nvPr/>
        </p:nvSpPr>
        <p:spPr>
          <a:xfrm>
            <a:off x="901700" y="2514600"/>
            <a:ext cx="2006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U-Net / DynUNet / Attention U-Net / Swin-Unet /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基础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A3CB2BF-CC7B-EB6A-99A1-41C7A66B53CD}"/>
              </a:ext>
            </a:extLst>
          </p:cNvPr>
          <p:cNvSpPr/>
          <p:nvPr/>
        </p:nvSpPr>
        <p:spPr>
          <a:xfrm>
            <a:off x="3492500" y="1905000"/>
            <a:ext cx="24130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6E3DDB-94C2-A78B-9037-20720F1FDF28}"/>
              </a:ext>
            </a:extLst>
          </p:cNvPr>
          <p:cNvSpPr txBox="1"/>
          <p:nvPr/>
        </p:nvSpPr>
        <p:spPr>
          <a:xfrm>
            <a:off x="3695700" y="2082800"/>
            <a:ext cx="2006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TransUNet </a:t>
            </a:r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系列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BBF1F4-33B0-8A7F-5C92-8AA597B775E5}"/>
              </a:ext>
            </a:extLst>
          </p:cNvPr>
          <p:cNvSpPr txBox="1"/>
          <p:nvPr/>
        </p:nvSpPr>
        <p:spPr>
          <a:xfrm>
            <a:off x="3695700" y="2514600"/>
            <a:ext cx="2006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v11-v20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：窗口注意力、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DropPath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、边界精炼、频域与先验尝试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BA19301-A3DA-1A98-E579-FB9F488F0F0F}"/>
              </a:ext>
            </a:extLst>
          </p:cNvPr>
          <p:cNvSpPr/>
          <p:nvPr/>
        </p:nvSpPr>
        <p:spPr>
          <a:xfrm>
            <a:off x="6286500" y="1905000"/>
            <a:ext cx="24130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85DCB0-52E5-1491-5952-794892149463}"/>
              </a:ext>
            </a:extLst>
          </p:cNvPr>
          <p:cNvSpPr txBox="1"/>
          <p:nvPr/>
        </p:nvSpPr>
        <p:spPr>
          <a:xfrm>
            <a:off x="6489700" y="2082800"/>
            <a:ext cx="2006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传统融合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E0EDAD-43A2-9B26-8850-132D548BF3AC}"/>
              </a:ext>
            </a:extLst>
          </p:cNvPr>
          <p:cNvSpPr txBox="1"/>
          <p:nvPr/>
        </p:nvSpPr>
        <p:spPr>
          <a:xfrm>
            <a:off x="6489700" y="2514600"/>
            <a:ext cx="2006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v15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v14 + UCTRansNet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概率级融合，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0.7879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429B3AD-4C1E-5446-09F6-A3E6F2CF3702}"/>
              </a:ext>
            </a:extLst>
          </p:cNvPr>
          <p:cNvSpPr/>
          <p:nvPr/>
        </p:nvSpPr>
        <p:spPr>
          <a:xfrm>
            <a:off x="9080500" y="1905000"/>
            <a:ext cx="2413000" cy="2921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2018A98-9A4D-B757-E74C-AC6880F03065}"/>
              </a:ext>
            </a:extLst>
          </p:cNvPr>
          <p:cNvSpPr txBox="1"/>
          <p:nvPr/>
        </p:nvSpPr>
        <p:spPr>
          <a:xfrm>
            <a:off x="9283700" y="2082800"/>
            <a:ext cx="2006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最终策略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401664-9C41-C64E-5CCA-F37CDE4E77DE}"/>
              </a:ext>
            </a:extLst>
          </p:cNvPr>
          <p:cNvSpPr txBox="1"/>
          <p:nvPr/>
        </p:nvSpPr>
        <p:spPr>
          <a:xfrm>
            <a:off x="9283700" y="2514600"/>
            <a:ext cx="2006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gate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：按错误类型选择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专家，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0.7959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9C9B67-FF89-6259-4A63-D82B52B254C9}"/>
              </a:ext>
            </a:extLst>
          </p:cNvPr>
          <p:cNvSpPr txBox="1"/>
          <p:nvPr/>
        </p:nvSpPr>
        <p:spPr>
          <a:xfrm>
            <a:off x="952500" y="53975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关键判断：创新点不能只写结构堆叠，要用低分样本分析证明改动确实解决了什么错误。</a:t>
            </a:r>
          </a:p>
        </p:txBody>
      </p:sp>
    </p:spTree>
    <p:extLst>
      <p:ext uri="{BB962C8B-B14F-4D97-AF65-F5344CB8AC3E}">
        <p14:creationId xmlns:p14="http://schemas.microsoft.com/office/powerpoint/2010/main" val="594482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802400-2075-70AC-0BCD-EBDB1015B9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A6071E-F452-FC73-4E9C-3BCEBCC86BD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FD7901-2B0D-7A47-9893-D9DC939B18DB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C8459B-A6C9-710B-6290-445C1FB0538A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样本主要错在哪里？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7476E4-B95F-6021-34F6-53D5A065C79B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对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158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&lt; 0.60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的样本按错误类型拆分。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53A8BE-146F-091A-0717-BD6E2DD1842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6096000" cy="3429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35A2DF43-D031-96F6-E0EC-999048D9E1FA}"/>
              </a:ext>
            </a:extLst>
          </p:cNvPr>
          <p:cNvSpPr/>
          <p:nvPr/>
        </p:nvSpPr>
        <p:spPr>
          <a:xfrm>
            <a:off x="7493000" y="1778000"/>
            <a:ext cx="3810000" cy="863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35A892-3B82-026F-55AA-903DFD66D56E}"/>
              </a:ext>
            </a:extLst>
          </p:cNvPr>
          <p:cNvSpPr txBox="1"/>
          <p:nvPr/>
        </p:nvSpPr>
        <p:spPr>
          <a:xfrm>
            <a:off x="7696200" y="1955800"/>
            <a:ext cx="3403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边界偏移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171F2D-4CA2-4EFB-D990-4ADB6BC03AFA}"/>
              </a:ext>
            </a:extLst>
          </p:cNvPr>
          <p:cNvSpPr txBox="1"/>
          <p:nvPr/>
        </p:nvSpPr>
        <p:spPr>
          <a:xfrm>
            <a:off x="7696200" y="2387600"/>
            <a:ext cx="3403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例：位置大体正确，但边缘重叠不足。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00119A3-F3A4-35CF-90CF-62BE1593F849}"/>
              </a:ext>
            </a:extLst>
          </p:cNvPr>
          <p:cNvSpPr/>
          <p:nvPr/>
        </p:nvSpPr>
        <p:spPr>
          <a:xfrm>
            <a:off x="7493000" y="2857500"/>
            <a:ext cx="3810000" cy="8636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93322D-D1EF-B197-350B-B5F8FA665AA6}"/>
              </a:ext>
            </a:extLst>
          </p:cNvPr>
          <p:cNvSpPr txBox="1"/>
          <p:nvPr/>
        </p:nvSpPr>
        <p:spPr>
          <a:xfrm>
            <a:off x="7696200" y="3035300"/>
            <a:ext cx="3403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过分割误检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EB1EDB-83F0-B361-6F05-154613E29084}"/>
              </a:ext>
            </a:extLst>
          </p:cNvPr>
          <p:cNvSpPr txBox="1"/>
          <p:nvPr/>
        </p:nvSpPr>
        <p:spPr>
          <a:xfrm>
            <a:off x="7696200" y="3467100"/>
            <a:ext cx="34036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例：预测面积偏大，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下降。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2F9BAF5-E820-BA4B-788A-11BA72D08897}"/>
              </a:ext>
            </a:extLst>
          </p:cNvPr>
          <p:cNvSpPr/>
          <p:nvPr/>
        </p:nvSpPr>
        <p:spPr>
          <a:xfrm>
            <a:off x="7493000" y="3937000"/>
            <a:ext cx="3810000" cy="863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301556-FD07-A2DA-E7E3-7B003EDA8D0E}"/>
              </a:ext>
            </a:extLst>
          </p:cNvPr>
          <p:cNvSpPr txBox="1"/>
          <p:nvPr/>
        </p:nvSpPr>
        <p:spPr>
          <a:xfrm>
            <a:off x="7696200" y="4114800"/>
            <a:ext cx="3403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漏检与错位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F23D8F5-49C8-6B4E-B753-DBAEA5EB4275}"/>
              </a:ext>
            </a:extLst>
          </p:cNvPr>
          <p:cNvSpPr txBox="1"/>
          <p:nvPr/>
        </p:nvSpPr>
        <p:spPr>
          <a:xfrm>
            <a:off x="7696200" y="4546600"/>
            <a:ext cx="34036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wrong location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missed all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共同构成主要困难来源。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5BFACE-8083-DE30-3D50-B63353DD4D7D}"/>
              </a:ext>
            </a:extLst>
          </p:cNvPr>
          <p:cNvSpPr txBox="1"/>
          <p:nvPr/>
        </p:nvSpPr>
        <p:spPr>
          <a:xfrm>
            <a:off x="952500" y="55626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这一步决定了后续不是训练一个「大而全」的模型，而是分成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FP / FN / Boundary / Actual-error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</p:spTree>
    <p:extLst>
      <p:ext uri="{BB962C8B-B14F-4D97-AF65-F5344CB8AC3E}">
        <p14:creationId xmlns:p14="http://schemas.microsoft.com/office/powerpoint/2010/main" val="1799868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EF2398-1098-8144-BCF7-4E12DBCE04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980D13-5161-3A3A-7B15-9268D71051A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232D1F-830F-6383-4758-B7126494CB8A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06 v18-aware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多专家门控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2B698F-5D0B-BA66-23E2-9E5DFA33B14C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最终优化策略：按错误类型路由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B49BFF-D42D-CE56-4E51-59736314695A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保底，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专家纠错。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F100D08-4838-8BF6-DCF5-6137A782D2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87500"/>
            <a:ext cx="11049000" cy="3937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6FB69A5-47F3-249A-3AF1-4032984483F7}"/>
              </a:ext>
            </a:extLst>
          </p:cNvPr>
          <p:cNvSpPr txBox="1"/>
          <p:nvPr/>
        </p:nvSpPr>
        <p:spPr>
          <a:xfrm>
            <a:off x="787400" y="5867400"/>
            <a:ext cx="1079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334155"/>
                </a:solidFill>
                <a:latin typeface="Microsoft YaHei" panose="020B0503020204020204" pitchFamily="34" charset="-122"/>
              </a:rPr>
              <a:t>路由规则：</a:t>
            </a:r>
            <a:r>
              <a:rPr lang="en-US" altLang="zh-CN" sz="1400">
                <a:solidFill>
                  <a:srgbClr val="334155"/>
                </a:solidFill>
                <a:latin typeface="Microsoft YaHei" panose="020B0503020204020204" pitchFamily="34" charset="-122"/>
              </a:rPr>
              <a:t>boundary_or_shift → basev18</a:t>
            </a:r>
            <a:r>
              <a:rPr lang="zh-CN" altLang="en-US" sz="1400">
                <a:solidFill>
                  <a:srgbClr val="334155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400">
                <a:solidFill>
                  <a:srgbClr val="334155"/>
                </a:solidFill>
                <a:latin typeface="Microsoft YaHei" panose="020B0503020204020204" pitchFamily="34" charset="-122"/>
              </a:rPr>
              <a:t>over-segmented FP → actual-fp</a:t>
            </a:r>
            <a:r>
              <a:rPr lang="zh-CN" altLang="en-US" sz="1400">
                <a:solidFill>
                  <a:srgbClr val="334155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400">
                <a:solidFill>
                  <a:srgbClr val="334155"/>
                </a:solidFill>
                <a:latin typeface="Microsoft YaHei" panose="020B0503020204020204" pitchFamily="34" charset="-122"/>
              </a:rPr>
              <a:t>under-segmented FN → actual-fn / recall</a:t>
            </a:r>
            <a:r>
              <a:rPr lang="zh-CN" altLang="en-US" sz="1400">
                <a:solidFill>
                  <a:srgbClr val="334155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400">
                <a:solidFill>
                  <a:srgbClr val="334155"/>
                </a:solidFill>
                <a:latin typeface="Microsoft YaHei" panose="020B0503020204020204" pitchFamily="34" charset="-122"/>
              </a:rPr>
              <a:t>wrong location → actual-boundary</a:t>
            </a:r>
            <a:r>
              <a:rPr lang="zh-CN" altLang="en-US" sz="1400">
                <a:solidFill>
                  <a:srgbClr val="334155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3786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5842811-5775-9E43-B207-A507511C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F778E-BDE1-7454-FE71-ECF3CFE9537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7BECCD-1EC9-E7AB-48CD-1E527EC05D25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量化结果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22E372-564B-1F26-CD7E-D475525F0943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测试集 </a:t>
            </a:r>
            <a:r>
              <a:rPr lang="en-US" altLang="zh-CN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2263C5-C774-1716-F9F2-8D582B8F3057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超过传统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v15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融合和单一专家。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138F73-591F-379E-8273-06659E8111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87500"/>
            <a:ext cx="6731000" cy="38735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6693A282-439D-16B9-1BCC-ABD48E95FFD8}"/>
              </a:ext>
            </a:extLst>
          </p:cNvPr>
          <p:cNvSpPr/>
          <p:nvPr/>
        </p:nvSpPr>
        <p:spPr>
          <a:xfrm>
            <a:off x="7874000" y="1752600"/>
            <a:ext cx="3048000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0970DB6-4AFE-C52D-F936-FDE49CFD7A3B}"/>
              </a:ext>
            </a:extLst>
          </p:cNvPr>
          <p:cNvSpPr txBox="1"/>
          <p:nvPr/>
        </p:nvSpPr>
        <p:spPr>
          <a:xfrm>
            <a:off x="8051800" y="1905000"/>
            <a:ext cx="269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2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6489661-443B-5D86-A3D2-5D6B536B3D61}"/>
              </a:ext>
            </a:extLst>
          </p:cNvPr>
          <p:cNvSpPr txBox="1"/>
          <p:nvPr/>
        </p:nvSpPr>
        <p:spPr>
          <a:xfrm>
            <a:off x="8051800" y="2184400"/>
            <a:ext cx="2692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5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5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CC4EBC-7608-284E-A8B9-9294285342C9}"/>
              </a:ext>
            </a:extLst>
          </p:cNvPr>
          <p:cNvSpPr txBox="1"/>
          <p:nvPr/>
        </p:nvSpPr>
        <p:spPr>
          <a:xfrm>
            <a:off x="8051800" y="26670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48600DA-70F3-B45A-D275-20C913115642}"/>
              </a:ext>
            </a:extLst>
          </p:cNvPr>
          <p:cNvSpPr/>
          <p:nvPr/>
        </p:nvSpPr>
        <p:spPr>
          <a:xfrm>
            <a:off x="7874000" y="3276600"/>
            <a:ext cx="3048000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527587-60A6-6F7A-5494-3100F9C48A89}"/>
              </a:ext>
            </a:extLst>
          </p:cNvPr>
          <p:cNvSpPr txBox="1"/>
          <p:nvPr/>
        </p:nvSpPr>
        <p:spPr>
          <a:xfrm>
            <a:off x="8051800" y="3429000"/>
            <a:ext cx="269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v18-aware Gate</a:t>
            </a:r>
            <a:endParaRPr lang="zh-CN" altLang="en-US" sz="12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53E705-25E0-0813-A1A5-ED3F98D871BA}"/>
              </a:ext>
            </a:extLst>
          </p:cNvPr>
          <p:cNvSpPr txBox="1"/>
          <p:nvPr/>
        </p:nvSpPr>
        <p:spPr>
          <a:xfrm>
            <a:off x="8051800" y="3708400"/>
            <a:ext cx="2692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500" b="1">
                <a:solidFill>
                  <a:srgbClr val="DC2626"/>
                </a:solidFill>
                <a:latin typeface="Microsoft YaHei" panose="020B0503020204020204" pitchFamily="34" charset="-122"/>
              </a:rPr>
              <a:t>0.7959</a:t>
            </a:r>
            <a:endParaRPr lang="zh-CN" altLang="en-US" sz="25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FB2D0B-BD12-0B74-A97B-D67BBAD18A53}"/>
              </a:ext>
            </a:extLst>
          </p:cNvPr>
          <p:cNvSpPr txBox="1"/>
          <p:nvPr/>
        </p:nvSpPr>
        <p:spPr>
          <a:xfrm>
            <a:off x="8051800" y="41910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+0.0219 vs v18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63F46C1-55D1-2884-B0E6-A4C7699BB45C}"/>
              </a:ext>
            </a:extLst>
          </p:cNvPr>
          <p:cNvSpPr/>
          <p:nvPr/>
        </p:nvSpPr>
        <p:spPr>
          <a:xfrm>
            <a:off x="7874000" y="4800600"/>
            <a:ext cx="3048000" cy="127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F05139-0818-97AA-0DB8-6F413BC32F51}"/>
              </a:ext>
            </a:extLst>
          </p:cNvPr>
          <p:cNvSpPr txBox="1"/>
          <p:nvPr/>
        </p:nvSpPr>
        <p:spPr>
          <a:xfrm>
            <a:off x="8051800" y="4953000"/>
            <a:ext cx="269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Oracle Upper</a:t>
            </a:r>
            <a:endParaRPr lang="zh-CN" altLang="en-US" sz="12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FB01F2-B797-5596-F991-4FF3D2297128}"/>
              </a:ext>
            </a:extLst>
          </p:cNvPr>
          <p:cNvSpPr txBox="1"/>
          <p:nvPr/>
        </p:nvSpPr>
        <p:spPr>
          <a:xfrm>
            <a:off x="8051800" y="5232400"/>
            <a:ext cx="2692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500" b="1">
                <a:solidFill>
                  <a:srgbClr val="7C3AED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25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8DD5D5-2BFF-0E67-85B2-C8BAD89130A3}"/>
              </a:ext>
            </a:extLst>
          </p:cNvPr>
          <p:cNvSpPr txBox="1"/>
          <p:nvPr/>
        </p:nvSpPr>
        <p:spPr>
          <a:xfrm>
            <a:off x="8051800" y="57150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专家池上限分析</a:t>
            </a:r>
          </a:p>
        </p:txBody>
      </p:sp>
    </p:spTree>
    <p:extLst>
      <p:ext uri="{BB962C8B-B14F-4D97-AF65-F5344CB8AC3E}">
        <p14:creationId xmlns:p14="http://schemas.microsoft.com/office/powerpoint/2010/main" val="266275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B51C2DC-EAC4-D19F-3E61-6A7040A57B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6DE1AE-1970-A7B6-2DBE-9D30F355630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062E40-2F84-DA48-CF7B-F25E0F844A00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低分样本提升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5EE23E-9768-55A5-747F-35B3D6D5B336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困难样本从 </a:t>
            </a:r>
            <a:r>
              <a:rPr lang="en-US" altLang="zh-CN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0.4033 </a:t>
            </a:r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提升到 </a:t>
            </a:r>
            <a:r>
              <a:rPr lang="en-US" altLang="zh-CN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0.5319</a:t>
            </a:r>
            <a:endParaRPr lang="zh-CN" altLang="en-US" sz="30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90287E-7B95-7D5D-7C34-DA017273B713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重点不是平均分好看，而是最差样本被明显拉起。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2483678-1E45-6391-8F73-A9F0772FB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263745"/>
              </p:ext>
            </p:extLst>
          </p:nvPr>
        </p:nvGraphicFramePr>
        <p:xfrm>
          <a:off x="889000" y="1714500"/>
          <a:ext cx="10414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2166837881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144882005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741274100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2182315662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低分子集 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Dice&lt;0.60 </a:t>
                      </a: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数量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453261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0.4033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158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原始低分集合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525451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0.4683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118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通用困难样本专家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89347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Expanded gate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0.5276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91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多专家错误类型门控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231225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0.5319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97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边界偏移回退到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172060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Oracle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0.6315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61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每例选最优专家，仅作上限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93365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D892A95-07CC-3CD0-13FA-44B757C4B984}"/>
              </a:ext>
            </a:extLst>
          </p:cNvPr>
          <p:cNvSpPr txBox="1"/>
          <p:nvPr/>
        </p:nvSpPr>
        <p:spPr>
          <a:xfrm>
            <a:off x="952500" y="55245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结论：专家模型池已经有更高上限，后续真正瓶颈是「不依赖真值的门控分类器」。</a:t>
            </a:r>
          </a:p>
        </p:txBody>
      </p:sp>
    </p:spTree>
    <p:extLst>
      <p:ext uri="{BB962C8B-B14F-4D97-AF65-F5344CB8AC3E}">
        <p14:creationId xmlns:p14="http://schemas.microsoft.com/office/powerpoint/2010/main" val="4134525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81464B-A47F-822B-8F7B-F8FCD7E39C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8C4144-7F3E-A065-A4CF-4231F963CE6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8CD8F1-5E83-9BC9-7F7F-64059863DBFC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569DEF-744E-78C6-3B78-3DC70D273F47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分割效果展示：高 </a:t>
            </a:r>
            <a:r>
              <a:rPr lang="en-US" altLang="zh-CN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与低 </a:t>
            </a:r>
            <a:r>
              <a:rPr lang="en-US" altLang="zh-CN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对照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0D35FA0-F1AB-693C-1332-B41AD162141C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Original / Ground Truth / Prediction / Overlay / Error Map</a:t>
            </a:r>
            <a:endParaRPr lang="zh-CN" altLang="en-US" sz="14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AFD31DC-51E1-0A19-D3F8-CD0E0349991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51000"/>
            <a:ext cx="5334000" cy="3302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2573644-2078-30C8-82E7-58BB7B82C67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651000"/>
            <a:ext cx="5334000" cy="3302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B917F8A-37BC-A3BF-56C0-0FA9CE4DDC30}"/>
              </a:ext>
            </a:extLst>
          </p:cNvPr>
          <p:cNvSpPr txBox="1"/>
          <p:nvPr/>
        </p:nvSpPr>
        <p:spPr>
          <a:xfrm>
            <a:off x="889000" y="54356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左：高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样本，预测与标注基本一致；右：低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/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困难样本，用于分析误检、漏检和错位问题。</a:t>
            </a:r>
          </a:p>
        </p:txBody>
      </p:sp>
    </p:spTree>
    <p:extLst>
      <p:ext uri="{BB962C8B-B14F-4D97-AF65-F5344CB8AC3E}">
        <p14:creationId xmlns:p14="http://schemas.microsoft.com/office/powerpoint/2010/main" val="322024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123FEC-6387-4013-7B68-3E64A7989A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82EEE5-B1E2-727D-2BD4-FF17F8F4193F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799076-8430-4782-1ED4-09169FEA7A2E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10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3526DE-AF12-E5AE-470C-5074BD40C04F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网页版演示功能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2B8521-DD1B-1CA9-73CD-A8BD118DD1FE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本地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Web App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：上传胸片 → 模型推理 → 结果预览与下载。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42547DE-6A35-516D-A783-7B7998192997}"/>
              </a:ext>
            </a:extLst>
          </p:cNvPr>
          <p:cNvSpPr/>
          <p:nvPr/>
        </p:nvSpPr>
        <p:spPr>
          <a:xfrm>
            <a:off x="825500" y="1841500"/>
            <a:ext cx="31115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097165-8C1D-2EE2-A3F0-379B246D6429}"/>
              </a:ext>
            </a:extLst>
          </p:cNvPr>
          <p:cNvSpPr txBox="1"/>
          <p:nvPr/>
        </p:nvSpPr>
        <p:spPr>
          <a:xfrm>
            <a:off x="1028700" y="2019300"/>
            <a:ext cx="2705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输入与参数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536647-F59C-3BD1-3648-F90CEC55F54D}"/>
              </a:ext>
            </a:extLst>
          </p:cNvPr>
          <p:cNvSpPr txBox="1"/>
          <p:nvPr/>
        </p:nvSpPr>
        <p:spPr>
          <a:xfrm>
            <a:off x="1028700" y="2451100"/>
            <a:ext cx="27051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checkpoint/config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threshold / min_area / TTA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6E0E5E5-BACA-32A2-2C45-8DF952674630}"/>
              </a:ext>
            </a:extLst>
          </p:cNvPr>
          <p:cNvSpPr/>
          <p:nvPr/>
        </p:nvSpPr>
        <p:spPr>
          <a:xfrm>
            <a:off x="4533900" y="1841500"/>
            <a:ext cx="31115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2787EA-CB44-BE0A-905E-1298C2DA52FC}"/>
              </a:ext>
            </a:extLst>
          </p:cNvPr>
          <p:cNvSpPr txBox="1"/>
          <p:nvPr/>
        </p:nvSpPr>
        <p:spPr>
          <a:xfrm>
            <a:off x="4737100" y="2019300"/>
            <a:ext cx="2705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结果预览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1107BB-5361-3EDE-116C-A624BE5FFF24}"/>
              </a:ext>
            </a:extLst>
          </p:cNvPr>
          <p:cNvSpPr txBox="1"/>
          <p:nvPr/>
        </p:nvSpPr>
        <p:spPr>
          <a:xfrm>
            <a:off x="4737100" y="2451100"/>
            <a:ext cx="27051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感染面积占比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BBCD172-D7D6-CA08-39AC-53AE79B2C58F}"/>
              </a:ext>
            </a:extLst>
          </p:cNvPr>
          <p:cNvSpPr/>
          <p:nvPr/>
        </p:nvSpPr>
        <p:spPr>
          <a:xfrm>
            <a:off x="8255000" y="1841500"/>
            <a:ext cx="31115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923BFB-A6DD-6C6D-C634-6E5ACA8023E7}"/>
              </a:ext>
            </a:extLst>
          </p:cNvPr>
          <p:cNvSpPr txBox="1"/>
          <p:nvPr/>
        </p:nvSpPr>
        <p:spPr>
          <a:xfrm>
            <a:off x="8458200" y="2019300"/>
            <a:ext cx="27051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评估与保存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7B7AB5-564F-CDEA-5BFD-246ED15EDAD8}"/>
              </a:ext>
            </a:extLst>
          </p:cNvPr>
          <p:cNvSpPr txBox="1"/>
          <p:nvPr/>
        </p:nvSpPr>
        <p:spPr>
          <a:xfrm>
            <a:off x="8458200" y="2451100"/>
            <a:ext cx="27051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自动匹配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GT mask
Dice / IoU / Precision / Recall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保存到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outputs/web_infer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76F418-7993-F6F4-B8AB-B77F85824734}"/>
              </a:ext>
            </a:extLst>
          </p:cNvPr>
          <p:cNvSpPr txBox="1"/>
          <p:nvPr/>
        </p:nvSpPr>
        <p:spPr>
          <a:xfrm>
            <a:off x="952500" y="5397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启动命令：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python app_v12_web.py    </a:t>
            </a:r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访问地址：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http://127.0.0.1:8000</a:t>
            </a:r>
            <a:endParaRPr lang="zh-CN" altLang="en-US" sz="17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101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1A54C0-67ED-6525-73E5-626492FCBB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55A5DC-42A6-4A17-AD09-8F5B9711D9F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7FDD72-84EF-693E-1150-3BCEC9869184}"/>
              </a:ext>
            </a:extLst>
          </p:cNvPr>
          <p:cNvSpPr txBox="1"/>
          <p:nvPr/>
        </p:nvSpPr>
        <p:spPr>
          <a:xfrm>
            <a:off x="381000" y="889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14AB48-6E33-B1AE-15A1-6AF1CB403C20}"/>
              </a:ext>
            </a:extLst>
          </p:cNvPr>
          <p:cNvSpPr txBox="1"/>
          <p:nvPr/>
        </p:nvSpPr>
        <p:spPr>
          <a:xfrm>
            <a:off x="584200" y="6858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2937"/>
                </a:solidFill>
                <a:latin typeface="Microsoft YaHei" panose="020B0503020204020204" pitchFamily="34" charset="-122"/>
              </a:rPr>
              <a:t>项目贡献与后续工作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E2C6DB-C9B5-79AC-CD6B-44CD37839645}"/>
              </a:ext>
            </a:extLst>
          </p:cNvPr>
          <p:cNvSpPr txBox="1"/>
          <p:nvPr/>
        </p:nvSpPr>
        <p:spPr>
          <a:xfrm>
            <a:off x="622300" y="13716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围绕真实低分样本做可解释优化。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10E1CA4-FF75-D766-FE5C-80FC680467A4}"/>
              </a:ext>
            </a:extLst>
          </p:cNvPr>
          <p:cNvSpPr/>
          <p:nvPr/>
        </p:nvSpPr>
        <p:spPr>
          <a:xfrm>
            <a:off x="762000" y="1841500"/>
            <a:ext cx="3302000" cy="3111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8C8261-BCE1-10CA-AF77-0DEF397CC5E9}"/>
              </a:ext>
            </a:extLst>
          </p:cNvPr>
          <p:cNvSpPr txBox="1"/>
          <p:nvPr/>
        </p:nvSpPr>
        <p:spPr>
          <a:xfrm>
            <a:off x="965200" y="20193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主要贡献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7AD01D-AB1F-C57C-F864-BB8B45809C8D}"/>
              </a:ext>
            </a:extLst>
          </p:cNvPr>
          <p:cNvSpPr txBox="1"/>
          <p:nvPr/>
        </p:nvSpPr>
        <p:spPr>
          <a:xfrm>
            <a:off x="965200" y="2451100"/>
            <a:ext cx="28956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完成胸片感染区域分割流程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构建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可视化系统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低分样本建立错误类型分析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设计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多专家与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8C67AE4-CAF7-5D0C-E625-55E85488FCD8}"/>
              </a:ext>
            </a:extLst>
          </p:cNvPr>
          <p:cNvSpPr/>
          <p:nvPr/>
        </p:nvSpPr>
        <p:spPr>
          <a:xfrm>
            <a:off x="4445000" y="1841500"/>
            <a:ext cx="3302000" cy="3111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6BF584-7810-CCB3-46F1-17FDBBB49FD8}"/>
              </a:ext>
            </a:extLst>
          </p:cNvPr>
          <p:cNvSpPr txBox="1"/>
          <p:nvPr/>
        </p:nvSpPr>
        <p:spPr>
          <a:xfrm>
            <a:off x="4648200" y="20193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最终结果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077593-9F4D-7282-F6D2-F6BDF9656667}"/>
              </a:ext>
            </a:extLst>
          </p:cNvPr>
          <p:cNvSpPr txBox="1"/>
          <p:nvPr/>
        </p:nvSpPr>
        <p:spPr>
          <a:xfrm>
            <a:off x="4648200" y="2451100"/>
            <a:ext cx="28956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0.7959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低分子集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0.4033 → 0.5319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8850762-587C-68CF-5BC8-0A9645E579A5}"/>
              </a:ext>
            </a:extLst>
          </p:cNvPr>
          <p:cNvSpPr/>
          <p:nvPr/>
        </p:nvSpPr>
        <p:spPr>
          <a:xfrm>
            <a:off x="8128000" y="1841500"/>
            <a:ext cx="3302000" cy="3111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93145C-A075-F1C2-465C-4DC64E6648E9}"/>
              </a:ext>
            </a:extLst>
          </p:cNvPr>
          <p:cNvSpPr txBox="1"/>
          <p:nvPr/>
        </p:nvSpPr>
        <p:spPr>
          <a:xfrm>
            <a:off x="8331200" y="2019300"/>
            <a:ext cx="28956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后续改进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CC9043-C7E2-9AAE-4201-ECB824BCBD92}"/>
              </a:ext>
            </a:extLst>
          </p:cNvPr>
          <p:cNvSpPr txBox="1"/>
          <p:nvPr/>
        </p:nvSpPr>
        <p:spPr>
          <a:xfrm>
            <a:off x="8331200" y="2451100"/>
            <a:ext cx="28956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训练无真值门控分类器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增加外部数据验证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优化低分错位样本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接入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9775E3-EBB4-A756-1D2B-945A73035A05}"/>
              </a:ext>
            </a:extLst>
          </p:cNvPr>
          <p:cNvSpPr txBox="1"/>
          <p:nvPr/>
        </p:nvSpPr>
        <p:spPr>
          <a:xfrm>
            <a:off x="5207000" y="5562600"/>
            <a:ext cx="203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</a:rPr>
              <a:t>Q &amp; A</a:t>
            </a:r>
            <a:endParaRPr lang="zh-CN" altLang="en-US" sz="28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95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自定义</PresentationFormat>
  <Paragraphs>124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2026-05-20T09:03:30Z</dcterms:created>
  <dcterms:modified xsi:type="dcterms:W3CDTF">2026-05-20T09:03:30Z</dcterms:modified>
</cp:coreProperties>
</file>