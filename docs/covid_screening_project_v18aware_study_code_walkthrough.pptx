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B5B9A-1532-352A-3EE7-18118AA8C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224D13-B29C-6B9A-5668-F2332251F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EDD10-3CBF-7939-65D0-18C24527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6994C5-3A9C-A1F0-D576-5C152E3B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9D511-3E86-BBEB-7060-DFA9FF72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65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906CD-7D28-491B-2962-2ED8DC6EB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F5217-2E7A-576E-AAFF-C7DC78BCB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48AA3C-A71F-D6FA-E576-4F37133ED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ACCE74-60C7-2B21-EEBD-5BE10CEA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8966B-A5AD-6383-11BE-DDF37D24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77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C8568-DCFB-9361-B286-D4A44D47E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08F3C0-7ADA-7876-A6BE-C1E97A2A2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B79781-4F31-EF19-BFA4-8E942D93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F2D1BF-C982-7FD8-CE30-2C3B1B0A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F4BB2-83E0-CDAB-B531-2CBDC28D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B8F55-782C-7F87-71E7-ABE53A2E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AC63A-9CC7-5823-3713-63AE53FAE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C7FFF6-6799-92F5-B05E-4AAE5028C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761E71-D030-7F14-596B-2913702E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A68690-F211-0A4D-F36D-8AF5E952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5A1D0A-A6E3-22C9-1F8C-33271FC7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63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816F7-C99B-C037-F2C4-5BA110E9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617183-E8B0-128A-7206-D89F39459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6C3701-F241-85CD-11A9-9D2E7939E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A76D4E-CC3A-3C72-80C2-15D4B621E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6FA63C-AF37-2D48-AA16-0FD44F16E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382FA1-09A2-17EC-1214-932A511F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07DBD0-E5D7-8F5D-4CAB-9CA204D84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0EEF5A-7064-54D6-CCF9-38A9BED6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81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F1517-C354-7DB2-9E00-4C338C20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F9497F-CB34-6650-A3FC-B69C8020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25C92E-6AF0-C1E0-4B55-E625909F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45414B-867D-1826-D28E-6064355B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25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B48A32-CED8-5E08-A887-A8C23790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6EFB1E-02BD-B19D-94AA-CBA26A4A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3549D9-B754-F701-B889-880C464B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58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6BC45-F844-D6EE-7455-F32FED73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44BCED-7078-2621-35F2-9F88C3B35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85D6BF-9DF2-E5E4-8DC6-B95816077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E2006A-0B9F-721A-1892-B5633DC5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016298-548D-CAFB-C1A2-F22582513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1BD0C4-260F-98B8-A324-2FCB1D1E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314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4FFD6-4D8D-CBDD-6399-B9F7BA39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C114FA-56A3-5B29-49BA-4AFBADA34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F2AE27-25CC-B04A-894C-8DA9107E9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20B67A-F558-CF3A-2F6C-1521F558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621452-D7C5-DE83-5FE8-F4641688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E36C76-0F04-7F87-A748-B490452D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241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82A06-04BA-10F4-F818-D235A05D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EC1A72-45E7-801C-171F-6E9576F3D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43A39E-F870-3CCC-4C9E-81513073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512B48-D259-2C65-0661-8BA3EB04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7F2486-87F4-5CC9-FE4A-BB2E0288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56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CCD7EE-C101-928A-29FA-62FA66D90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12C62C-A4A1-A830-0D96-AB0C91808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ACE36E-BB89-661B-2FA6-CE82E198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A54DB-9E9A-CF94-DD00-1A2F4280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C20E26-58EA-70EA-FD03-D029F2E1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86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739D6E-C8C1-7FA1-7458-283A0687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44BD09-41E4-78AE-988F-6058557CE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61E15-050A-31BA-3F88-15CA1756D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06CE9-E57C-4EB1-85F1-A1D0AACA38CB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327B3B-E6B5-C3F4-B25C-3E8C3E8FF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091F1F-2207-08F1-787F-9349A3BEE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B7E80-40B8-4E8A-952D-29AAF42F0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89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809265-F2AB-3C98-61CC-6ED87AAE0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45F51F-E248-6C37-B210-5CB25C24210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E0CE08-BB55-934B-A053-57ABF29DC0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C9F2D3-8863-6EBD-6D19-8AA51CC4A493}"/>
              </a:ext>
            </a:extLst>
          </p:cNvPr>
          <p:cNvSpPr/>
          <p:nvPr/>
        </p:nvSpPr>
        <p:spPr>
          <a:xfrm>
            <a:off x="0" y="5308600"/>
            <a:ext cx="12192000" cy="15494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380467-502B-B82B-B08D-5EE43E722A73}"/>
              </a:ext>
            </a:extLst>
          </p:cNvPr>
          <p:cNvSpPr txBox="1"/>
          <p:nvPr/>
        </p:nvSpPr>
        <p:spPr>
          <a:xfrm>
            <a:off x="787400" y="1117600"/>
            <a:ext cx="10541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胸片感染区域分割系统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FB8280-A0FE-46FB-F1B2-50C8A2E03170}"/>
              </a:ext>
            </a:extLst>
          </p:cNvPr>
          <p:cNvSpPr txBox="1"/>
          <p:nvPr/>
        </p:nvSpPr>
        <p:spPr>
          <a:xfrm>
            <a:off x="838200" y="1930400"/>
            <a:ext cx="1041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>
                <a:solidFill>
                  <a:srgbClr val="CBD5E1"/>
                </a:solidFill>
                <a:latin typeface="Microsoft YaHei" panose="020B0503020204020204" pitchFamily="34" charset="-122"/>
              </a:rPr>
              <a:t>TransUNet2D v18 + LowDice </a:t>
            </a:r>
            <a:r>
              <a:rPr lang="zh-CN" altLang="en-US" sz="2000">
                <a:solidFill>
                  <a:srgbClr val="CBD5E1"/>
                </a:solidFill>
                <a:latin typeface="Microsoft YaHei" panose="020B0503020204020204" pitchFamily="34" charset="-122"/>
              </a:rPr>
              <a:t>多专家门控优化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3E3D68-873F-3632-323C-1AB3ECE57EDB}"/>
              </a:ext>
            </a:extLst>
          </p:cNvPr>
          <p:cNvSpPr txBox="1"/>
          <p:nvPr/>
        </p:nvSpPr>
        <p:spPr>
          <a:xfrm>
            <a:off x="838200" y="5715000"/>
            <a:ext cx="965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项目展示详版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PPT  |  QaTa-COV19  |  Web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可视化系统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F7A40C-38AF-5AED-C872-94A4849D68F2}"/>
              </a:ext>
            </a:extLst>
          </p:cNvPr>
          <p:cNvSpPr txBox="1"/>
          <p:nvPr/>
        </p:nvSpPr>
        <p:spPr>
          <a:xfrm>
            <a:off x="8890000" y="1066800"/>
            <a:ext cx="266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FCD34D"/>
                </a:solidFill>
                <a:latin typeface="Microsoft YaHei" panose="020B0503020204020204" pitchFamily="34" charset="-122"/>
              </a:rPr>
              <a:t>Final Dice 0.7959</a:t>
            </a:r>
            <a:endParaRPr lang="zh-CN" altLang="en-US" sz="2000" b="1">
              <a:solidFill>
                <a:srgbClr val="FCD34D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398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12321D-A59B-4A04-3E38-B173E6205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E5AF1E-BBD0-8045-0E7E-E387836A5AF5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273CDF-738C-5843-8B70-C47ED145995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7AD251-AC11-B118-719D-7AAD53D1B933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243734-0DB3-F304-E017-2C19590EEFB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展示目录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2A1EC0-EC4C-1E7E-60A5-220F0BC95E71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1DE96C-B8FA-DE16-E728-4CAE8B32487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这份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PPT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怎么讲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03DDE2-5E1B-35C9-206E-FBE1E0F8B97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按系统、模型、公式、可视化、代码五条线展开。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1608D5B-0F9E-43AB-36F6-B3EBC54EC774}"/>
              </a:ext>
            </a:extLst>
          </p:cNvPr>
          <p:cNvSpPr/>
          <p:nvPr/>
        </p:nvSpPr>
        <p:spPr>
          <a:xfrm>
            <a:off x="762000" y="1841500"/>
            <a:ext cx="3302000" cy="1333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7FEEC6-881C-0D66-999F-02493F56479C}"/>
              </a:ext>
            </a:extLst>
          </p:cNvPr>
          <p:cNvSpPr txBox="1"/>
          <p:nvPr/>
        </p:nvSpPr>
        <p:spPr>
          <a:xfrm>
            <a:off x="939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系统与数据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9E5D5A3-562E-3333-A3C3-DA1D889A0840}"/>
              </a:ext>
            </a:extLst>
          </p:cNvPr>
          <p:cNvSpPr txBox="1"/>
          <p:nvPr/>
        </p:nvSpPr>
        <p:spPr>
          <a:xfrm>
            <a:off x="939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任务目标、数据集、预处理、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系统入口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E948DD9-6577-E952-38BC-8AE5D6E635A5}"/>
              </a:ext>
            </a:extLst>
          </p:cNvPr>
          <p:cNvSpPr/>
          <p:nvPr/>
        </p:nvSpPr>
        <p:spPr>
          <a:xfrm>
            <a:off x="4445000" y="1841500"/>
            <a:ext cx="3302000" cy="1333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E8C8A4-1DB5-8384-4397-06B3FCA6BE0F}"/>
              </a:ext>
            </a:extLst>
          </p:cNvPr>
          <p:cNvSpPr txBox="1"/>
          <p:nvPr/>
        </p:nvSpPr>
        <p:spPr>
          <a:xfrm>
            <a:off x="4622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1B7BAA-6BC1-76F6-73DF-F589A86564B8}"/>
              </a:ext>
            </a:extLst>
          </p:cNvPr>
          <p:cNvSpPr txBox="1"/>
          <p:nvPr/>
        </p:nvSpPr>
        <p:spPr>
          <a:xfrm>
            <a:off x="4622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输入图像 → 模型概率图 → 阈值化 → 后处理 → 可视化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6150ACA-C4CF-03A5-6B00-BBB8A206118F}"/>
              </a:ext>
            </a:extLst>
          </p:cNvPr>
          <p:cNvSpPr/>
          <p:nvPr/>
        </p:nvSpPr>
        <p:spPr>
          <a:xfrm>
            <a:off x="8128000" y="1841500"/>
            <a:ext cx="3302000" cy="13335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2973E5-D4D3-EF62-6E00-1C785BFBC44C}"/>
              </a:ext>
            </a:extLst>
          </p:cNvPr>
          <p:cNvSpPr txBox="1"/>
          <p:nvPr/>
        </p:nvSpPr>
        <p:spPr>
          <a:xfrm>
            <a:off x="8305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模型优化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E6C23C-6305-DF0E-0514-0368945AB0A2}"/>
              </a:ext>
            </a:extLst>
          </p:cNvPr>
          <p:cNvSpPr txBox="1"/>
          <p:nvPr/>
        </p:nvSpPr>
        <p:spPr>
          <a:xfrm>
            <a:off x="8305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基线、低分样本分析、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门控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9847817-F269-2076-36CD-11BEF21D540D}"/>
              </a:ext>
            </a:extLst>
          </p:cNvPr>
          <p:cNvSpPr/>
          <p:nvPr/>
        </p:nvSpPr>
        <p:spPr>
          <a:xfrm>
            <a:off x="762000" y="3683000"/>
            <a:ext cx="3302000" cy="13335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6C5EBD9-3CF4-E471-BAC4-5946FB2D0CF4}"/>
              </a:ext>
            </a:extLst>
          </p:cNvPr>
          <p:cNvSpPr txBox="1"/>
          <p:nvPr/>
        </p:nvSpPr>
        <p:spPr>
          <a:xfrm>
            <a:off x="939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评价公式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1C382B-591B-FD90-DDF4-B1BC64A49192}"/>
              </a:ext>
            </a:extLst>
          </p:cNvPr>
          <p:cNvSpPr txBox="1"/>
          <p:nvPr/>
        </p:nvSpPr>
        <p:spPr>
          <a:xfrm>
            <a:off x="939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、损失函数和字母含义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0EE84CA-ABF7-4747-A97E-014C2546734E}"/>
              </a:ext>
            </a:extLst>
          </p:cNvPr>
          <p:cNvSpPr/>
          <p:nvPr/>
        </p:nvSpPr>
        <p:spPr>
          <a:xfrm>
            <a:off x="4445000" y="3683000"/>
            <a:ext cx="3302000" cy="1333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BFBFFF-0ED0-1904-53EF-154EB1A494EA}"/>
              </a:ext>
            </a:extLst>
          </p:cNvPr>
          <p:cNvSpPr txBox="1"/>
          <p:nvPr/>
        </p:nvSpPr>
        <p:spPr>
          <a:xfrm>
            <a:off x="4622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实验展示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3EC18F5-AD39-91FA-4303-531F7E4A7B9D}"/>
              </a:ext>
            </a:extLst>
          </p:cNvPr>
          <p:cNvSpPr txBox="1"/>
          <p:nvPr/>
        </p:nvSpPr>
        <p:spPr>
          <a:xfrm>
            <a:off x="4622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定量对比、低分样本提升、颜色图例、误差图说明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D545E3E-251F-41E6-AE2F-48D7DD81A15D}"/>
              </a:ext>
            </a:extLst>
          </p:cNvPr>
          <p:cNvSpPr/>
          <p:nvPr/>
        </p:nvSpPr>
        <p:spPr>
          <a:xfrm>
            <a:off x="8128000" y="3683000"/>
            <a:ext cx="3302000" cy="1333500"/>
          </a:xfrm>
          <a:prstGeom prst="round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6D179C9-C5D4-131B-34CE-FA1478D43BAD}"/>
              </a:ext>
            </a:extLst>
          </p:cNvPr>
          <p:cNvSpPr txBox="1"/>
          <p:nvPr/>
        </p:nvSpPr>
        <p:spPr>
          <a:xfrm>
            <a:off x="8305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6.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关键代码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4C03025-7118-EEF0-8361-FD769D49BB5A}"/>
              </a:ext>
            </a:extLst>
          </p:cNvPr>
          <p:cNvSpPr txBox="1"/>
          <p:nvPr/>
        </p:nvSpPr>
        <p:spPr>
          <a:xfrm>
            <a:off x="8305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模型先验、门控路由、推理后处理、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调用</a:t>
            </a:r>
          </a:p>
        </p:txBody>
      </p:sp>
    </p:spTree>
    <p:extLst>
      <p:ext uri="{BB962C8B-B14F-4D97-AF65-F5344CB8AC3E}">
        <p14:creationId xmlns:p14="http://schemas.microsoft.com/office/powerpoint/2010/main" val="2496503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5030E3-8D85-B211-672A-4DD260C3B1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F0138E-FEB5-9DCC-5986-8F05B7035F1E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CF3A6A-6256-7B99-CA4D-6D1EC796190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257E4F-CD20-9AE2-9F5D-1B324AB9BC2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0411E2-6295-B155-3976-01BD7582898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项目目标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B1C3DA-9C81-ABE7-2ACE-F5BFF53702B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DFCD0F-4F94-4E48-BF51-803D7302B44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要解决的问题是什么？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6A986B-E5F2-48F3-52C7-64E35C1BFF5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给定一张胸片，自动找出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感染区域。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9992943-3FAC-3E7A-46D8-47C5AB48B2CA}"/>
              </a:ext>
            </a:extLst>
          </p:cNvPr>
          <p:cNvSpPr/>
          <p:nvPr/>
        </p:nvSpPr>
        <p:spPr>
          <a:xfrm>
            <a:off x="825500" y="1905000"/>
            <a:ext cx="3175000" cy="2921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66A7D0-CD64-249A-123A-AA30BDDD19B7}"/>
              </a:ext>
            </a:extLst>
          </p:cNvPr>
          <p:cNvSpPr txBox="1"/>
          <p:nvPr/>
        </p:nvSpPr>
        <p:spPr>
          <a:xfrm>
            <a:off x="1003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CC329C-03D5-F45B-47A6-7B00EE24DF35}"/>
              </a:ext>
            </a:extLst>
          </p:cNvPr>
          <p:cNvSpPr txBox="1"/>
          <p:nvPr/>
        </p:nvSpPr>
        <p:spPr>
          <a:xfrm>
            <a:off x="1003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光图像
格式：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 / JPG / 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来源：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QaTa-COV19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9D53532-3694-EE2E-6758-E36B4BB6E088}"/>
              </a:ext>
            </a:extLst>
          </p:cNvPr>
          <p:cNvSpPr/>
          <p:nvPr/>
        </p:nvSpPr>
        <p:spPr>
          <a:xfrm>
            <a:off x="4508500" y="1905000"/>
            <a:ext cx="3175000" cy="2921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459A82-3299-E8A3-790E-BA442779BC73}"/>
              </a:ext>
            </a:extLst>
          </p:cNvPr>
          <p:cNvSpPr txBox="1"/>
          <p:nvPr/>
        </p:nvSpPr>
        <p:spPr>
          <a:xfrm>
            <a:off x="4686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算法输出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6146BC-4179-45B2-5D7F-9593C4F1C05E}"/>
              </a:ext>
            </a:extLst>
          </p:cNvPr>
          <p:cNvSpPr txBox="1"/>
          <p:nvPr/>
        </p:nvSpPr>
        <p:spPr>
          <a:xfrm>
            <a:off x="4686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像素级感染概率图
二值感染掩码
病灶面积占比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121FE9C-653C-83B1-3CFE-68682C945DD3}"/>
              </a:ext>
            </a:extLst>
          </p:cNvPr>
          <p:cNvSpPr/>
          <p:nvPr/>
        </p:nvSpPr>
        <p:spPr>
          <a:xfrm>
            <a:off x="8191500" y="1905000"/>
            <a:ext cx="3175000" cy="2921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BF6BB8-652F-10E5-C199-4CD3CB2A60E5}"/>
              </a:ext>
            </a:extLst>
          </p:cNvPr>
          <p:cNvSpPr txBox="1"/>
          <p:nvPr/>
        </p:nvSpPr>
        <p:spPr>
          <a:xfrm>
            <a:off x="8369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展示输出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3573CB-2767-8AA3-AF34-80D41E722367}"/>
              </a:ext>
            </a:extLst>
          </p:cNvPr>
          <p:cNvSpPr txBox="1"/>
          <p:nvPr/>
        </p:nvSpPr>
        <p:spPr>
          <a:xfrm>
            <a:off x="8369300" y="2476500"/>
            <a:ext cx="2819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Error Map
Dice / IoU / Precision / Recall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04B3E52-DF8D-1FC9-739C-193AC3231F19}"/>
              </a:ext>
            </a:extLst>
          </p:cNvPr>
          <p:cNvCxnSpPr/>
          <p:nvPr/>
        </p:nvCxnSpPr>
        <p:spPr>
          <a:xfrm>
            <a:off x="4000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9C1C660-F998-921C-E865-4C634AA40113}"/>
              </a:ext>
            </a:extLst>
          </p:cNvPr>
          <p:cNvCxnSpPr/>
          <p:nvPr/>
        </p:nvCxnSpPr>
        <p:spPr>
          <a:xfrm>
            <a:off x="7683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6245256-FCA7-DE26-5081-0CC4A387B8EB}"/>
              </a:ext>
            </a:extLst>
          </p:cNvPr>
          <p:cNvSpPr txBox="1"/>
          <p:nvPr/>
        </p:nvSpPr>
        <p:spPr>
          <a:xfrm>
            <a:off x="952500" y="5461000"/>
            <a:ext cx="1028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DC2626"/>
                </a:solidFill>
                <a:latin typeface="Microsoft YaHei" panose="020B0503020204020204" pitchFamily="34" charset="-122"/>
              </a:rPr>
              <a:t>核心难点：病灶区域小、边界模糊、灰度与肺纹理接近，容易误检或漏检。</a:t>
            </a:r>
          </a:p>
        </p:txBody>
      </p:sp>
    </p:spTree>
    <p:extLst>
      <p:ext uri="{BB962C8B-B14F-4D97-AF65-F5344CB8AC3E}">
        <p14:creationId xmlns:p14="http://schemas.microsoft.com/office/powerpoint/2010/main" val="15346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52062A-6058-8A8E-14D9-78FD802850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266C83-97C7-F683-0E01-D89640C6BCF5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875B04-5FCD-9A7C-FB43-AB8BAE8A9CD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D95EB6-55DD-8CC0-0C7F-94771359FF9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477FBD-AAD0-9625-7FF4-D47E220ACA0E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系统架构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3A511E-757C-AB83-8122-376810C21299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EB5941-EC38-2907-5E0B-E6935DA7811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系统由四层组成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AFD1E9-4DAB-59D1-815C-845EC8B1D9B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数据层、模型层、评估层、展示层。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3BAA9B8-55AF-46CC-A738-8FE57B0F4E2E}"/>
              </a:ext>
            </a:extLst>
          </p:cNvPr>
          <p:cNvSpPr/>
          <p:nvPr/>
        </p:nvSpPr>
        <p:spPr>
          <a:xfrm>
            <a:off x="825500" y="1714500"/>
            <a:ext cx="2286000" cy="3175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FAA0A6-E9C9-A2BB-1BC6-04DF6B54A452}"/>
              </a:ext>
            </a:extLst>
          </p:cNvPr>
          <p:cNvSpPr txBox="1"/>
          <p:nvPr/>
        </p:nvSpPr>
        <p:spPr>
          <a:xfrm>
            <a:off x="1003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数据层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53A991-510C-DF47-3ED7-57EB6BC88273}"/>
              </a:ext>
            </a:extLst>
          </p:cNvPr>
          <p:cNvSpPr txBox="1"/>
          <p:nvPr/>
        </p:nvSpPr>
        <p:spPr>
          <a:xfrm>
            <a:off x="1003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raw images
GT masks
NPZ cache
manifest.csv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7D1A005-CA54-7362-F5B6-D0FEFCB03D8A}"/>
              </a:ext>
            </a:extLst>
          </p:cNvPr>
          <p:cNvSpPr/>
          <p:nvPr/>
        </p:nvSpPr>
        <p:spPr>
          <a:xfrm>
            <a:off x="3492500" y="1714500"/>
            <a:ext cx="2286000" cy="3175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DF82EC-48BB-57CB-29DE-FB0572232FC0}"/>
              </a:ext>
            </a:extLst>
          </p:cNvPr>
          <p:cNvSpPr txBox="1"/>
          <p:nvPr/>
        </p:nvSpPr>
        <p:spPr>
          <a:xfrm>
            <a:off x="3670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2524E1-6C15-0027-83FB-ED3CF51A5D3B}"/>
              </a:ext>
            </a:extLst>
          </p:cNvPr>
          <p:cNvSpPr txBox="1"/>
          <p:nvPr/>
        </p:nvSpPr>
        <p:spPr>
          <a:xfrm>
            <a:off x="3670300" y="22860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TransUNet2D v18
LowDice experts
threshold / min_area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5320FE6-4FD7-0AC1-A8B2-0BABB03D5ED1}"/>
              </a:ext>
            </a:extLst>
          </p:cNvPr>
          <p:cNvSpPr/>
          <p:nvPr/>
        </p:nvSpPr>
        <p:spPr>
          <a:xfrm>
            <a:off x="6159500" y="1714500"/>
            <a:ext cx="2286000" cy="31750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A47CFA-415C-53C2-C5F5-259B69E5C063}"/>
              </a:ext>
            </a:extLst>
          </p:cNvPr>
          <p:cNvSpPr txBox="1"/>
          <p:nvPr/>
        </p:nvSpPr>
        <p:spPr>
          <a:xfrm>
            <a:off x="6337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4140C0-FB5B-6AC4-27B4-98F551A50D63}"/>
              </a:ext>
            </a:extLst>
          </p:cNvPr>
          <p:cNvSpPr txBox="1"/>
          <p:nvPr/>
        </p:nvSpPr>
        <p:spPr>
          <a:xfrm>
            <a:off x="6337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/ IoU
Precision / Recall
low-dice analysis
expert gate eval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38044E0-A971-A130-A491-9D309A0A1898}"/>
              </a:ext>
            </a:extLst>
          </p:cNvPr>
          <p:cNvSpPr/>
          <p:nvPr/>
        </p:nvSpPr>
        <p:spPr>
          <a:xfrm>
            <a:off x="8826500" y="1714500"/>
            <a:ext cx="2286000" cy="3175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8C24C1-12C3-9BD1-1AAA-C586D6589509}"/>
              </a:ext>
            </a:extLst>
          </p:cNvPr>
          <p:cNvSpPr txBox="1"/>
          <p:nvPr/>
        </p:nvSpPr>
        <p:spPr>
          <a:xfrm>
            <a:off x="9004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68E9EE-6832-7FAF-481C-C1F815E0C6AF}"/>
              </a:ext>
            </a:extLst>
          </p:cNvPr>
          <p:cNvSpPr txBox="1"/>
          <p:nvPr/>
        </p:nvSpPr>
        <p:spPr>
          <a:xfrm>
            <a:off x="9004300" y="2286000"/>
            <a:ext cx="1930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web/index.html
app_v12_web.py
Original / Mask / Overlay
Download outputs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DE4507A-69A4-8BB4-C6A4-207C2D52091C}"/>
              </a:ext>
            </a:extLst>
          </p:cNvPr>
          <p:cNvCxnSpPr/>
          <p:nvPr/>
        </p:nvCxnSpPr>
        <p:spPr>
          <a:xfrm>
            <a:off x="3111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244AE96-4778-1E3C-70E4-94EC15B74466}"/>
              </a:ext>
            </a:extLst>
          </p:cNvPr>
          <p:cNvCxnSpPr/>
          <p:nvPr/>
        </p:nvCxnSpPr>
        <p:spPr>
          <a:xfrm>
            <a:off x="5778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4FDF082-D095-A4B5-0DD9-C00DE1CF2EFE}"/>
              </a:ext>
            </a:extLst>
          </p:cNvPr>
          <p:cNvCxnSpPr/>
          <p:nvPr/>
        </p:nvCxnSpPr>
        <p:spPr>
          <a:xfrm>
            <a:off x="8445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076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B575D6-299C-877A-BF67-F50FDDD6B1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29E2D8-CCD0-8871-A4C7-C4221C5BBD7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0E7426-31F1-8B4A-8E76-36411B72D9A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4ECB01-444B-223F-CF3E-AE056EBB447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780C81-D1AB-07E3-07CE-3455896BD53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数据集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5ABAAC-BFA1-9006-2E37-082CF9B0843D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1A7AF6-73AA-2409-E4FE-611B11A1AE7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QaTa-COV19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数据与划分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88DB02-025B-FE3E-3CC6-2C69F28DAD1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以胸片图像和人工感染区域标注为监督信号。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79E3574-71C6-983D-A8DD-CA7A4BB1023A}"/>
              </a:ext>
            </a:extLst>
          </p:cNvPr>
          <p:cNvSpPr/>
          <p:nvPr/>
        </p:nvSpPr>
        <p:spPr>
          <a:xfrm>
            <a:off x="762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A4ABC6-CB60-64F3-69FD-D4BA1AC34EB7}"/>
              </a:ext>
            </a:extLst>
          </p:cNvPr>
          <p:cNvSpPr txBox="1"/>
          <p:nvPr/>
        </p:nvSpPr>
        <p:spPr>
          <a:xfrm>
            <a:off x="939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总样本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E94421-DD32-423D-8DF3-E9F2A01B45B2}"/>
              </a:ext>
            </a:extLst>
          </p:cNvPr>
          <p:cNvSpPr txBox="1"/>
          <p:nvPr/>
        </p:nvSpPr>
        <p:spPr>
          <a:xfrm>
            <a:off x="939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9258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45BA95-CF3B-6A75-3022-79764969A722}"/>
              </a:ext>
            </a:extLst>
          </p:cNvPr>
          <p:cNvSpPr txBox="1"/>
          <p:nvPr/>
        </p:nvSpPr>
        <p:spPr>
          <a:xfrm>
            <a:off x="939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全部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manifest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记录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1A643AA-A86E-9C9E-991B-805A5B5A67B7}"/>
              </a:ext>
            </a:extLst>
          </p:cNvPr>
          <p:cNvSpPr/>
          <p:nvPr/>
        </p:nvSpPr>
        <p:spPr>
          <a:xfrm>
            <a:off x="3556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BECFC2-1B62-A46E-689A-E86F1A42AEEE}"/>
              </a:ext>
            </a:extLst>
          </p:cNvPr>
          <p:cNvSpPr txBox="1"/>
          <p:nvPr/>
        </p:nvSpPr>
        <p:spPr>
          <a:xfrm>
            <a:off x="3733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训练集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BB14B7D-C328-9D7D-16DC-2BCB682F7167}"/>
              </a:ext>
            </a:extLst>
          </p:cNvPr>
          <p:cNvSpPr txBox="1"/>
          <p:nvPr/>
        </p:nvSpPr>
        <p:spPr>
          <a:xfrm>
            <a:off x="3733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059669"/>
                </a:solidFill>
                <a:latin typeface="Microsoft YaHei" panose="020B0503020204020204" pitchFamily="34" charset="-122"/>
              </a:rPr>
              <a:t>7406</a:t>
            </a:r>
            <a:endParaRPr lang="zh-CN" altLang="en-US" sz="24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C54CC1-12AB-1E67-C27A-1421BBD69B3F}"/>
              </a:ext>
            </a:extLst>
          </p:cNvPr>
          <p:cNvSpPr txBox="1"/>
          <p:nvPr/>
        </p:nvSpPr>
        <p:spPr>
          <a:xfrm>
            <a:off x="3733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用于模型拟合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090C7E3-02C8-A2FB-A952-80419325C739}"/>
              </a:ext>
            </a:extLst>
          </p:cNvPr>
          <p:cNvSpPr/>
          <p:nvPr/>
        </p:nvSpPr>
        <p:spPr>
          <a:xfrm>
            <a:off x="6350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1AB9873-D634-ADD7-696E-E0F228B479A0}"/>
              </a:ext>
            </a:extLst>
          </p:cNvPr>
          <p:cNvSpPr txBox="1"/>
          <p:nvPr/>
        </p:nvSpPr>
        <p:spPr>
          <a:xfrm>
            <a:off x="6527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验证集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5170D14-D10F-6D19-E40B-248FF03F249A}"/>
              </a:ext>
            </a:extLst>
          </p:cNvPr>
          <p:cNvSpPr txBox="1"/>
          <p:nvPr/>
        </p:nvSpPr>
        <p:spPr>
          <a:xfrm>
            <a:off x="6527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925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DBF6E6-FB1A-01BC-B510-3FB2EF6DA23D}"/>
              </a:ext>
            </a:extLst>
          </p:cNvPr>
          <p:cNvSpPr txBox="1"/>
          <p:nvPr/>
        </p:nvSpPr>
        <p:spPr>
          <a:xfrm>
            <a:off x="6527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用于阈值和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checkpoint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选择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F720015-955B-C65B-4F67-4F58088B1510}"/>
              </a:ext>
            </a:extLst>
          </p:cNvPr>
          <p:cNvSpPr/>
          <p:nvPr/>
        </p:nvSpPr>
        <p:spPr>
          <a:xfrm>
            <a:off x="9144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B21B91-2EFA-AFBF-957C-010B62367F10}"/>
              </a:ext>
            </a:extLst>
          </p:cNvPr>
          <p:cNvSpPr txBox="1"/>
          <p:nvPr/>
        </p:nvSpPr>
        <p:spPr>
          <a:xfrm>
            <a:off x="9321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测试集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315F9EA-DBB9-0082-D225-77B35E6DAEDC}"/>
              </a:ext>
            </a:extLst>
          </p:cNvPr>
          <p:cNvSpPr txBox="1"/>
          <p:nvPr/>
        </p:nvSpPr>
        <p:spPr>
          <a:xfrm>
            <a:off x="9321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927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42E0505-9456-9108-B63A-E938BD2E6AB2}"/>
              </a:ext>
            </a:extLst>
          </p:cNvPr>
          <p:cNvSpPr txBox="1"/>
          <p:nvPr/>
        </p:nvSpPr>
        <p:spPr>
          <a:xfrm>
            <a:off x="9321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最终评估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2387AA-3CD6-4716-258B-EF02C3449F56}"/>
              </a:ext>
            </a:extLst>
          </p:cNvPr>
          <p:cNvSpPr txBox="1"/>
          <p:nvPr/>
        </p:nvSpPr>
        <p:spPr>
          <a:xfrm>
            <a:off x="914400" y="38100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每条数据包含：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id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split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。训练时读取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中的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D6B4DC4-40ED-44FD-6E4E-1C72CC4CDB79}"/>
              </a:ext>
            </a:extLst>
          </p:cNvPr>
          <p:cNvSpPr txBox="1"/>
          <p:nvPr/>
        </p:nvSpPr>
        <p:spPr>
          <a:xfrm>
            <a:off x="914400" y="4572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为什么要单独保留测试集：避免用测试样本调参，保证最终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具有对比意义。</a:t>
            </a:r>
          </a:p>
        </p:txBody>
      </p:sp>
    </p:spTree>
    <p:extLst>
      <p:ext uri="{BB962C8B-B14F-4D97-AF65-F5344CB8AC3E}">
        <p14:creationId xmlns:p14="http://schemas.microsoft.com/office/powerpoint/2010/main" val="355930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BB2154-0BA3-5617-937D-0AA8CC6997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63A562-7B18-CAA4-7B1B-CC0E08B13C1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00DC5A-CADE-703A-506F-2B7659A8F4B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8FB1CE-C7D9-40DD-50F0-BACA864BC0F8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0F43EB-80DC-A360-A9BD-5BCB58EB50F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预处理流程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9025AE-DFCE-7BE1-B978-071CD0CBCF5A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8A07BE-37BD-4A77-A185-06D7C63B36E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图像进入模型前做了什么？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1C45D7-A09C-B2F1-D0C2-BCAB218260F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统一输入尺度和数值范围，保证模型训练稳定。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6FE9A4A-64A6-2BB4-7A01-47776D8E0BB4}"/>
              </a:ext>
            </a:extLst>
          </p:cNvPr>
          <p:cNvSpPr/>
          <p:nvPr/>
        </p:nvSpPr>
        <p:spPr>
          <a:xfrm>
            <a:off x="571500" y="1905000"/>
            <a:ext cx="2095500" cy="2476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558C23-8801-2BFE-A586-305EA57EA301}"/>
              </a:ext>
            </a:extLst>
          </p:cNvPr>
          <p:cNvSpPr txBox="1"/>
          <p:nvPr/>
        </p:nvSpPr>
        <p:spPr>
          <a:xfrm>
            <a:off x="749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读取图像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F8A8A1-A1BD-3191-2899-D815F5AA44D0}"/>
              </a:ext>
            </a:extLst>
          </p:cNvPr>
          <p:cNvSpPr txBox="1"/>
          <p:nvPr/>
        </p:nvSpPr>
        <p:spPr>
          <a:xfrm>
            <a:off x="749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PIL/OpenCV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读取
转灰度图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79AF899-3FC7-99CF-F5BA-2581C4213EFA}"/>
              </a:ext>
            </a:extLst>
          </p:cNvPr>
          <p:cNvSpPr/>
          <p:nvPr/>
        </p:nvSpPr>
        <p:spPr>
          <a:xfrm>
            <a:off x="2984500" y="1905000"/>
            <a:ext cx="2095500" cy="2476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A3EC2D-AFBF-0CB7-5DB8-01C8960CA26E}"/>
              </a:ext>
            </a:extLst>
          </p:cNvPr>
          <p:cNvSpPr txBox="1"/>
          <p:nvPr/>
        </p:nvSpPr>
        <p:spPr>
          <a:xfrm>
            <a:off x="3162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归一化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0D25AF-300A-F6DA-35FE-D0E492A39572}"/>
              </a:ext>
            </a:extLst>
          </p:cNvPr>
          <p:cNvSpPr txBox="1"/>
          <p:nvPr/>
        </p:nvSpPr>
        <p:spPr>
          <a:xfrm>
            <a:off x="3162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像素缩放到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[0,1]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减少曝光差异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BDD2074-AB27-3A89-1C6D-DE5FDA968904}"/>
              </a:ext>
            </a:extLst>
          </p:cNvPr>
          <p:cNvSpPr/>
          <p:nvPr/>
        </p:nvSpPr>
        <p:spPr>
          <a:xfrm>
            <a:off x="5397500" y="1905000"/>
            <a:ext cx="2095500" cy="24765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2E92B0-C9A9-AFBF-3218-933921326D62}"/>
              </a:ext>
            </a:extLst>
          </p:cNvPr>
          <p:cNvSpPr txBox="1"/>
          <p:nvPr/>
        </p:nvSpPr>
        <p:spPr>
          <a:xfrm>
            <a:off x="5575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尺寸统一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675700-A046-059E-7229-6E7D319E1F06}"/>
              </a:ext>
            </a:extLst>
          </p:cNvPr>
          <p:cNvSpPr txBox="1"/>
          <p:nvPr/>
        </p:nvSpPr>
        <p:spPr>
          <a:xfrm>
            <a:off x="5575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Resize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224×224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形成固定输入张量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FE891F-F528-77C0-F30B-00B3B7C02350}"/>
              </a:ext>
            </a:extLst>
          </p:cNvPr>
          <p:cNvSpPr/>
          <p:nvPr/>
        </p:nvSpPr>
        <p:spPr>
          <a:xfrm>
            <a:off x="7810500" y="1905000"/>
            <a:ext cx="2095500" cy="24765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45D25D-7454-DC3F-C889-443EDCEAB1E1}"/>
              </a:ext>
            </a:extLst>
          </p:cNvPr>
          <p:cNvSpPr txBox="1"/>
          <p:nvPr/>
        </p:nvSpPr>
        <p:spPr>
          <a:xfrm>
            <a:off x="7988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Mask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二值化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A4AEDD-3A70-796B-9172-E31503817E4E}"/>
              </a:ext>
            </a:extLst>
          </p:cNvPr>
          <p:cNvSpPr txBox="1"/>
          <p:nvPr/>
        </p:nvSpPr>
        <p:spPr>
          <a:xfrm>
            <a:off x="7988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感染区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=1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背景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=0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C90087C-9E25-9753-3FC4-C6A920202A34}"/>
              </a:ext>
            </a:extLst>
          </p:cNvPr>
          <p:cNvSpPr/>
          <p:nvPr/>
        </p:nvSpPr>
        <p:spPr>
          <a:xfrm>
            <a:off x="10223500" y="1905000"/>
            <a:ext cx="1397000" cy="2476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CB0CB2-3EB0-21E6-176E-C220D591579B}"/>
              </a:ext>
            </a:extLst>
          </p:cNvPr>
          <p:cNvSpPr txBox="1"/>
          <p:nvPr/>
        </p:nvSpPr>
        <p:spPr>
          <a:xfrm>
            <a:off x="10401300" y="2057400"/>
            <a:ext cx="1041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存储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452A6D-C3C7-093C-8B2D-8BC3A0786685}"/>
              </a:ext>
            </a:extLst>
          </p:cNvPr>
          <p:cNvSpPr txBox="1"/>
          <p:nvPr/>
        </p:nvSpPr>
        <p:spPr>
          <a:xfrm>
            <a:off x="10401300" y="2476500"/>
            <a:ext cx="104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NPZ
manifest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231EC42-6413-D401-2347-6B2194607AB1}"/>
              </a:ext>
            </a:extLst>
          </p:cNvPr>
          <p:cNvCxnSpPr/>
          <p:nvPr/>
        </p:nvCxnSpPr>
        <p:spPr>
          <a:xfrm>
            <a:off x="2667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FF670D6-7E4E-F8C1-80B2-9308D49BCF22}"/>
              </a:ext>
            </a:extLst>
          </p:cNvPr>
          <p:cNvCxnSpPr/>
          <p:nvPr/>
        </p:nvCxnSpPr>
        <p:spPr>
          <a:xfrm>
            <a:off x="5080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0F58086-95C7-35AB-6DA7-8E851EBDA704}"/>
              </a:ext>
            </a:extLst>
          </p:cNvPr>
          <p:cNvCxnSpPr/>
          <p:nvPr/>
        </p:nvCxnSpPr>
        <p:spPr>
          <a:xfrm>
            <a:off x="7493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0692898-1419-5E4C-F3CA-B6E1617D5F27}"/>
              </a:ext>
            </a:extLst>
          </p:cNvPr>
          <p:cNvCxnSpPr/>
          <p:nvPr/>
        </p:nvCxnSpPr>
        <p:spPr>
          <a:xfrm>
            <a:off x="9906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534669C-D3FB-E45B-DDB4-473410812FC5}"/>
              </a:ext>
            </a:extLst>
          </p:cNvPr>
          <p:cNvSpPr txBox="1"/>
          <p:nvPr/>
        </p:nvSpPr>
        <p:spPr>
          <a:xfrm>
            <a:off x="889000" y="5143500"/>
            <a:ext cx="10541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训练增强：水平翻转、亮度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对比度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/Gamma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、轻微噪声；避免垂直翻转破坏胸片上下结构。</a:t>
            </a:r>
          </a:p>
        </p:txBody>
      </p:sp>
    </p:spTree>
    <p:extLst>
      <p:ext uri="{BB962C8B-B14F-4D97-AF65-F5344CB8AC3E}">
        <p14:creationId xmlns:p14="http://schemas.microsoft.com/office/powerpoint/2010/main" val="2636753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304845-E339-0EA7-7DB7-7B9FE50B97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C5D209-B88F-F685-9B2C-CF38A2C7716E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BAF067-27BF-554B-8A8A-60185C04CCB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79B5B0-419C-09FD-BE3B-DF6E3786DD7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19CFC1-CA55-9819-B98D-9E85D2EF948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C5EEC3-B266-6CC0-8DB8-4F4E25CF0DA6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B4A278-C979-CC39-6B40-E99E1A4A5947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从概率图到最终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Mask</a:t>
            </a:r>
            <a:endParaRPr lang="zh-CN" altLang="en-US" sz="29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968712-C59C-94D8-3FD7-E6344628F9A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模型输出不是直接结果，还需要阈值化和后处理。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6096006-A0BF-44D5-D7DE-F1E457688118}"/>
              </a:ext>
            </a:extLst>
          </p:cNvPr>
          <p:cNvSpPr/>
          <p:nvPr/>
        </p:nvSpPr>
        <p:spPr>
          <a:xfrm>
            <a:off x="698500" y="1905000"/>
            <a:ext cx="2286000" cy="2794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AC7B04-23F1-EB3C-0489-1B59C887AC5A}"/>
              </a:ext>
            </a:extLst>
          </p:cNvPr>
          <p:cNvSpPr txBox="1"/>
          <p:nvPr/>
        </p:nvSpPr>
        <p:spPr>
          <a:xfrm>
            <a:off x="876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1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模型前向传播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22F439-F675-42CF-69B0-F28BED8AE2AB}"/>
              </a:ext>
            </a:extLst>
          </p:cNvPr>
          <p:cNvSpPr txBox="1"/>
          <p:nvPr/>
        </p:nvSpPr>
        <p:spPr>
          <a:xfrm>
            <a:off x="876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logits Z
Sigmoid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得概率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CEE19F8-19F0-2317-2829-E0969DE42436}"/>
              </a:ext>
            </a:extLst>
          </p:cNvPr>
          <p:cNvSpPr/>
          <p:nvPr/>
        </p:nvSpPr>
        <p:spPr>
          <a:xfrm>
            <a:off x="3492500" y="1905000"/>
            <a:ext cx="2286000" cy="2794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36BF15F-5D9E-D6AB-A217-AD2D40E65681}"/>
              </a:ext>
            </a:extLst>
          </p:cNvPr>
          <p:cNvSpPr txBox="1"/>
          <p:nvPr/>
        </p:nvSpPr>
        <p:spPr>
          <a:xfrm>
            <a:off x="3670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2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阈值化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CDFD9B-0A82-BEC1-9E85-9D7FB5509A77}"/>
              </a:ext>
            </a:extLst>
          </p:cNvPr>
          <p:cNvSpPr txBox="1"/>
          <p:nvPr/>
        </p:nvSpPr>
        <p:spPr>
          <a:xfrm>
            <a:off x="3670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P(x,y) &gt; τ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则预测为感染区域
否则为背景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CBC6DEC-94A3-E719-F7D4-CBD4C45649CC}"/>
              </a:ext>
            </a:extLst>
          </p:cNvPr>
          <p:cNvSpPr/>
          <p:nvPr/>
        </p:nvSpPr>
        <p:spPr>
          <a:xfrm>
            <a:off x="6286500" y="1905000"/>
            <a:ext cx="2286000" cy="2794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3D632B-0174-988F-40FD-B0512B3A0EB9}"/>
              </a:ext>
            </a:extLst>
          </p:cNvPr>
          <p:cNvSpPr txBox="1"/>
          <p:nvPr/>
        </p:nvSpPr>
        <p:spPr>
          <a:xfrm>
            <a:off x="6464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3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65CD9D-403E-28E8-E2B1-096AA57393EC}"/>
              </a:ext>
            </a:extLst>
          </p:cNvPr>
          <p:cNvSpPr txBox="1"/>
          <p:nvPr/>
        </p:nvSpPr>
        <p:spPr>
          <a:xfrm>
            <a:off x="6464300" y="24765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删除面积小于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min_area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的小碎片，降低噪声误检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480DB2C-DEEC-6E8B-3EB6-93ADD42F06F3}"/>
              </a:ext>
            </a:extLst>
          </p:cNvPr>
          <p:cNvSpPr/>
          <p:nvPr/>
        </p:nvSpPr>
        <p:spPr>
          <a:xfrm>
            <a:off x="9080500" y="1905000"/>
            <a:ext cx="2286000" cy="27940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BD96AA-4332-CC8F-B0E3-B6C7082E7685}"/>
              </a:ext>
            </a:extLst>
          </p:cNvPr>
          <p:cNvSpPr txBox="1"/>
          <p:nvPr/>
        </p:nvSpPr>
        <p:spPr>
          <a:xfrm>
            <a:off x="9258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4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可视化与评估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B97C70-4485-9B36-31A5-3F2B2765A1C8}"/>
              </a:ext>
            </a:extLst>
          </p:cNvPr>
          <p:cNvSpPr txBox="1"/>
          <p:nvPr/>
        </p:nvSpPr>
        <p:spPr>
          <a:xfrm>
            <a:off x="9258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Mask / Overlay / Error Map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计算四个指标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92CC870-02DA-E029-D824-EC419E7861D1}"/>
              </a:ext>
            </a:extLst>
          </p:cNvPr>
          <p:cNvCxnSpPr/>
          <p:nvPr/>
        </p:nvCxnSpPr>
        <p:spPr>
          <a:xfrm>
            <a:off x="2984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CBD15B3-3B2E-A8D4-6F25-6B2A5B1DED55}"/>
              </a:ext>
            </a:extLst>
          </p:cNvPr>
          <p:cNvCxnSpPr/>
          <p:nvPr/>
        </p:nvCxnSpPr>
        <p:spPr>
          <a:xfrm>
            <a:off x="5778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25A1E71-E7FB-C5F3-A457-DFC89BD2D386}"/>
              </a:ext>
            </a:extLst>
          </p:cNvPr>
          <p:cNvCxnSpPr/>
          <p:nvPr/>
        </p:nvCxnSpPr>
        <p:spPr>
          <a:xfrm>
            <a:off x="8572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24E52572-9097-B112-7938-E62F381E2069}"/>
              </a:ext>
            </a:extLst>
          </p:cNvPr>
          <p:cNvSpPr txBox="1"/>
          <p:nvPr/>
        </p:nvSpPr>
        <p:spPr>
          <a:xfrm>
            <a:off x="889000" y="5334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本项目最终阈值不是固定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0.5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，而是在验证集上搜索；不同专家模型有各自最优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threshold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min_area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04283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446638-2F68-94F2-E539-633B376FB3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362BE4-D18A-C4F3-3EE4-3BE85D0CC7C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42D2FE-88C3-3090-7907-9987534E615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2375BB-90BC-E8CB-2C4A-6EB6216BD842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DEAC5E-559A-8B3C-DCC7-97929CF5C16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后处理公式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1CA6B3-FAF9-70C4-444D-7CCBF409D3E1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32C720-5395-3561-602C-20A6D517F2B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二值化和连通域过滤怎么算？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0DDF62-2530-8EF6-6115-50D1EAE5FF8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这一步决定最终感染面积和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结果。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6EF6CD-74CB-6270-F4D3-0B477B60191B}"/>
              </a:ext>
            </a:extLst>
          </p:cNvPr>
          <p:cNvSpPr txBox="1"/>
          <p:nvPr/>
        </p:nvSpPr>
        <p:spPr>
          <a:xfrm>
            <a:off x="889000" y="1841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概率图：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E03728-7BC1-80D4-78B5-E7D80FB2A2BC}"/>
              </a:ext>
            </a:extLst>
          </p:cNvPr>
          <p:cNvSpPr txBox="1"/>
          <p:nvPr/>
        </p:nvSpPr>
        <p:spPr>
          <a:xfrm>
            <a:off x="2794000" y="1841500"/>
            <a:ext cx="787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P(x,y) = sigmoid(Z(x,y))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98F600-F275-8BAB-4A01-7DBE45A27EE5}"/>
              </a:ext>
            </a:extLst>
          </p:cNvPr>
          <p:cNvSpPr txBox="1"/>
          <p:nvPr/>
        </p:nvSpPr>
        <p:spPr>
          <a:xfrm>
            <a:off x="889000" y="2603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 </a:t>
            </a:r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F7257F-F973-27A3-DCB7-EA4583E5D965}"/>
              </a:ext>
            </a:extLst>
          </p:cNvPr>
          <p:cNvSpPr txBox="1"/>
          <p:nvPr/>
        </p:nvSpPr>
        <p:spPr>
          <a:xfrm>
            <a:off x="2794000" y="2603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b="1">
                <a:solidFill>
                  <a:srgbClr val="DC2626"/>
                </a:solidFill>
                <a:latin typeface="Microsoft YaHei" panose="020B0503020204020204" pitchFamily="34" charset="-122"/>
              </a:rPr>
              <a:t>M_hat(x,y) = 1, if P(x,y) &gt; tau;  otherwise 0</a:t>
            </a:r>
            <a:endParaRPr lang="zh-CN" altLang="en-US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102634-BCE3-41D3-ECB5-99175582AF1D}"/>
              </a:ext>
            </a:extLst>
          </p:cNvPr>
          <p:cNvSpPr txBox="1"/>
          <p:nvPr/>
        </p:nvSpPr>
        <p:spPr>
          <a:xfrm>
            <a:off x="889000" y="3365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422562-8A64-B030-2D59-9ACE717FA802}"/>
              </a:ext>
            </a:extLst>
          </p:cNvPr>
          <p:cNvSpPr txBox="1"/>
          <p:nvPr/>
        </p:nvSpPr>
        <p:spPr>
          <a:xfrm>
            <a:off x="2794000" y="3365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删除面积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Area(C_i) &lt; min_area </a:t>
            </a:r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的预测连通块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C_i</a:t>
            </a:r>
            <a:endParaRPr lang="zh-CN" altLang="en-US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0BA0949-9612-2A33-2904-0AF9ED876575}"/>
              </a:ext>
            </a:extLst>
          </p:cNvPr>
          <p:cNvSpPr/>
          <p:nvPr/>
        </p:nvSpPr>
        <p:spPr>
          <a:xfrm>
            <a:off x="1143000" y="4381500"/>
            <a:ext cx="2921000" cy="1206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361080-C2B5-DACE-C2C1-135A5B2EC10A}"/>
              </a:ext>
            </a:extLst>
          </p:cNvPr>
          <p:cNvSpPr txBox="1"/>
          <p:nvPr/>
        </p:nvSpPr>
        <p:spPr>
          <a:xfrm>
            <a:off x="1320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P(x,y)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0F27824-11FE-1816-96DB-92D203F32636}"/>
              </a:ext>
            </a:extLst>
          </p:cNvPr>
          <p:cNvSpPr txBox="1"/>
          <p:nvPr/>
        </p:nvSpPr>
        <p:spPr>
          <a:xfrm>
            <a:off x="1320800" y="4953000"/>
            <a:ext cx="2565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(x,y)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属于感染区域的概率。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93C1C63-3537-AA4C-AA5D-7A0E4CE2DE2B}"/>
              </a:ext>
            </a:extLst>
          </p:cNvPr>
          <p:cNvSpPr/>
          <p:nvPr/>
        </p:nvSpPr>
        <p:spPr>
          <a:xfrm>
            <a:off x="4635500" y="4381500"/>
            <a:ext cx="2921000" cy="12065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B5EB51-FA7C-E256-DD11-E1BC3FD4516D}"/>
              </a:ext>
            </a:extLst>
          </p:cNvPr>
          <p:cNvSpPr txBox="1"/>
          <p:nvPr/>
        </p:nvSpPr>
        <p:spPr>
          <a:xfrm>
            <a:off x="48133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tau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A8DEF9-B40B-2715-65B7-40F30FB98D98}"/>
              </a:ext>
            </a:extLst>
          </p:cNvPr>
          <p:cNvSpPr txBox="1"/>
          <p:nvPr/>
        </p:nvSpPr>
        <p:spPr>
          <a:xfrm>
            <a:off x="48133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阈值。越高越保守，误检减少但漏检可能增加。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BBC53BA-B70B-B24E-99DF-8B2CC2B95C7A}"/>
              </a:ext>
            </a:extLst>
          </p:cNvPr>
          <p:cNvSpPr/>
          <p:nvPr/>
        </p:nvSpPr>
        <p:spPr>
          <a:xfrm>
            <a:off x="8128000" y="4381500"/>
            <a:ext cx="2921000" cy="1206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215486-58C7-484A-EEB1-DFF2705D84C6}"/>
              </a:ext>
            </a:extLst>
          </p:cNvPr>
          <p:cNvSpPr txBox="1"/>
          <p:nvPr/>
        </p:nvSpPr>
        <p:spPr>
          <a:xfrm>
            <a:off x="8305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min_area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3F33537-0B4D-9185-8774-22F8687FD825}"/>
              </a:ext>
            </a:extLst>
          </p:cNvPr>
          <p:cNvSpPr txBox="1"/>
          <p:nvPr/>
        </p:nvSpPr>
        <p:spPr>
          <a:xfrm>
            <a:off x="83058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最小连通域面积。用于过滤小噪声点。</a:t>
            </a:r>
          </a:p>
        </p:txBody>
      </p:sp>
    </p:spTree>
    <p:extLst>
      <p:ext uri="{BB962C8B-B14F-4D97-AF65-F5344CB8AC3E}">
        <p14:creationId xmlns:p14="http://schemas.microsoft.com/office/powerpoint/2010/main" val="841214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F60418-047B-AFC6-0F53-4DC4D3AB37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920E35-99AC-15BD-B2FA-008B4AB5A19D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DB5122-8DCB-A0DE-A8F6-3C9B63AB354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647019-ECF1-2636-2DF4-4449F45882E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B867AD-3A01-CC1E-1A5E-AE921E610C4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模型迭代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EC0C16-2CD2-91D7-F373-E9958CD17B5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2B6F1D-7715-06BC-8AAD-BC8280DF251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模型路线为什么从单模型转向多专家？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1B48F7-B5F4-E598-1312-A062DFC1061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单一结构改进提升有限，错误类型拆解更有效。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08AC87-DFC0-96C6-8600-9EDCD13C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915178"/>
              </p:ext>
            </p:extLst>
          </p:nvPr>
        </p:nvGraphicFramePr>
        <p:xfrm>
          <a:off x="698500" y="1905000"/>
          <a:ext cx="10795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0">
                  <a:extLst>
                    <a:ext uri="{9D8B030D-6E8A-4147-A177-3AD203B41FA5}">
                      <a16:colId xmlns:a16="http://schemas.microsoft.com/office/drawing/2014/main" val="3950196151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614222013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147370312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2388757863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阶段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代表方案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结论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555059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基础模型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U-Net / DynUNet / Attention U-Net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建立分割基线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可用但性能有限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438097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v11-v20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窗口注意力、边界、频域、先验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部分提升不稳定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24967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传统融合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利用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与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互补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393478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最终优化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按低分错误类型选择专家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384583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53D44AB-7A81-A6B2-5024-E5FFC56C5987}"/>
              </a:ext>
            </a:extLst>
          </p:cNvPr>
          <p:cNvSpPr txBox="1"/>
          <p:nvPr/>
        </p:nvSpPr>
        <p:spPr>
          <a:xfrm>
            <a:off x="889000" y="5461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工程判断：如果某类错误反复出现，就针对这类错误训练专家，而不是继续把所有问题塞给一个模型。</a:t>
            </a:r>
          </a:p>
        </p:txBody>
      </p:sp>
    </p:spTree>
    <p:extLst>
      <p:ext uri="{BB962C8B-B14F-4D97-AF65-F5344CB8AC3E}">
        <p14:creationId xmlns:p14="http://schemas.microsoft.com/office/powerpoint/2010/main" val="411112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1BBF5B-1CA6-DB0D-7CA1-8FFC607899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133C81-DFDB-DCBA-0F92-AC7CBA14F23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559A49-A0BA-0A91-9C20-7BD12CA67E3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E3E821-1C87-62D5-1EB3-DDDD57BCAAB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C5EAAF-BD2C-9DFB-A2FB-F7A7B89197B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主要模型改动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EA6CDC-40C8-9B23-F0B8-2D435A50D2AE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02E744-8879-E0BD-7DE7-334003A359C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主要模型到底改在哪里？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FCF6E4-6541-974C-386D-958AE809026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最终版不是只改一个网络文件，而是模型结构、训练损失、低分数据划分和门控策略一起改。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8540175-E00F-6C32-E0D9-682156E3D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081385"/>
              </p:ext>
            </p:extLst>
          </p:nvPr>
        </p:nvGraphicFramePr>
        <p:xfrm>
          <a:off x="482600" y="1778000"/>
          <a:ext cx="11226801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267">
                  <a:extLst>
                    <a:ext uri="{9D8B030D-6E8A-4147-A177-3AD203B41FA5}">
                      <a16:colId xmlns:a16="http://schemas.microsoft.com/office/drawing/2014/main" val="3231796715"/>
                    </a:ext>
                  </a:extLst>
                </a:gridCol>
                <a:gridCol w="3742267">
                  <a:extLst>
                    <a:ext uri="{9D8B030D-6E8A-4147-A177-3AD203B41FA5}">
                      <a16:colId xmlns:a16="http://schemas.microsoft.com/office/drawing/2014/main" val="1604774140"/>
                    </a:ext>
                  </a:extLst>
                </a:gridCol>
                <a:gridCol w="3742267">
                  <a:extLst>
                    <a:ext uri="{9D8B030D-6E8A-4147-A177-3AD203B41FA5}">
                      <a16:colId xmlns:a16="http://schemas.microsoft.com/office/drawing/2014/main" val="4818513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改动位置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具体内容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解决的问题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84526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src/models/lowdice_refinenet2d.py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LowDiceRefineNet2D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：边缘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频域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坐标先验，高分辨率解码，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SE/ASPP/AttentionMerge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给低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样本单独建专家模型。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546439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src/train_unet2d_qata.py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precision_hard_case_combo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recall_hard_case_combo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boundary_shift_combo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不同专家使用不同损失倾向。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350267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scripts/build_qata_v18_error_expert_manifests.py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的实际错误把低分样本拆成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 / actual_fn / actual_boundary / actual_all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让训练集和错误类型对应起来。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351518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scripts/eval_lowdice_expert_gate.py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gate_choice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实现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路由，按错误类型选择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或对应专家。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避免平均融合，把每个样本交给更合适的模型。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36114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C55A8D-FBCF-3624-0D52-AC2FCD89CF67}"/>
              </a:ext>
            </a:extLst>
          </p:cNvPr>
          <p:cNvSpPr/>
          <p:nvPr/>
        </p:nvSpPr>
        <p:spPr>
          <a:xfrm>
            <a:off x="1397000" y="5715000"/>
            <a:ext cx="9398000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777BDE-E5C7-D732-8E96-6B40A4903A55}"/>
              </a:ext>
            </a:extLst>
          </p:cNvPr>
          <p:cNvSpPr txBox="1"/>
          <p:nvPr/>
        </p:nvSpPr>
        <p:spPr>
          <a:xfrm>
            <a:off x="1574800" y="5867400"/>
            <a:ext cx="904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zh-CN" altLang="en-US" sz="1500" b="1" dirty="0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E0AB77-6200-0A27-CF4D-39BEC37854A6}"/>
              </a:ext>
            </a:extLst>
          </p:cNvPr>
          <p:cNvSpPr txBox="1"/>
          <p:nvPr/>
        </p:nvSpPr>
        <p:spPr>
          <a:xfrm>
            <a:off x="1574800" y="5901491"/>
            <a:ext cx="9042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最终模型改动点是 </a:t>
            </a:r>
            <a:r>
              <a:rPr lang="en-US" altLang="zh-CN" sz="1200" dirty="0" err="1">
                <a:solidFill>
                  <a:srgbClr val="334155"/>
                </a:solidFill>
                <a:latin typeface="Microsoft YaHei" panose="020B0503020204020204" pitchFamily="34" charset="-122"/>
              </a:rPr>
              <a:t>LowDice</a:t>
            </a:r>
            <a:r>
              <a:rPr lang="en-US" altLang="zh-CN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专家池 </a:t>
            </a:r>
            <a:r>
              <a:rPr lang="en-US" altLang="zh-CN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+ v18-aware </a:t>
            </a:r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门控路由，不是单纯把 </a:t>
            </a:r>
            <a:r>
              <a:rPr lang="en-US" altLang="zh-CN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</a:rPr>
              <a:t>换成一个新模型。</a:t>
            </a:r>
          </a:p>
        </p:txBody>
      </p:sp>
    </p:spTree>
    <p:extLst>
      <p:ext uri="{BB962C8B-B14F-4D97-AF65-F5344CB8AC3E}">
        <p14:creationId xmlns:p14="http://schemas.microsoft.com/office/powerpoint/2010/main" val="301401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485583-18BA-148D-52B6-E7A232DA91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096DA8-1C61-7D94-4798-B4898E10533A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85497D-E5E5-0165-0738-FDEC00292CB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D121F6-05E5-96F5-0314-E1485338EB7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9618FF-F828-1ACD-833C-081BB662BB3E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09 v18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基线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5F0723-DEBA-D2A9-DA96-3F9BA5E0AC9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58C58B-B144-E47C-3B71-2451A9ACA24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TransUNet2D v18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扮演什么角色？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DA83A4-4DFF-D057-A5AC-88723E12FD01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它是最终门控策略的基准模型和常规样本默认输出。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5D59AB-107A-0EBA-B401-D81CB46753F5}"/>
              </a:ext>
            </a:extLst>
          </p:cNvPr>
          <p:cNvSpPr/>
          <p:nvPr/>
        </p:nvSpPr>
        <p:spPr>
          <a:xfrm>
            <a:off x="952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FEB5C1-D41A-0B4B-FB97-AEBFC6AF82B2}"/>
              </a:ext>
            </a:extLst>
          </p:cNvPr>
          <p:cNvSpPr txBox="1"/>
          <p:nvPr/>
        </p:nvSpPr>
        <p:spPr>
          <a:xfrm>
            <a:off x="1130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1B2703-AFFF-B07B-2C11-218CD074ADE8}"/>
              </a:ext>
            </a:extLst>
          </p:cNvPr>
          <p:cNvSpPr txBox="1"/>
          <p:nvPr/>
        </p:nvSpPr>
        <p:spPr>
          <a:xfrm>
            <a:off x="1130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6B3E94-16EF-A6A1-CD4D-7380233FFC8E}"/>
              </a:ext>
            </a:extLst>
          </p:cNvPr>
          <p:cNvSpPr txBox="1"/>
          <p:nvPr/>
        </p:nvSpPr>
        <p:spPr>
          <a:xfrm>
            <a:off x="1130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177B05C-D19B-727E-AC46-4B1E78AFBD78}"/>
              </a:ext>
            </a:extLst>
          </p:cNvPr>
          <p:cNvSpPr/>
          <p:nvPr/>
        </p:nvSpPr>
        <p:spPr>
          <a:xfrm>
            <a:off x="46990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823C27-AB5B-1598-4DDF-1F871E0988A3}"/>
              </a:ext>
            </a:extLst>
          </p:cNvPr>
          <p:cNvSpPr txBox="1"/>
          <p:nvPr/>
        </p:nvSpPr>
        <p:spPr>
          <a:xfrm>
            <a:off x="48768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低分样本数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96AEC2-5E45-8932-C5A9-F98233F8CB14}"/>
              </a:ext>
            </a:extLst>
          </p:cNvPr>
          <p:cNvSpPr txBox="1"/>
          <p:nvPr/>
        </p:nvSpPr>
        <p:spPr>
          <a:xfrm>
            <a:off x="48768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158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6090B3-3D52-4959-841A-83FAC052C729}"/>
              </a:ext>
            </a:extLst>
          </p:cNvPr>
          <p:cNvSpPr txBox="1"/>
          <p:nvPr/>
        </p:nvSpPr>
        <p:spPr>
          <a:xfrm>
            <a:off x="48768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 &lt; 0.60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0EDEF7C-E264-C3C6-E932-30ECA3764451}"/>
              </a:ext>
            </a:extLst>
          </p:cNvPr>
          <p:cNvSpPr/>
          <p:nvPr/>
        </p:nvSpPr>
        <p:spPr>
          <a:xfrm>
            <a:off x="8445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7F584E-49D9-0D6F-BEF4-64BB40ABF363}"/>
              </a:ext>
            </a:extLst>
          </p:cNvPr>
          <p:cNvSpPr txBox="1"/>
          <p:nvPr/>
        </p:nvSpPr>
        <p:spPr>
          <a:xfrm>
            <a:off x="8623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低分均值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722C61-0700-7E01-4695-E51840B6EB6F}"/>
              </a:ext>
            </a:extLst>
          </p:cNvPr>
          <p:cNvSpPr txBox="1"/>
          <p:nvPr/>
        </p:nvSpPr>
        <p:spPr>
          <a:xfrm>
            <a:off x="8623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0.4033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707BCC-E707-75B5-1013-1A930D3D2AD5}"/>
              </a:ext>
            </a:extLst>
          </p:cNvPr>
          <p:cNvSpPr txBox="1"/>
          <p:nvPr/>
        </p:nvSpPr>
        <p:spPr>
          <a:xfrm>
            <a:off x="8623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困难样本平均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5A14EA9-2C47-AB11-7F37-04CEB0C80D8A}"/>
              </a:ext>
            </a:extLst>
          </p:cNvPr>
          <p:cNvSpPr/>
          <p:nvPr/>
        </p:nvSpPr>
        <p:spPr>
          <a:xfrm>
            <a:off x="1270000" y="3937000"/>
            <a:ext cx="9652000" cy="1270000"/>
          </a:xfrm>
          <a:prstGeom prst="roundRect">
            <a:avLst/>
          </a:prstGeom>
          <a:solidFill>
            <a:srgbClr val="E2E8F0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AE9230-D473-5570-4801-49E2CF34DCDD}"/>
              </a:ext>
            </a:extLst>
          </p:cNvPr>
          <p:cNvSpPr txBox="1"/>
          <p:nvPr/>
        </p:nvSpPr>
        <p:spPr>
          <a:xfrm>
            <a:off x="1447800" y="40894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为什么还保留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82AB25D-21B2-2FF4-D6FD-A18F1434072F}"/>
              </a:ext>
            </a:extLst>
          </p:cNvPr>
          <p:cNvSpPr txBox="1"/>
          <p:nvPr/>
        </p:nvSpPr>
        <p:spPr>
          <a:xfrm>
            <a:off x="1447800" y="4508500"/>
            <a:ext cx="929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虽然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在低分样本上不够好，但它在部分边界偏移样本上比专家更稳。因此最终策略不是完全替换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，而是让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成为可回退的专家之一。</a:t>
            </a:r>
          </a:p>
        </p:txBody>
      </p:sp>
    </p:spTree>
    <p:extLst>
      <p:ext uri="{BB962C8B-B14F-4D97-AF65-F5344CB8AC3E}">
        <p14:creationId xmlns:p14="http://schemas.microsoft.com/office/powerpoint/2010/main" val="1923265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362051-49A1-13CA-B67D-248BBB4637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05AB42-9AA0-AC87-E30D-569FF515AEEA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D0BBFF-F59B-51B3-C4F9-A8A3CABE1E9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43A567-F024-2CD1-0FFC-C4BB112FC50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E74B8A-1E48-52FD-A9AE-954F9C4121B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CD5376-EEF5-A669-3A0E-C1CCDF84331E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7ADAEA-82BA-76B3-C8F5-EA8478A2D3BE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158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个低分样本错在哪里？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8E1EF8-128B-9392-9743-65FB1039C29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用错误类型决定训练哪些专家。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3906761-1A64-83A3-0A9D-6BC736170F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51000"/>
            <a:ext cx="6096000" cy="342900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E89F121-6CF2-DF3E-A34F-AA963A0FDEF1}"/>
              </a:ext>
            </a:extLst>
          </p:cNvPr>
          <p:cNvSpPr/>
          <p:nvPr/>
        </p:nvSpPr>
        <p:spPr>
          <a:xfrm>
            <a:off x="7493000" y="1714500"/>
            <a:ext cx="3810000" cy="8255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B07F6A-E183-902E-2176-B3A54F6D77EF}"/>
              </a:ext>
            </a:extLst>
          </p:cNvPr>
          <p:cNvSpPr txBox="1"/>
          <p:nvPr/>
        </p:nvSpPr>
        <p:spPr>
          <a:xfrm>
            <a:off x="7670800" y="1866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boundary_or_shift_error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59B7DC-A698-ABD3-FE00-928944B2B6C2}"/>
              </a:ext>
            </a:extLst>
          </p:cNvPr>
          <p:cNvSpPr txBox="1"/>
          <p:nvPr/>
        </p:nvSpPr>
        <p:spPr>
          <a:xfrm>
            <a:off x="7670800" y="2286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49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例：大体位置对，但边界偏移。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62E11C1-CA6A-9778-D2D3-DA3ED69FAAED}"/>
              </a:ext>
            </a:extLst>
          </p:cNvPr>
          <p:cNvSpPr/>
          <p:nvPr/>
        </p:nvSpPr>
        <p:spPr>
          <a:xfrm>
            <a:off x="7493000" y="2730500"/>
            <a:ext cx="3810000" cy="8255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DF4723-D13F-FC4F-4B21-1049182C4390}"/>
              </a:ext>
            </a:extLst>
          </p:cNvPr>
          <p:cNvSpPr txBox="1"/>
          <p:nvPr/>
        </p:nvSpPr>
        <p:spPr>
          <a:xfrm>
            <a:off x="7670800" y="2882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over_segmented_fp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24333D-5692-7330-9F83-740CE9103552}"/>
              </a:ext>
            </a:extLst>
          </p:cNvPr>
          <p:cNvSpPr txBox="1"/>
          <p:nvPr/>
        </p:nvSpPr>
        <p:spPr>
          <a:xfrm>
            <a:off x="7670800" y="3302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42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例：预测过大，假阳性多。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FB9307E-EF4B-D69B-69D0-BBAFD381F7FB}"/>
              </a:ext>
            </a:extLst>
          </p:cNvPr>
          <p:cNvSpPr/>
          <p:nvPr/>
        </p:nvSpPr>
        <p:spPr>
          <a:xfrm>
            <a:off x="7493000" y="3746500"/>
            <a:ext cx="3810000" cy="8255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F65C03-4CED-9ED4-B8A7-42A9FE219143}"/>
              </a:ext>
            </a:extLst>
          </p:cNvPr>
          <p:cNvSpPr txBox="1"/>
          <p:nvPr/>
        </p:nvSpPr>
        <p:spPr>
          <a:xfrm>
            <a:off x="7670800" y="3898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under / missed FN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92A7CD-B4AF-9A0A-1AB2-B69952DFC058}"/>
              </a:ext>
            </a:extLst>
          </p:cNvPr>
          <p:cNvSpPr txBox="1"/>
          <p:nvPr/>
        </p:nvSpPr>
        <p:spPr>
          <a:xfrm>
            <a:off x="7670800" y="4318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54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例：病灶覆盖不足或完全漏掉。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D2FB43E-75F2-A21F-D5B3-6A4B1A7E82C7}"/>
              </a:ext>
            </a:extLst>
          </p:cNvPr>
          <p:cNvSpPr/>
          <p:nvPr/>
        </p:nvSpPr>
        <p:spPr>
          <a:xfrm>
            <a:off x="7493000" y="4762500"/>
            <a:ext cx="3810000" cy="8255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DB9DD4-68DA-0464-0407-2E1032B9F535}"/>
              </a:ext>
            </a:extLst>
          </p:cNvPr>
          <p:cNvSpPr txBox="1"/>
          <p:nvPr/>
        </p:nvSpPr>
        <p:spPr>
          <a:xfrm>
            <a:off x="7670800" y="4914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wrong_location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B568CA-668B-C479-2936-3F12CDC199CC}"/>
              </a:ext>
            </a:extLst>
          </p:cNvPr>
          <p:cNvSpPr txBox="1"/>
          <p:nvPr/>
        </p:nvSpPr>
        <p:spPr>
          <a:xfrm>
            <a:off x="7670800" y="5334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例：预测区域与真值几乎无重叠。</a:t>
            </a:r>
          </a:p>
        </p:txBody>
      </p:sp>
    </p:spTree>
    <p:extLst>
      <p:ext uri="{BB962C8B-B14F-4D97-AF65-F5344CB8AC3E}">
        <p14:creationId xmlns:p14="http://schemas.microsoft.com/office/powerpoint/2010/main" val="108587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A2F9FB-8007-7554-6B84-C12411FEF0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3F081D-CD08-5BA9-0FDA-7B8236BF21DF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8A4E0B-2AEF-C3B1-A395-B7A5D6119CB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20B7A1-3776-F8C0-0A03-7D9DC7559CF1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07413A-C7EC-D9D6-640E-233C7F90787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11 LowDice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专家池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B038FE-3F1D-BA37-C583-DEEE849E7ED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E40146-9C34-6843-FB6E-F5F767A5F47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每个专家具体解决什么问题？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499AA3-645A-7E14-A040-10FCB51FC176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不同专家不是分数都高，而是在特定错误类型上更合适。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3D846CE-9721-E496-1A71-FDAAD2AB0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590676"/>
              </p:ext>
            </p:extLst>
          </p:nvPr>
        </p:nvGraphicFramePr>
        <p:xfrm>
          <a:off x="571500" y="1714500"/>
          <a:ext cx="11049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84117331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52415644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198024102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87613740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专家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训练目标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适合错误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92948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broad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低分样本通用纠错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多数困难样本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稳健替换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72032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减少假阳性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过分割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让预测更保守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66744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提高召回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明显漏检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扩大病灶覆盖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24493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边界与质心约束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细化边缘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39048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actual-fp/fn/boundary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实际错误划分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极端低分样本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针对性更强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976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271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738C8D-9D75-D234-6E4D-36A4FF4625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E257A2-D8AE-2F7D-76D0-44CD2A0454C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FC5FBC-D9AF-F3A4-D422-B639315D5A25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D0838-C2E6-BFA7-3761-C9EC19ACBBB3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1C03B2-EB9A-7032-6871-D0C98B0F794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最终优化策略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78C0C2-BAEB-1AE0-E306-0B1366658D5B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73D39E-ED56-D3AA-A4E6-D2E51D077414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是什么意思？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718E64-E42E-2E8C-8867-1006B20B69C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不是平均融合，而是按错误类型选择模型。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AA0D4B0-92CF-4F52-58E1-E198F4FFF36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87500"/>
            <a:ext cx="11049000" cy="3937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3F77507-E488-B708-5D2B-2E47B50519E3}"/>
              </a:ext>
            </a:extLst>
          </p:cNvPr>
          <p:cNvSpPr txBox="1"/>
          <p:nvPr/>
        </p:nvSpPr>
        <p:spPr>
          <a:xfrm>
            <a:off x="787400" y="58420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核心思想：先让 </a:t>
            </a:r>
            <a:r>
              <a:rPr lang="en-US" altLang="zh-CN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给出基线，再对低分困难样本按错误类型选择更合适的专家输出。</a:t>
            </a:r>
          </a:p>
        </p:txBody>
      </p:sp>
    </p:spTree>
    <p:extLst>
      <p:ext uri="{BB962C8B-B14F-4D97-AF65-F5344CB8AC3E}">
        <p14:creationId xmlns:p14="http://schemas.microsoft.com/office/powerpoint/2010/main" val="2174385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DD370A-546B-8BE6-768F-EF0BDFB0EB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9CB9E7-F80A-D0EF-E5B1-8A6DCBC08B6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F96BE6-6E65-E982-FEF7-6A3B1AFCC74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0B26B5-178C-7B7D-B23F-4716733CB4FC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CE00AB-8C17-DAD3-30C8-BF9AE8654FC4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门控规则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17DB9F-717C-E245-F2AC-397F5BED2B9B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C5E0F8-C8C7-4126-8ECA-F727D544165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每种错误路由到哪个专家？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3C9D75-928A-24F6-1B7A-5D8ACA1D2DD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这张表就是最终优化策略的含义。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16AB0AF-42ED-1CE7-102C-0B4044010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743400"/>
              </p:ext>
            </p:extLst>
          </p:nvPr>
        </p:nvGraphicFramePr>
        <p:xfrm>
          <a:off x="571500" y="1651000"/>
          <a:ext cx="11049000" cy="4254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161379681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3845463153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605225220"/>
                    </a:ext>
                  </a:extLst>
                </a:gridCol>
              </a:tblGrid>
              <a:tr h="607786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错误类型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优先模型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为什么这样选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559116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boundary_or_shift_error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这类样本位置基本对，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边界更稳，避免专家过修正。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707438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over_segmented_fp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预测区域过大，需要更强的误检抑制。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560759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under_segmented_fn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actual_fn / boundary / 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真实病灶没覆盖够，需要提高召回或补边界。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778817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mostly_missed_fn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大面积漏检时优先用召回专家。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001154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wrong_location_no_overlap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actual_boundary / 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预测错位，优先用实际错位样本训练出的专家。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294006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missed_all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actual_all / actual_fn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完全漏掉时用整体低分专家或漏检专家。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945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763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198385-7374-9F94-798F-9D58B624C6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648C32-120A-C85F-14CA-9200CBFEA454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E42070-3456-8C70-0322-0CAECCF224D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820109-B2B6-B2BB-A987-FCD2F254EA4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AFA50F-249F-0A05-970E-CDA5BB015BA4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BB3698-4F4A-38E6-3E5F-2CDFAA04C13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D4C09C-3668-25A9-FA6A-AD8F5D3A2087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为什么要用四个指标？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CE3534-46E7-A948-120D-42EF3371729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单看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不够，需要同时看误检和漏检。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91AB887-7657-B8FB-BAF9-57F6A6637DD5}"/>
              </a:ext>
            </a:extLst>
          </p:cNvPr>
          <p:cNvSpPr/>
          <p:nvPr/>
        </p:nvSpPr>
        <p:spPr>
          <a:xfrm>
            <a:off x="889000" y="1905000"/>
            <a:ext cx="2413000" cy="2413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1AE927-A7F0-C83D-4EB0-FAA8CBA4FFEF}"/>
              </a:ext>
            </a:extLst>
          </p:cNvPr>
          <p:cNvSpPr txBox="1"/>
          <p:nvPr/>
        </p:nvSpPr>
        <p:spPr>
          <a:xfrm>
            <a:off x="1066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FF0E75-0299-EA45-F6AA-0091AAFC28FC}"/>
              </a:ext>
            </a:extLst>
          </p:cNvPr>
          <p:cNvSpPr txBox="1"/>
          <p:nvPr/>
        </p:nvSpPr>
        <p:spPr>
          <a:xfrm>
            <a:off x="1066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衡量预测区域与真实区域的重叠程度。医学分割最常用。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B0491C6-6FAC-0F2E-596E-EA0305467B98}"/>
              </a:ext>
            </a:extLst>
          </p:cNvPr>
          <p:cNvSpPr/>
          <p:nvPr/>
        </p:nvSpPr>
        <p:spPr>
          <a:xfrm>
            <a:off x="3619500" y="1905000"/>
            <a:ext cx="2413000" cy="2413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1A9BC7-39F2-EED7-C6B5-85AB17D2126A}"/>
              </a:ext>
            </a:extLst>
          </p:cNvPr>
          <p:cNvSpPr txBox="1"/>
          <p:nvPr/>
        </p:nvSpPr>
        <p:spPr>
          <a:xfrm>
            <a:off x="3797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5D0C6B-5EBE-71E7-8F63-9FFC1C4AF497}"/>
              </a:ext>
            </a:extLst>
          </p:cNvPr>
          <p:cNvSpPr txBox="1"/>
          <p:nvPr/>
        </p:nvSpPr>
        <p:spPr>
          <a:xfrm>
            <a:off x="3797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交并比，比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更严格，对边界偏移更敏感。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085F06-3CE7-BE5B-F045-4490DC5AA2C7}"/>
              </a:ext>
            </a:extLst>
          </p:cNvPr>
          <p:cNvSpPr/>
          <p:nvPr/>
        </p:nvSpPr>
        <p:spPr>
          <a:xfrm>
            <a:off x="6350000" y="1905000"/>
            <a:ext cx="2413000" cy="2413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297755-35A7-E5F9-CF9D-273EB7C319AC}"/>
              </a:ext>
            </a:extLst>
          </p:cNvPr>
          <p:cNvSpPr txBox="1"/>
          <p:nvPr/>
        </p:nvSpPr>
        <p:spPr>
          <a:xfrm>
            <a:off x="6527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2D1312-F125-4097-ED64-111129612848}"/>
              </a:ext>
            </a:extLst>
          </p:cNvPr>
          <p:cNvSpPr txBox="1"/>
          <p:nvPr/>
        </p:nvSpPr>
        <p:spPr>
          <a:xfrm>
            <a:off x="6527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预测为病灶的像素中，有多少是真的。低则误检多。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02A1C4E-2C31-2893-9DF7-D1A17436B569}"/>
              </a:ext>
            </a:extLst>
          </p:cNvPr>
          <p:cNvSpPr/>
          <p:nvPr/>
        </p:nvSpPr>
        <p:spPr>
          <a:xfrm>
            <a:off x="9080500" y="1905000"/>
            <a:ext cx="2413000" cy="24130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BA8EC3-7764-8DE6-6CEC-E39F3FCC8A62}"/>
              </a:ext>
            </a:extLst>
          </p:cNvPr>
          <p:cNvSpPr txBox="1"/>
          <p:nvPr/>
        </p:nvSpPr>
        <p:spPr>
          <a:xfrm>
            <a:off x="9258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5E5CBC-97A2-DB94-3FF1-186A57CAA74A}"/>
              </a:ext>
            </a:extLst>
          </p:cNvPr>
          <p:cNvSpPr txBox="1"/>
          <p:nvPr/>
        </p:nvSpPr>
        <p:spPr>
          <a:xfrm>
            <a:off x="9258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真实病灶像素中，有多少被找出来。低则漏检多。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9FC14E-59D5-D41D-1B55-D1BCCE07FE63}"/>
              </a:ext>
            </a:extLst>
          </p:cNvPr>
          <p:cNvSpPr txBox="1"/>
          <p:nvPr/>
        </p:nvSpPr>
        <p:spPr>
          <a:xfrm>
            <a:off x="889000" y="5207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四者关系：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Dice/IoU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看整体重叠；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。最终模型要在误检和漏检之间折中。</a:t>
            </a:r>
          </a:p>
        </p:txBody>
      </p:sp>
    </p:spTree>
    <p:extLst>
      <p:ext uri="{BB962C8B-B14F-4D97-AF65-F5344CB8AC3E}">
        <p14:creationId xmlns:p14="http://schemas.microsoft.com/office/powerpoint/2010/main" val="144272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FEDFB2-7156-3179-77BA-A95EC656BE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3A74EC-11D8-EE75-A329-DF3240DA601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54898D-27F8-03CA-F641-C5523DEA7FC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A16383-45DC-36DB-C898-C7EF2ADA1EEF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A40E05-A0EB-4F7B-C151-10FECB94C1D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公式符号说明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29701C-A565-B7CF-AED0-846CF1C9A3A8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8CB6BC-9A35-6ED7-69FA-F614A6B82534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公式里的字母分别代表什么？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66BF12-F421-A7C9-B620-72341E0ABEE8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先统一符号，再看每个公式。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F34E74D-7538-D22A-D09A-769AE095A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514919"/>
              </p:ext>
            </p:extLst>
          </p:nvPr>
        </p:nvGraphicFramePr>
        <p:xfrm>
          <a:off x="1206500" y="1651000"/>
          <a:ext cx="9779000" cy="425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9500">
                  <a:extLst>
                    <a:ext uri="{9D8B030D-6E8A-4147-A177-3AD203B41FA5}">
                      <a16:colId xmlns:a16="http://schemas.microsoft.com/office/drawing/2014/main" val="792029762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3493583931"/>
                    </a:ext>
                  </a:extLst>
                </a:gridCol>
              </a:tblGrid>
              <a:tr h="531813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符号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含义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82364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真实二值掩码。感染区域为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，背景为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092598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M_hat(x,y)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模型预测二值掩码。阈值化后感染区域为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594867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模型预测的感染概率，范围为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 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到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198434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True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，预测为感染且真实也是感染的像素数。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728397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，预测为感染但真实是背景的像素数。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63280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Negative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，真实是感染但模型预测为背景的像素数。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87526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epsilon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很小的平滑项，防止分母为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195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86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5A05693-04EB-1220-B147-72F624E4ED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CEF350-D426-F185-339A-D9F552767FA8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671F0B-A477-960D-1249-511E25C5F57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B5135C-8717-3CFD-30A9-BFB1E40C0156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484842-CF2E-BEEA-CFC8-ADBE7983FA1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16 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195133-537F-83A2-7B92-1FC91EF8BF54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E7D5E2-25B3-6D85-1DE1-5AE89E3DA8BA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重叠类指标怎么算？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3AA724-E568-74E2-DD14-E9207F3A808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越接近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，预测和真实区域越一致。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7CA07B-1C46-190D-3D38-D679C6CCA386}"/>
              </a:ext>
            </a:extLst>
          </p:cNvPr>
          <p:cNvSpPr txBox="1"/>
          <p:nvPr/>
        </p:nvSpPr>
        <p:spPr>
          <a:xfrm>
            <a:off x="889000" y="1905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Dice = (2 × TP + epsilon) / (2 × TP + FP + FN + epsilon)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A9DE83-A1C5-A441-E39E-B874428158D2}"/>
              </a:ext>
            </a:extLst>
          </p:cNvPr>
          <p:cNvSpPr txBox="1"/>
          <p:nvPr/>
        </p:nvSpPr>
        <p:spPr>
          <a:xfrm>
            <a:off x="889000" y="2540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2563EB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2563EB"/>
                </a:solidFill>
                <a:latin typeface="Microsoft YaHei" panose="020B0503020204020204" pitchFamily="34" charset="-122"/>
              </a:rPr>
              <a:t>Dice = 2 × |M_hat ∩ M| / (|M_hat| + |M|)</a:t>
            </a:r>
            <a:endParaRPr lang="zh-CN" altLang="en-US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599FD2-F831-6FF5-DD11-0A407B323675}"/>
              </a:ext>
            </a:extLst>
          </p:cNvPr>
          <p:cNvSpPr txBox="1"/>
          <p:nvPr/>
        </p:nvSpPr>
        <p:spPr>
          <a:xfrm>
            <a:off x="889000" y="3556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059669"/>
                </a:solidFill>
                <a:latin typeface="Microsoft YaHei" panose="020B0503020204020204" pitchFamily="34" charset="-122"/>
              </a:rPr>
              <a:t>IoU = (TP + epsilon) / (TP + FP + FN + epsilon)</a:t>
            </a:r>
            <a:endParaRPr lang="zh-CN" altLang="en-US" sz="20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755D46-E0B3-00D7-5E24-61263404F4ED}"/>
              </a:ext>
            </a:extLst>
          </p:cNvPr>
          <p:cNvSpPr txBox="1"/>
          <p:nvPr/>
        </p:nvSpPr>
        <p:spPr>
          <a:xfrm>
            <a:off x="889000" y="4191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059669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059669"/>
                </a:solidFill>
                <a:latin typeface="Microsoft YaHei" panose="020B0503020204020204" pitchFamily="34" charset="-122"/>
              </a:rPr>
              <a:t>IoU = |M_hat ∩ M| / |M_hat ∪ M|</a:t>
            </a:r>
            <a:endParaRPr lang="zh-CN" altLang="en-US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411ABB-D938-3589-AEFB-B9D6EC13B924}"/>
              </a:ext>
            </a:extLst>
          </p:cNvPr>
          <p:cNvSpPr txBox="1"/>
          <p:nvPr/>
        </p:nvSpPr>
        <p:spPr>
          <a:xfrm>
            <a:off x="1016000" y="5334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解释：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对重叠比较友好；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IoU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分母是并集，因此同样错误下通常比 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更低、更严格。</a:t>
            </a:r>
          </a:p>
        </p:txBody>
      </p:sp>
    </p:spTree>
    <p:extLst>
      <p:ext uri="{BB962C8B-B14F-4D97-AF65-F5344CB8AC3E}">
        <p14:creationId xmlns:p14="http://schemas.microsoft.com/office/powerpoint/2010/main" val="386672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1FB9DB-8EF7-95FD-1453-8FB7E47BC6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200CC-546C-DFDB-160E-711AC082853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2102D9-27C2-4C08-5A14-262CDC832D0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7C0978-38A8-73A9-1850-E6F7C90C1BB4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97CC22-9F08-6897-FD95-B4293CF8FE9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17 Precision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7F8C05-F837-1B39-79BF-6645610F29D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087ABD-E441-0F4E-851D-E57F7BE830A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误检和漏检怎么算？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F898F3-4C08-37D3-C8D9-7D1E605AAC2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这两个指标对应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两类错误。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C5260E-8236-B19C-5207-A0375A029CF0}"/>
              </a:ext>
            </a:extLst>
          </p:cNvPr>
          <p:cNvSpPr txBox="1"/>
          <p:nvPr/>
        </p:nvSpPr>
        <p:spPr>
          <a:xfrm>
            <a:off x="889000" y="2032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97706"/>
                </a:solidFill>
                <a:latin typeface="Microsoft YaHei" panose="020B0503020204020204" pitchFamily="34" charset="-122"/>
              </a:rPr>
              <a:t>Precision = (TP + epsilon) / (TP + FP + epsilon)</a:t>
            </a:r>
            <a:endParaRPr lang="zh-CN" altLang="en-US" sz="20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D879BD-9315-142F-0B59-33426EECC0BD}"/>
              </a:ext>
            </a:extLst>
          </p:cNvPr>
          <p:cNvSpPr txBox="1"/>
          <p:nvPr/>
        </p:nvSpPr>
        <p:spPr>
          <a:xfrm>
            <a:off x="1079500" y="2692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含义：模型说是感染的像素中，有多少是真的感染。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误检多。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9D376D-AFFD-1B48-4369-6357303B48C0}"/>
              </a:ext>
            </a:extLst>
          </p:cNvPr>
          <p:cNvSpPr txBox="1"/>
          <p:nvPr/>
        </p:nvSpPr>
        <p:spPr>
          <a:xfrm>
            <a:off x="889000" y="3810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C2626"/>
                </a:solidFill>
                <a:latin typeface="Microsoft YaHei" panose="020B0503020204020204" pitchFamily="34" charset="-122"/>
              </a:rPr>
              <a:t>Recall = (TP + epsilon) / (TP + FN + epsilon)</a:t>
            </a:r>
            <a:endParaRPr lang="zh-CN" altLang="en-US" sz="20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44450F-E8D0-B2AC-3E6D-135FD845623C}"/>
              </a:ext>
            </a:extLst>
          </p:cNvPr>
          <p:cNvSpPr txBox="1"/>
          <p:nvPr/>
        </p:nvSpPr>
        <p:spPr>
          <a:xfrm>
            <a:off x="1079500" y="4470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含义：真实感染像素中，有多少被模型找出来。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漏检多。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6266B6-6DF3-25FE-F8DF-EDFBD8770544}"/>
              </a:ext>
            </a:extLst>
          </p:cNvPr>
          <p:cNvSpPr txBox="1"/>
          <p:nvPr/>
        </p:nvSpPr>
        <p:spPr>
          <a:xfrm>
            <a:off x="1016000" y="5461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为什么低分专家要分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/ recall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：过分割主要看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，漏分割主要看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，优化方向相反。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665643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555CF1-530C-48C6-0CC1-F7757AB24C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A0C98B-DD03-F35D-BA28-FD7E78650FC6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165168-9659-018C-E9DD-F2155FF6C02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1C6355-E3C2-D818-5F7D-1F1905543D3A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37B67E-60C3-E5FF-FEE1-4C91FBA5670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损失函数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79E91C-31E6-A5AA-733B-7CD61176DE77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F9E500-F827-A49C-F93F-4AAD60C8017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训练时模型靠什么学习？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E7EF88-CA3B-83E2-6541-D31FAF2E6B94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Dice/Focal/Tversky/Boundary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等损失组合处理类别不平衡和困难边界。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FB497C-5990-796B-FBB7-B951868678A1}"/>
              </a:ext>
            </a:extLst>
          </p:cNvPr>
          <p:cNvSpPr txBox="1"/>
          <p:nvPr/>
        </p:nvSpPr>
        <p:spPr>
          <a:xfrm>
            <a:off x="762000" y="1841500"/>
            <a:ext cx="1079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Soft Dice Loss = 1 - (2 ×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Σ(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× M) + epsilon) / (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+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M + epsilon)</a:t>
            </a:r>
            <a:endParaRPr lang="zh-CN" altLang="en-US" sz="17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5A55B1-EEA7-7E63-CCE7-2B004944D07C}"/>
              </a:ext>
            </a:extLst>
          </p:cNvPr>
          <p:cNvSpPr txBox="1"/>
          <p:nvPr/>
        </p:nvSpPr>
        <p:spPr>
          <a:xfrm>
            <a:off x="762000" y="2603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Focal Loss</a:t>
            </a:r>
            <a:r>
              <a:rPr lang="zh-CN" altLang="en-US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：降低易分类背景像素权重，让模型更关注难分像素。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C26857-2D0C-FF41-C945-2FB16F17EF87}"/>
              </a:ext>
            </a:extLst>
          </p:cNvPr>
          <p:cNvSpPr txBox="1"/>
          <p:nvPr/>
        </p:nvSpPr>
        <p:spPr>
          <a:xfrm>
            <a:off x="762000" y="3365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Tversky Loss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：通过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alpha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beta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调整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的惩罚强度。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E000FB-F401-5DFD-625D-15DE238FB8B3}"/>
              </a:ext>
            </a:extLst>
          </p:cNvPr>
          <p:cNvSpPr txBox="1"/>
          <p:nvPr/>
        </p:nvSpPr>
        <p:spPr>
          <a:xfrm>
            <a:off x="762000" y="4127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Boundary Loss</a:t>
            </a:r>
            <a:r>
              <a:rPr lang="zh-CN" altLang="en-US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：对边界带区域加权，缓解病灶边缘模糊导致的偏移。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4CF6A6-9919-EA6B-8CF9-149D5BEFDBE9}"/>
              </a:ext>
            </a:extLst>
          </p:cNvPr>
          <p:cNvSpPr txBox="1"/>
          <p:nvPr/>
        </p:nvSpPr>
        <p:spPr>
          <a:xfrm>
            <a:off x="952500" y="53340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本项目不同专家使用不同损失倾向：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专家更重视边界。</a:t>
            </a:r>
          </a:p>
        </p:txBody>
      </p:sp>
    </p:spTree>
    <p:extLst>
      <p:ext uri="{BB962C8B-B14F-4D97-AF65-F5344CB8AC3E}">
        <p14:creationId xmlns:p14="http://schemas.microsoft.com/office/powerpoint/2010/main" val="871600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821C1F-41F9-8E0A-D2A0-9ECE4D3818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5AD5FD-A911-755F-32D9-BE2E4FAF290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9DD8F2-190E-6A47-BC39-0E922D8A4A7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6CE413-5D3E-617E-0C39-2BF37DF61DFB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269FEA-5A0D-2613-6F7D-25C1D89B73E8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论文结果表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990A3C-AF18-936C-E166-1CEBBDD3409C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FA5AB3-072D-A16D-8F55-6BD5238DAED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论文里的最终结果表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115662-DBA1-F555-4495-ABEE473E1F7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公式讲完后再看结果表，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的含义更清楚。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B3F73EB-431E-6905-39CA-28745BF64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162831"/>
              </p:ext>
            </p:extLst>
          </p:nvPr>
        </p:nvGraphicFramePr>
        <p:xfrm>
          <a:off x="698500" y="1714500"/>
          <a:ext cx="10795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3266289377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88434859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437960583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18525870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415944114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IoU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8381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 v14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0.7755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0.6708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0.7771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0.8344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19403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0.7777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0.6722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0.7640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0.8542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87403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概率级融合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0.6851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0.7831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0.8482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34616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 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0.7740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0.6691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0.7894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0.8177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02939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专家替换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0.7850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0.6792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0.7948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0.8250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6832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多专家门控（最终）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0.6893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0.7988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0.8303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9211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Oracle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上限（分析）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0.8129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04873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C51C1F6-6F6C-9D96-5C57-84DD936BB046}"/>
              </a:ext>
            </a:extLst>
          </p:cNvPr>
          <p:cNvSpPr txBox="1"/>
          <p:nvPr/>
        </p:nvSpPr>
        <p:spPr>
          <a:xfrm>
            <a:off x="889000" y="58166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写论文和答辩时：最终可部署结果写 </a:t>
            </a:r>
            <a:r>
              <a:rPr lang="en-US" altLang="zh-CN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多专家门控；</a:t>
            </a:r>
            <a:r>
              <a:rPr lang="en-US" altLang="zh-CN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只作为专家池潜力分析，不当作真实部署成绩。</a:t>
            </a:r>
          </a:p>
        </p:txBody>
      </p:sp>
    </p:spTree>
    <p:extLst>
      <p:ext uri="{BB962C8B-B14F-4D97-AF65-F5344CB8AC3E}">
        <p14:creationId xmlns:p14="http://schemas.microsoft.com/office/powerpoint/2010/main" val="975181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9B1D066-F85F-6E93-92EA-F5EB7BBAB2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996CEA-1F0F-0175-6DD7-0531A5613B26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0E3A63-15E1-B82E-E524-0693F4563A6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4CFFB3-C5A9-0F8B-354D-AB286D10B7BE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EC3613-C71D-F84F-5639-CF3370B8311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全测试集结果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0ACB25-D07B-E9EE-B676-A8EB1F2F634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5B74DD-6AD7-6EAD-0077-CC657037B52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最终结果提升多少？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313892-5F8F-B917-4CCC-B4DD0EACE3BD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是当前最终版。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9BDD98D-E235-0E3E-8DC2-52E30125B6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87500"/>
            <a:ext cx="6731000" cy="387350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5EEC092-C210-DB86-E60C-D8F06C84AB93}"/>
              </a:ext>
            </a:extLst>
          </p:cNvPr>
          <p:cNvSpPr/>
          <p:nvPr/>
        </p:nvSpPr>
        <p:spPr>
          <a:xfrm>
            <a:off x="7874000" y="1752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56BB8B-00B9-863C-EF72-63087183E116}"/>
              </a:ext>
            </a:extLst>
          </p:cNvPr>
          <p:cNvSpPr txBox="1"/>
          <p:nvPr/>
        </p:nvSpPr>
        <p:spPr>
          <a:xfrm>
            <a:off x="8051800" y="1892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8F2884-377D-DF6C-D95F-07AF0674D285}"/>
              </a:ext>
            </a:extLst>
          </p:cNvPr>
          <p:cNvSpPr txBox="1"/>
          <p:nvPr/>
        </p:nvSpPr>
        <p:spPr>
          <a:xfrm>
            <a:off x="8051800" y="2146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B52364-8F6E-63D0-4502-BABD2B84DE5A}"/>
              </a:ext>
            </a:extLst>
          </p:cNvPr>
          <p:cNvSpPr txBox="1"/>
          <p:nvPr/>
        </p:nvSpPr>
        <p:spPr>
          <a:xfrm>
            <a:off x="8051800" y="2616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F6C3D05-5D26-E7E1-137E-552532A99E9D}"/>
              </a:ext>
            </a:extLst>
          </p:cNvPr>
          <p:cNvSpPr/>
          <p:nvPr/>
        </p:nvSpPr>
        <p:spPr>
          <a:xfrm>
            <a:off x="7874000" y="3276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6C4885-FB0E-AF59-587E-126E3F62A377}"/>
              </a:ext>
            </a:extLst>
          </p:cNvPr>
          <p:cNvSpPr txBox="1"/>
          <p:nvPr/>
        </p:nvSpPr>
        <p:spPr>
          <a:xfrm>
            <a:off x="8051800" y="3416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v18-aware Gate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9F1C8A-5190-3B80-7810-19C55F15BC32}"/>
              </a:ext>
            </a:extLst>
          </p:cNvPr>
          <p:cNvSpPr txBox="1"/>
          <p:nvPr/>
        </p:nvSpPr>
        <p:spPr>
          <a:xfrm>
            <a:off x="8051800" y="3670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0.7959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A439A5-E097-9BE1-EB21-BA86827D425E}"/>
              </a:ext>
            </a:extLst>
          </p:cNvPr>
          <p:cNvSpPr txBox="1"/>
          <p:nvPr/>
        </p:nvSpPr>
        <p:spPr>
          <a:xfrm>
            <a:off x="8051800" y="4140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+0.0219 vs v18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8840A3E-1BDA-8DD7-9880-6E9F447F9193}"/>
              </a:ext>
            </a:extLst>
          </p:cNvPr>
          <p:cNvSpPr/>
          <p:nvPr/>
        </p:nvSpPr>
        <p:spPr>
          <a:xfrm>
            <a:off x="7874000" y="4800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7B5FA4-D2CB-639A-DC9F-C65CEB1F5364}"/>
              </a:ext>
            </a:extLst>
          </p:cNvPr>
          <p:cNvSpPr txBox="1"/>
          <p:nvPr/>
        </p:nvSpPr>
        <p:spPr>
          <a:xfrm>
            <a:off x="8051800" y="4940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Oracle Upper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497B33F-D5D6-0091-92BB-B2175FEDCD91}"/>
              </a:ext>
            </a:extLst>
          </p:cNvPr>
          <p:cNvSpPr txBox="1"/>
          <p:nvPr/>
        </p:nvSpPr>
        <p:spPr>
          <a:xfrm>
            <a:off x="8051800" y="5194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77F1EB-7C59-7491-BFDA-898C06822C21}"/>
              </a:ext>
            </a:extLst>
          </p:cNvPr>
          <p:cNvSpPr txBox="1"/>
          <p:nvPr/>
        </p:nvSpPr>
        <p:spPr>
          <a:xfrm>
            <a:off x="8051800" y="5664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专家池上限分析</a:t>
            </a:r>
          </a:p>
        </p:txBody>
      </p:sp>
    </p:spTree>
    <p:extLst>
      <p:ext uri="{BB962C8B-B14F-4D97-AF65-F5344CB8AC3E}">
        <p14:creationId xmlns:p14="http://schemas.microsoft.com/office/powerpoint/2010/main" val="2811570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1A5C0B-F4DB-9E43-EDC1-E92A585C29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2D5BB2-D4A8-4750-B0DD-ECF0861F358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27722F-826E-FADF-2868-CD429EE6DC2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CFF0C9-4856-6503-A9D6-CF62D4BDE67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97B24D-5B82-49DE-C40E-834D470E37D0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CF6644-C5EE-C443-1577-D344C71AA6C9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CEAC8B-D021-B967-04D3-9C348E599AB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低分样本是本轮优化重点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0A8208-338D-09AD-9846-70BE6D47CDDB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平均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0.4033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提升到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0.5319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E6DC9CF-4DF7-BB1A-78D1-15CBA07AC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263911"/>
              </p:ext>
            </p:extLst>
          </p:nvPr>
        </p:nvGraphicFramePr>
        <p:xfrm>
          <a:off x="825500" y="1714500"/>
          <a:ext cx="10541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5250">
                  <a:extLst>
                    <a:ext uri="{9D8B030D-6E8A-4147-A177-3AD203B41FA5}">
                      <a16:colId xmlns:a16="http://schemas.microsoft.com/office/drawing/2014/main" val="851124432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2222199977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3497198690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150970534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策略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低分子集 </a:t>
                      </a:r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Dice&lt;0.60 </a:t>
                      </a: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数量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40001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0.4033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158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原始低分集合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55711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0.4683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通用困难样本专家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32914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Expanded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0.5276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多专家错误类型门控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47105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0.5319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97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边界偏移回退到 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36431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Oracle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0.6315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61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每例选最优专家，仅作上限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029989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10D50A7-EA9F-42F2-71F2-AE020924A45C}"/>
              </a:ext>
            </a:extLst>
          </p:cNvPr>
          <p:cNvSpPr txBox="1"/>
          <p:nvPr/>
        </p:nvSpPr>
        <p:spPr>
          <a:xfrm>
            <a:off x="952500" y="55245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注意：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上限不是可部署策略，只用于说明专家池还有潜力；真实部署还需要无真值门控分类器。</a:t>
            </a:r>
          </a:p>
        </p:txBody>
      </p:sp>
    </p:spTree>
    <p:extLst>
      <p:ext uri="{BB962C8B-B14F-4D97-AF65-F5344CB8AC3E}">
        <p14:creationId xmlns:p14="http://schemas.microsoft.com/office/powerpoint/2010/main" val="2571884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FA03CB-534C-623B-2D81-B984E3811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96FA44-CB22-A36C-3D1E-E96CDD76335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F96931-A96A-A5CA-1870-06A9798DAED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8AE8CA-410F-083E-C4AD-0D39057ABE75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F08F1B-6612-BD22-2CA4-D8ECEF7298E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可视化样例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EAB61D-7C5C-66D4-53B8-086FAAA1CBA9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F22ECD-9F01-1DFB-A49C-2FB3BAC6444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样本：预测和真值基本重合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99754F-5D68-EB15-F8A5-F2E884BC1CAE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重点看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Error Map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，判断模型是否真正覆盖病灶。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7930952-AE5A-59C0-9186-3FC288D9D3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524000"/>
            <a:ext cx="10541000" cy="3175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AA51D7E-45BB-0602-F9CA-25A46CEB3B81}"/>
              </a:ext>
            </a:extLst>
          </p:cNvPr>
          <p:cNvSpPr txBox="1"/>
          <p:nvPr/>
        </p:nvSpPr>
        <p:spPr>
          <a:xfrm>
            <a:off x="736600" y="4953000"/>
            <a:ext cx="15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颜色含义：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F00F61-66D1-2FE4-5C77-BCDAB85F8C1D}"/>
              </a:ext>
            </a:extLst>
          </p:cNvPr>
          <p:cNvSpPr/>
          <p:nvPr/>
        </p:nvSpPr>
        <p:spPr>
          <a:xfrm>
            <a:off x="762000" y="5384800"/>
            <a:ext cx="203200" cy="203200"/>
          </a:xfrm>
          <a:prstGeom prst="rect">
            <a:avLst/>
          </a:prstGeom>
          <a:solidFill>
            <a:srgbClr val="EF4444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F2302B-1E28-0CA6-F0CD-519831687A2B}"/>
              </a:ext>
            </a:extLst>
          </p:cNvPr>
          <p:cNvSpPr txBox="1"/>
          <p:nvPr/>
        </p:nvSpPr>
        <p:spPr>
          <a:xfrm>
            <a:off x="105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红色填充：预测感染区域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E9BD64-1E30-2BF4-EC47-3DE1426A8584}"/>
              </a:ext>
            </a:extLst>
          </p:cNvPr>
          <p:cNvSpPr/>
          <p:nvPr/>
        </p:nvSpPr>
        <p:spPr>
          <a:xfrm>
            <a:off x="4572000" y="5384800"/>
            <a:ext cx="203200" cy="203200"/>
          </a:xfrm>
          <a:prstGeom prst="rect">
            <a:avLst/>
          </a:prstGeom>
          <a:solidFill>
            <a:srgbClr val="EAB30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447BD84-C17A-3B9C-8FDA-AF7352344D53}"/>
              </a:ext>
            </a:extLst>
          </p:cNvPr>
          <p:cNvSpPr txBox="1"/>
          <p:nvPr/>
        </p:nvSpPr>
        <p:spPr>
          <a:xfrm>
            <a:off x="486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黄色轮廓：真实标注 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GT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8A6668-3194-3B43-CB5E-BA691250EBE1}"/>
              </a:ext>
            </a:extLst>
          </p:cNvPr>
          <p:cNvSpPr/>
          <p:nvPr/>
        </p:nvSpPr>
        <p:spPr>
          <a:xfrm>
            <a:off x="8382000" y="5384800"/>
            <a:ext cx="203200" cy="203200"/>
          </a:xfrm>
          <a:prstGeom prst="rect">
            <a:avLst/>
          </a:prstGeom>
          <a:solidFill>
            <a:srgbClr val="06B6D4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9837B5-5E15-F81D-AA9D-FCBDF5BD9073}"/>
              </a:ext>
            </a:extLst>
          </p:cNvPr>
          <p:cNvSpPr txBox="1"/>
          <p:nvPr/>
        </p:nvSpPr>
        <p:spPr>
          <a:xfrm>
            <a:off x="867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青色轮廓：预测边界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C06F99-2753-D624-1BEF-56E753829F38}"/>
              </a:ext>
            </a:extLst>
          </p:cNvPr>
          <p:cNvSpPr/>
          <p:nvPr/>
        </p:nvSpPr>
        <p:spPr>
          <a:xfrm>
            <a:off x="762000" y="5842000"/>
            <a:ext cx="203200" cy="203200"/>
          </a:xfrm>
          <a:prstGeom prst="rect">
            <a:avLst/>
          </a:prstGeom>
          <a:solidFill>
            <a:srgbClr val="DC2626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E2382C-8EE5-B344-9EF7-8F49E57705FC}"/>
              </a:ext>
            </a:extLst>
          </p:cNvPr>
          <p:cNvSpPr txBox="1"/>
          <p:nvPr/>
        </p:nvSpPr>
        <p:spPr>
          <a:xfrm>
            <a:off x="105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红色：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，预测正确重叠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979863-7B67-4582-D8E6-32863460F68A}"/>
              </a:ext>
            </a:extLst>
          </p:cNvPr>
          <p:cNvSpPr/>
          <p:nvPr/>
        </p:nvSpPr>
        <p:spPr>
          <a:xfrm>
            <a:off x="4572000" y="5842000"/>
            <a:ext cx="203200" cy="203200"/>
          </a:xfrm>
          <a:prstGeom prst="rect">
            <a:avLst/>
          </a:prstGeom>
          <a:solidFill>
            <a:srgbClr val="22C55E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A3CA67-385D-A419-9687-74FDFD6EAFD6}"/>
              </a:ext>
            </a:extLst>
          </p:cNvPr>
          <p:cNvSpPr txBox="1"/>
          <p:nvPr/>
        </p:nvSpPr>
        <p:spPr>
          <a:xfrm>
            <a:off x="486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绿色：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，真实有但漏检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C10E207-78E0-6E5F-CBAD-78F42261728B}"/>
              </a:ext>
            </a:extLst>
          </p:cNvPr>
          <p:cNvSpPr/>
          <p:nvPr/>
        </p:nvSpPr>
        <p:spPr>
          <a:xfrm>
            <a:off x="8382000" y="5842000"/>
            <a:ext cx="203200" cy="203200"/>
          </a:xfrm>
          <a:prstGeom prst="rect">
            <a:avLst/>
          </a:prstGeom>
          <a:solidFill>
            <a:srgbClr val="2563EB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5DF5AA1-C8B3-0E56-8AF2-394FA065E4DB}"/>
              </a:ext>
            </a:extLst>
          </p:cNvPr>
          <p:cNvSpPr txBox="1"/>
          <p:nvPr/>
        </p:nvSpPr>
        <p:spPr>
          <a:xfrm>
            <a:off x="867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蓝色：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，模型误检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9E196C-37F7-5DA2-C9F1-D68785F747FA}"/>
              </a:ext>
            </a:extLst>
          </p:cNvPr>
          <p:cNvSpPr txBox="1"/>
          <p:nvPr/>
        </p:nvSpPr>
        <p:spPr>
          <a:xfrm>
            <a:off x="952500" y="6375400"/>
            <a:ext cx="1028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的图像通常红色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TP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占主导，黄色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GT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边界和青色预测边界贴合，说明模型定位和形状都比较准确。</a:t>
            </a:r>
          </a:p>
        </p:txBody>
      </p:sp>
    </p:spTree>
    <p:extLst>
      <p:ext uri="{BB962C8B-B14F-4D97-AF65-F5344CB8AC3E}">
        <p14:creationId xmlns:p14="http://schemas.microsoft.com/office/powerpoint/2010/main" val="259700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219943F-CCE6-27CF-BFCF-81BAECAFE4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D02685-741A-3914-073B-5087A8AEA0A1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A12B2F-9249-74B9-39B1-C8120505F89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A3D855-3B36-7EBF-D4C4-265E5E101F0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266639-7D04-8844-BAA1-FF9715D2C8E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可视化样例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2E79AD-BED2-8C64-0801-B87F874982C2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63C269-A1C7-13D1-303B-FF87BD506DC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样本：看漏检、误检和边界错位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83A949-47CF-A32E-7C9A-56AFB847B32B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低分样本是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专家池和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的主要优化对象。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7167385-7B2D-1BB4-2FB5-E5C375C360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524000"/>
            <a:ext cx="10541000" cy="317500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6DD6BF3-B706-77AB-C8DD-05CC469E9301}"/>
              </a:ext>
            </a:extLst>
          </p:cNvPr>
          <p:cNvSpPr/>
          <p:nvPr/>
        </p:nvSpPr>
        <p:spPr>
          <a:xfrm>
            <a:off x="889000" y="4978400"/>
            <a:ext cx="3175000" cy="9906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09C340-4035-146F-7A04-120FA1DB9503}"/>
              </a:ext>
            </a:extLst>
          </p:cNvPr>
          <p:cNvSpPr txBox="1"/>
          <p:nvPr/>
        </p:nvSpPr>
        <p:spPr>
          <a:xfrm>
            <a:off x="10668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绿色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20B276-D655-8E8C-B0F3-119106BEF07A}"/>
              </a:ext>
            </a:extLst>
          </p:cNvPr>
          <p:cNvSpPr txBox="1"/>
          <p:nvPr/>
        </p:nvSpPr>
        <p:spPr>
          <a:xfrm>
            <a:off x="1066800" y="55499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真实有感染但模型没分出来，说明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不足，优先考虑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 / actual_fn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487965C-ACF9-BCC9-D5E3-50FEE5BD5D58}"/>
              </a:ext>
            </a:extLst>
          </p:cNvPr>
          <p:cNvSpPr/>
          <p:nvPr/>
        </p:nvSpPr>
        <p:spPr>
          <a:xfrm>
            <a:off x="4508500" y="4978400"/>
            <a:ext cx="3175000" cy="9906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76D7C63-F2C8-7E99-0A62-DD65555CB1A3}"/>
              </a:ext>
            </a:extLst>
          </p:cNvPr>
          <p:cNvSpPr txBox="1"/>
          <p:nvPr/>
        </p:nvSpPr>
        <p:spPr>
          <a:xfrm>
            <a:off x="46863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蓝色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BF5A4A-FE25-9224-3AF3-A49D0DB4B960}"/>
              </a:ext>
            </a:extLst>
          </p:cNvPr>
          <p:cNvSpPr txBox="1"/>
          <p:nvPr/>
        </p:nvSpPr>
        <p:spPr>
          <a:xfrm>
            <a:off x="4686300" y="55499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模型把背景误分为感染，说明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不足，优先考虑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 / actual_fp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C0F72B4-EF84-FBD2-9DC8-FD98F7BE321A}"/>
              </a:ext>
            </a:extLst>
          </p:cNvPr>
          <p:cNvSpPr/>
          <p:nvPr/>
        </p:nvSpPr>
        <p:spPr>
          <a:xfrm>
            <a:off x="8128000" y="4978400"/>
            <a:ext cx="3175000" cy="9906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F3DF564-94DD-0651-6200-32F2C655C180}"/>
              </a:ext>
            </a:extLst>
          </p:cNvPr>
          <p:cNvSpPr txBox="1"/>
          <p:nvPr/>
        </p:nvSpPr>
        <p:spPr>
          <a:xfrm>
            <a:off x="83058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轮廓整体错位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B85805-2555-E23B-7A72-0001D6FD4352}"/>
              </a:ext>
            </a:extLst>
          </p:cNvPr>
          <p:cNvSpPr txBox="1"/>
          <p:nvPr/>
        </p:nvSpPr>
        <p:spPr>
          <a:xfrm>
            <a:off x="8305800" y="5549900"/>
            <a:ext cx="2819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位置大体接近但边界偏移时，优先保留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basev18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或使用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类专家。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22F1D7-B43F-0D6C-EA60-33A81C5E3836}"/>
              </a:ext>
            </a:extLst>
          </p:cNvPr>
          <p:cNvSpPr txBox="1"/>
          <p:nvPr/>
        </p:nvSpPr>
        <p:spPr>
          <a:xfrm>
            <a:off x="952500" y="6248400"/>
            <a:ext cx="10287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颜色直接对应错误来源：红色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TP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是对的，绿色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是漏检，蓝色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是误检；最终门控就是按这些错误类型选择专家。</a:t>
            </a:r>
          </a:p>
        </p:txBody>
      </p:sp>
    </p:spTree>
    <p:extLst>
      <p:ext uri="{BB962C8B-B14F-4D97-AF65-F5344CB8AC3E}">
        <p14:creationId xmlns:p14="http://schemas.microsoft.com/office/powerpoint/2010/main" val="1014471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C7B1CF-C72A-E2B1-7B73-995831E791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8A3440-C6E0-58CF-C5EA-4F70C3E302C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345114-F9F3-E4F7-9A7E-32E819DCB9C0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662E9E-6F4A-2630-6B41-960F2FE04062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C3D194-D63F-FE78-AC85-5B9FB532B78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结果图怎么读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A42088-3D3D-9983-70E0-783A5306EAD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2C5D19-4CFE-6D7E-4F39-602F3D21446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一行结果图的阅读顺序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E8BD4E-74C7-93EC-A0D6-A922F6CF70F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从左到右判断模型是否分对。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422AE2-CB42-AF39-CB64-A19E71DE6F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651000"/>
            <a:ext cx="10414000" cy="3175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7B0276E-1CD9-746F-719D-B67CDF65B317}"/>
              </a:ext>
            </a:extLst>
          </p:cNvPr>
          <p:cNvSpPr txBox="1"/>
          <p:nvPr/>
        </p:nvSpPr>
        <p:spPr>
          <a:xfrm>
            <a:off x="952500" y="5270500"/>
            <a:ext cx="10287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Original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：原始胸片；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Ground Truth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：人工标注；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Prediction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：模型二值结果；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Overlay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：预测叠加；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Error Map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：红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、绿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、蓝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2186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C3AE2E-F768-AD20-8A55-5F201D043A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B64672-9691-B746-539A-EFD522275F7F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085BC9-42AB-DA30-3FDF-86D03099B0F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C5976C-D4A7-753A-F917-41F4D90E030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2AD6ED-EDFC-4081-E718-66EDB441A51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25 Web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65279E-85D9-BE4F-CDAB-46A8A075224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BB1479-C2D4-6C69-F323-E2D35BEA86B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网页端功能怎么展示？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001FFD-296B-B7E9-4FB0-DA9C2E1E591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本地服务打开后即可上传胸片查看结果。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07F6DD3-E964-08F9-42EE-748EE6F08C9D}"/>
              </a:ext>
            </a:extLst>
          </p:cNvPr>
          <p:cNvSpPr/>
          <p:nvPr/>
        </p:nvSpPr>
        <p:spPr>
          <a:xfrm>
            <a:off x="825500" y="1841500"/>
            <a:ext cx="3111500" cy="2921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D461A8-E3A3-3372-A384-D9191E9BCDDE}"/>
              </a:ext>
            </a:extLst>
          </p:cNvPr>
          <p:cNvSpPr txBox="1"/>
          <p:nvPr/>
        </p:nvSpPr>
        <p:spPr>
          <a:xfrm>
            <a:off x="10033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输入与参数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22F485-7CCA-4B5F-D02D-1040F897CC76}"/>
              </a:ext>
            </a:extLst>
          </p:cNvPr>
          <p:cNvSpPr txBox="1"/>
          <p:nvPr/>
        </p:nvSpPr>
        <p:spPr>
          <a:xfrm>
            <a:off x="10033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PNG/JPG/DICOM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checkpoint/config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设置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threshold / min_area / TTA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A71DBA8-FEA9-4F64-2E34-B11592F04368}"/>
              </a:ext>
            </a:extLst>
          </p:cNvPr>
          <p:cNvSpPr/>
          <p:nvPr/>
        </p:nvSpPr>
        <p:spPr>
          <a:xfrm>
            <a:off x="4533900" y="1841500"/>
            <a:ext cx="3111500" cy="2921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050E4D-343E-018E-1E93-E9D09BD05DBC}"/>
              </a:ext>
            </a:extLst>
          </p:cNvPr>
          <p:cNvSpPr txBox="1"/>
          <p:nvPr/>
        </p:nvSpPr>
        <p:spPr>
          <a:xfrm>
            <a:off x="47117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结果预览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2ABC43-B431-1333-EDC3-85156F0356A7}"/>
              </a:ext>
            </a:extLst>
          </p:cNvPr>
          <p:cNvSpPr txBox="1"/>
          <p:nvPr/>
        </p:nvSpPr>
        <p:spPr>
          <a:xfrm>
            <a:off x="4711700" y="2413000"/>
            <a:ext cx="27559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感染面积占比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F366831-2E3E-FFCC-6A13-1B172ED715FE}"/>
              </a:ext>
            </a:extLst>
          </p:cNvPr>
          <p:cNvSpPr/>
          <p:nvPr/>
        </p:nvSpPr>
        <p:spPr>
          <a:xfrm>
            <a:off x="8255000" y="1841500"/>
            <a:ext cx="3111500" cy="2921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A1193E-0E21-9A2D-9C2E-12273D0773DB}"/>
              </a:ext>
            </a:extLst>
          </p:cNvPr>
          <p:cNvSpPr txBox="1"/>
          <p:nvPr/>
        </p:nvSpPr>
        <p:spPr>
          <a:xfrm>
            <a:off x="84328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评估与保存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46871D-C336-5631-F7D3-D414A1FDC69E}"/>
              </a:ext>
            </a:extLst>
          </p:cNvPr>
          <p:cNvSpPr txBox="1"/>
          <p:nvPr/>
        </p:nvSpPr>
        <p:spPr>
          <a:xfrm>
            <a:off x="84328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自动匹配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GT mask
Dice / IoU / Precision / Recall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保存到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outputs/web_infer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4EAAD2-20C1-BD20-B9A9-72C3B8F9B01B}"/>
              </a:ext>
            </a:extLst>
          </p:cNvPr>
          <p:cNvSpPr txBox="1"/>
          <p:nvPr/>
        </p:nvSpPr>
        <p:spPr>
          <a:xfrm>
            <a:off x="952500" y="5397500"/>
            <a:ext cx="1054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启动命令：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python app_v12_web.py    </a:t>
            </a:r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访问地址：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http://127.0.0.1:8000</a:t>
            </a:r>
            <a:endParaRPr lang="zh-CN" altLang="en-US" sz="17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7065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51E14C-26C9-8EF1-7FF9-24996DA613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BD6797-FB7A-7950-ADE5-667A55420432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1B7AB7-9995-DF5B-1428-93336767CEB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AF429B-9AD6-0B5C-2BDF-DFEB2EC00D7C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3B7308-561A-CE44-330F-E8030A6CB243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学习版导读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A62BCE-495C-F834-78C2-5EEA1B9AAEDB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8C5AEB-6550-87CF-3188-0B38ADC63C10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这版 </a:t>
            </a:r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PPT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怎么学习代码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706BFC-4F3A-FE72-9276-6DE1B07663B0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先理解名词，再看调用链，最后逐行看关键代码。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87D0755-8037-0185-E085-54259DF21C3E}"/>
              </a:ext>
            </a:extLst>
          </p:cNvPr>
          <p:cNvSpPr/>
          <p:nvPr/>
        </p:nvSpPr>
        <p:spPr>
          <a:xfrm>
            <a:off x="825500" y="1841500"/>
            <a:ext cx="3111500" cy="2667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2930A6-2EB6-A632-290A-721A30CACD5F}"/>
              </a:ext>
            </a:extLst>
          </p:cNvPr>
          <p:cNvSpPr txBox="1"/>
          <p:nvPr/>
        </p:nvSpPr>
        <p:spPr>
          <a:xfrm>
            <a:off x="977900" y="1968500"/>
            <a:ext cx="28067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第一步：名词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23D8DE-BBA9-7344-A26E-3DF69BA10996}"/>
              </a:ext>
            </a:extLst>
          </p:cNvPr>
          <p:cNvSpPr txBox="1"/>
          <p:nvPr/>
        </p:nvSpPr>
        <p:spPr>
          <a:xfrm>
            <a:off x="977900" y="2324100"/>
            <a:ext cx="28067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tensor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logits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threshold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FP/FN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等词弄清楚。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37B5700-261F-A3B8-FCB8-609BEAA6B814}"/>
              </a:ext>
            </a:extLst>
          </p:cNvPr>
          <p:cNvSpPr/>
          <p:nvPr/>
        </p:nvSpPr>
        <p:spPr>
          <a:xfrm>
            <a:off x="4533900" y="1841500"/>
            <a:ext cx="3111500" cy="2667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824D32-FBB0-27C8-28A4-C10C4214DDA0}"/>
              </a:ext>
            </a:extLst>
          </p:cNvPr>
          <p:cNvSpPr txBox="1"/>
          <p:nvPr/>
        </p:nvSpPr>
        <p:spPr>
          <a:xfrm>
            <a:off x="4686300" y="1968500"/>
            <a:ext cx="28067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第二步：调用链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91DB5C-9770-FFB6-2903-D5478E9E59A7}"/>
              </a:ext>
            </a:extLst>
          </p:cNvPr>
          <p:cNvSpPr txBox="1"/>
          <p:nvPr/>
        </p:nvSpPr>
        <p:spPr>
          <a:xfrm>
            <a:off x="4686300" y="2324100"/>
            <a:ext cx="28067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看清楚从网页入口到模型前向，再到后处理和返回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的顺序。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5AB30BE-B4B0-37F1-3504-AB14C01903E6}"/>
              </a:ext>
            </a:extLst>
          </p:cNvPr>
          <p:cNvSpPr/>
          <p:nvPr/>
        </p:nvSpPr>
        <p:spPr>
          <a:xfrm>
            <a:off x="8255000" y="1841500"/>
            <a:ext cx="3111500" cy="2667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1868B1-8ACD-9A8C-19D9-840C6C44BFAB}"/>
              </a:ext>
            </a:extLst>
          </p:cNvPr>
          <p:cNvSpPr txBox="1"/>
          <p:nvPr/>
        </p:nvSpPr>
        <p:spPr>
          <a:xfrm>
            <a:off x="8407400" y="1968500"/>
            <a:ext cx="28067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第三步：逐行代码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FA4E21-FFD6-1140-7FCC-F30632987FC8}"/>
              </a:ext>
            </a:extLst>
          </p:cNvPr>
          <p:cNvSpPr txBox="1"/>
          <p:nvPr/>
        </p:nvSpPr>
        <p:spPr>
          <a:xfrm>
            <a:off x="8407400" y="2324100"/>
            <a:ext cx="28067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每页左边放关键代码，右边说明每行做什么、为什么这样做。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F2738D9-B3D3-4A24-209C-232D5D15BE1C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7F1E12-3435-D11D-6C04-7BE59DB5F0FA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学习建议：先不要背代码，先把数据流记住：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image -&gt; prob -&gt; mask -&gt; overlay -&gt; metrics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86269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B323D3-BDAC-2777-3940-44D1146818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9DD0B4-414E-ED4E-D09F-BF58D0D13E44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886ED3-FEC3-DDF7-C8F4-883F2D6EFB1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483C4B-C8FD-5393-A6C8-D9F5CEFCE22C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92D2AB-F7CA-BBCB-ABFE-B411FCD19DD3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名词解释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D64608-D8A9-3691-0D68-97E7DBC73431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53AD2B-0E28-4D29-3F34-66D6A1F4C35D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模型推理里常见名词是什么意思？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7F9204-E133-E268-D8B0-541F9227BF35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这些词后面代码页会反复出现。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E0DA25A-135D-6F61-5FA7-E18B43784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466286"/>
              </p:ext>
            </p:extLst>
          </p:nvPr>
        </p:nvGraphicFramePr>
        <p:xfrm>
          <a:off x="635000" y="1778000"/>
          <a:ext cx="10922000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2007548860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2415700880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47616762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名词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意思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在本项目中的作用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3132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tensor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张量，多维数组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图片进入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PyTorch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后的表示，常见形状为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B×C×H×W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34255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logits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未经过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sigmoid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的模型原始输出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数值可正可负，用来继续计算损失或转为概率。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62519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prob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sigmoid(logits)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后得到，每个像素是感染概率。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84445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mask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二值掩码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prob &gt; threshold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后得到，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表示感染，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表示背景。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89927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threshold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控制预测保守或激进，阈值越高通常误检越少。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81697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min_area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最小连通域面积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过滤很小的噪声预测块。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879067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9DB09AF-5F04-EDA9-C64E-DAA63E5F80AF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54EF7D-46AB-8E6D-937F-050C0BBBE09B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记忆方式：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logits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是模型生输出，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prob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是概率，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mask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是最终黑白分割图。</a:t>
            </a:r>
          </a:p>
        </p:txBody>
      </p:sp>
    </p:spTree>
    <p:extLst>
      <p:ext uri="{BB962C8B-B14F-4D97-AF65-F5344CB8AC3E}">
        <p14:creationId xmlns:p14="http://schemas.microsoft.com/office/powerpoint/2010/main" val="6578315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1E3B847-B090-73A5-9486-936887F7B7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2550E8-1379-32A4-9B73-AA1DBD582F2C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21D9F8-277D-6166-81EF-78589EED685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8652AE-33A3-DCE2-EC4B-E392CFEAA6BF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FC0CFD-1789-E908-943A-002575C4E083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名词解释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FFDC7E-0A25-0284-B971-F48799AE380B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517E26-B705-A443-FC9F-A981A5FB425B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评价指标和门控名词是什么意思？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776EAB-C7FD-2CFD-9492-4AB82F913F04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这页用于理解为什么要分 </a:t>
            </a:r>
            <a:r>
              <a:rPr lang="en-US" altLang="zh-CN" sz="1300">
                <a:solidFill>
                  <a:srgbClr val="475569"/>
                </a:solidFill>
                <a:latin typeface="Microsoft YaHei" panose="020B0503020204020204" pitchFamily="34" charset="-122"/>
              </a:rPr>
              <a:t>precision / recall / boundary </a:t>
            </a:r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专家。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FD0E86F-6A24-837F-8270-4F25AB34E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898572"/>
              </p:ext>
            </p:extLst>
          </p:nvPr>
        </p:nvGraphicFramePr>
        <p:xfrm>
          <a:off x="635000" y="1676400"/>
          <a:ext cx="10922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2269706003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657132675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99618251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名词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意思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对应错误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20397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预测感染且真实也是感染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正确区域。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8539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预测感染但真实是背景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误检，蓝色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error map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3863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真实感染但模型没预测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漏检，绿色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error map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1299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TP / (TP + FP)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低说明误检多。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01126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TP / (TP + FN)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低说明漏检多。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208639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Expert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只针对某类困难样本训练。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829809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Gate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门控选择器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按错误类型选择哪个专家输出。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367085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BA033C1-019C-8D92-1866-EEDFAA0C947D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4F51C9-5152-171E-49A6-7150718A45A2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低分样本不是一种错误，所以才要拆成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boundary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wrong location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等类别。</a:t>
            </a:r>
          </a:p>
        </p:txBody>
      </p:sp>
    </p:spTree>
    <p:extLst>
      <p:ext uri="{BB962C8B-B14F-4D97-AF65-F5344CB8AC3E}">
        <p14:creationId xmlns:p14="http://schemas.microsoft.com/office/powerpoint/2010/main" val="1781383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8CBA4A4-690C-BDC0-0C60-03235236B1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C83AA6-72A7-68B6-9764-58D7B123AF17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040F00-C495-1951-E10D-7F9D4E9C6467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11918D-28BB-9D92-8A7A-BF83F2E9FA23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072A99-DEFE-E293-1B5A-9564C8E01349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文件职责地图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32920F-84A7-1AD7-3D9F-00B37F73DF91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634055-5142-3BB6-19D4-201464E4EBB3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哪个文件负责哪一段？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9E23E4-5D13-4EDD-290B-96518550865D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先看文件职责，再看代码跳转。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1ACABD2-471A-FD9D-2446-E4D502BB9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325220"/>
              </p:ext>
            </p:extLst>
          </p:nvPr>
        </p:nvGraphicFramePr>
        <p:xfrm>
          <a:off x="508000" y="1651000"/>
          <a:ext cx="111760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3887274243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3704037824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818660789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文件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职责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什么时候被调用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2956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app_v12_web.py</a:t>
                      </a:r>
                      <a:endParaRPr lang="zh-CN" altLang="en-US" sz="9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网页接口，接收上传文件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用户点击预测时。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3397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src/v12_predictor.py</a:t>
                      </a:r>
                      <a:endParaRPr lang="zh-CN" altLang="en-US" sz="9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推理封装，读图、加载模型、后处理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Web </a:t>
                      </a:r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接口内部调用。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345637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src/models/model_factory.py</a:t>
                      </a:r>
                      <a:endParaRPr lang="zh-CN" altLang="en-US" sz="9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根据模型名称创建模型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训练和推理都可能调用。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5333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src/models/transunet2d_v18.py</a:t>
                      </a:r>
                      <a:endParaRPr lang="zh-CN" altLang="en-US" sz="9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基线模型结构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model=transunet2d_v18 </a:t>
                      </a:r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时调用。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6204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src/models/lowdice_refinenet2d.py</a:t>
                      </a:r>
                      <a:endParaRPr lang="zh-CN" altLang="en-US" sz="9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</a:t>
                      </a:r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专家模型结构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训练或评估专家时调用。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527247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scripts/eval_lowdice_expert_gate.py</a:t>
                      </a:r>
                      <a:endParaRPr lang="zh-CN" altLang="en-US" sz="9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离线评估门控策略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测试 </a:t>
                      </a:r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gate </a:t>
                      </a:r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时调用。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1461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lang="en-US" altLang="zh-CN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src/train_unet2d_qata.py</a:t>
                      </a:r>
                      <a:endParaRPr lang="zh-CN" altLang="en-US" sz="9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训练入口和损失函数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训练模型权重时调用。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65044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CA75383-C8AF-572D-CC94-6FEAD5B90741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5EC679-F7A0-D76A-48EF-317C6B1D5568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代码跳转主线：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Web -&gt; v12_predictor -&gt; model_factory -&gt; model.forward -&gt; postprocess -&gt; Web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返回。</a:t>
            </a:r>
          </a:p>
        </p:txBody>
      </p:sp>
    </p:spTree>
    <p:extLst>
      <p:ext uri="{BB962C8B-B14F-4D97-AF65-F5344CB8AC3E}">
        <p14:creationId xmlns:p14="http://schemas.microsoft.com/office/powerpoint/2010/main" val="39879783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3E3D2A-9B05-E222-D450-DAADE86E11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8290AC-FA9C-B334-F1CF-541E7CC88C78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E23C32-1044-E2A0-BE6C-40B31BBE837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0B7C8E-8ECC-D181-5726-CACC3521C2C7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6E5601-E164-CBA0-BAE0-60B51AC9C132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调用链总览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F273DC-21CC-F00E-68E0-5D086399A9CF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C0F210-5022-0465-B7C4-19B8CA2D0B58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整体如何运作？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B5762B-6A69-95E9-1169-9BCE395652E4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这张图就是从用户上传到网页显示结果的代码跳转顺序。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C188476-2E9B-101D-A2F4-BB89F700F9E9}"/>
              </a:ext>
            </a:extLst>
          </p:cNvPr>
          <p:cNvSpPr/>
          <p:nvPr/>
        </p:nvSpPr>
        <p:spPr>
          <a:xfrm>
            <a:off x="571500" y="2032000"/>
            <a:ext cx="1778000" cy="9906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5EB1F7-DEC4-6E83-B92C-F5A79EB39D1B}"/>
              </a:ext>
            </a:extLst>
          </p:cNvPr>
          <p:cNvSpPr txBox="1"/>
          <p:nvPr/>
        </p:nvSpPr>
        <p:spPr>
          <a:xfrm>
            <a:off x="723900" y="2159000"/>
            <a:ext cx="1473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用户上传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67443F-B1CA-CB9D-6FB4-B235291C1B50}"/>
              </a:ext>
            </a:extLst>
          </p:cNvPr>
          <p:cNvSpPr txBox="1"/>
          <p:nvPr/>
        </p:nvSpPr>
        <p:spPr>
          <a:xfrm>
            <a:off x="723900" y="2514600"/>
            <a:ext cx="1473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浏览器提交图片和参数。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654CE90-C91B-9DA4-5F3A-CE942A5F4D79}"/>
              </a:ext>
            </a:extLst>
          </p:cNvPr>
          <p:cNvSpPr/>
          <p:nvPr/>
        </p:nvSpPr>
        <p:spPr>
          <a:xfrm>
            <a:off x="2730500" y="2032000"/>
            <a:ext cx="1778000" cy="9906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7E3CBA-D44E-D81B-D89E-5CB62461BD8A}"/>
              </a:ext>
            </a:extLst>
          </p:cNvPr>
          <p:cNvSpPr txBox="1"/>
          <p:nvPr/>
        </p:nvSpPr>
        <p:spPr>
          <a:xfrm>
            <a:off x="2882900" y="2159000"/>
            <a:ext cx="1473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app_v12_web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3CA33B-D861-CF86-2C12-CC7FEAF14E70}"/>
              </a:ext>
            </a:extLst>
          </p:cNvPr>
          <p:cNvSpPr txBox="1"/>
          <p:nvPr/>
        </p:nvSpPr>
        <p:spPr>
          <a:xfrm>
            <a:off x="2882900" y="2514600"/>
            <a:ext cx="1473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接收请求，保存临时文件。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7BF6DED-33AE-CDB4-B8FC-EAE956DFD1A4}"/>
              </a:ext>
            </a:extLst>
          </p:cNvPr>
          <p:cNvSpPr/>
          <p:nvPr/>
        </p:nvSpPr>
        <p:spPr>
          <a:xfrm>
            <a:off x="4889500" y="2032000"/>
            <a:ext cx="1778000" cy="9906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C243D6-F4CD-9D5C-543E-6BF3650691C6}"/>
              </a:ext>
            </a:extLst>
          </p:cNvPr>
          <p:cNvSpPr txBox="1"/>
          <p:nvPr/>
        </p:nvSpPr>
        <p:spPr>
          <a:xfrm>
            <a:off x="5041900" y="2159000"/>
            <a:ext cx="1473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V12Segmenter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EA7002-9B39-98BA-DE0A-A90C8ED5E81F}"/>
              </a:ext>
            </a:extLst>
          </p:cNvPr>
          <p:cNvSpPr txBox="1"/>
          <p:nvPr/>
        </p:nvSpPr>
        <p:spPr>
          <a:xfrm>
            <a:off x="5041900" y="2514600"/>
            <a:ext cx="14732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加载模型，完成推理。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9579EFE-0D55-93FD-20CD-ABD9634BC69A}"/>
              </a:ext>
            </a:extLst>
          </p:cNvPr>
          <p:cNvSpPr/>
          <p:nvPr/>
        </p:nvSpPr>
        <p:spPr>
          <a:xfrm>
            <a:off x="7048500" y="2032000"/>
            <a:ext cx="1778000" cy="99060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8D5C1F-41E5-E22C-1B71-0065B65153E4}"/>
              </a:ext>
            </a:extLst>
          </p:cNvPr>
          <p:cNvSpPr txBox="1"/>
          <p:nvPr/>
        </p:nvSpPr>
        <p:spPr>
          <a:xfrm>
            <a:off x="7200900" y="2159000"/>
            <a:ext cx="1473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model.forward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79BE3B-6C1B-1E29-5926-185C6E81FE67}"/>
              </a:ext>
            </a:extLst>
          </p:cNvPr>
          <p:cNvSpPr txBox="1"/>
          <p:nvPr/>
        </p:nvSpPr>
        <p:spPr>
          <a:xfrm>
            <a:off x="7200900" y="2514600"/>
            <a:ext cx="1473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logits / prior / boundary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794B9D7-8ADF-E216-223B-553DAF330707}"/>
              </a:ext>
            </a:extLst>
          </p:cNvPr>
          <p:cNvSpPr/>
          <p:nvPr/>
        </p:nvSpPr>
        <p:spPr>
          <a:xfrm>
            <a:off x="9207500" y="2032000"/>
            <a:ext cx="1778000" cy="9906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C94EDD-8B93-8837-E659-C9740B238CA6}"/>
              </a:ext>
            </a:extLst>
          </p:cNvPr>
          <p:cNvSpPr txBox="1"/>
          <p:nvPr/>
        </p:nvSpPr>
        <p:spPr>
          <a:xfrm>
            <a:off x="9359900" y="2159000"/>
            <a:ext cx="1473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postprocess</a:t>
            </a:r>
            <a:endParaRPr lang="zh-CN" altLang="en-US" sz="13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2A75409-F39E-7582-E331-4A9737F2B6AD}"/>
              </a:ext>
            </a:extLst>
          </p:cNvPr>
          <p:cNvSpPr txBox="1"/>
          <p:nvPr/>
        </p:nvSpPr>
        <p:spPr>
          <a:xfrm>
            <a:off x="9359900" y="2514600"/>
            <a:ext cx="1473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阈值化、过滤小连通域、叠加图。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949F7A6-27F7-7437-7EA8-594E5FB9241A}"/>
              </a:ext>
            </a:extLst>
          </p:cNvPr>
          <p:cNvCxnSpPr/>
          <p:nvPr/>
        </p:nvCxnSpPr>
        <p:spPr>
          <a:xfrm>
            <a:off x="2349500" y="2527300"/>
            <a:ext cx="381000" cy="0"/>
          </a:xfrm>
          <a:prstGeom prst="line">
            <a:avLst/>
          </a:prstGeom>
          <a:ln w="25400">
            <a:solidFill>
              <a:srgbClr val="0E74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BDA2C89-0C8D-320B-F87D-21D907ABF6FE}"/>
              </a:ext>
            </a:extLst>
          </p:cNvPr>
          <p:cNvCxnSpPr/>
          <p:nvPr/>
        </p:nvCxnSpPr>
        <p:spPr>
          <a:xfrm>
            <a:off x="4508500" y="2527300"/>
            <a:ext cx="381000" cy="0"/>
          </a:xfrm>
          <a:prstGeom prst="line">
            <a:avLst/>
          </a:prstGeom>
          <a:ln w="25400">
            <a:solidFill>
              <a:srgbClr val="0E74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0E0A00D-DCC0-0A68-0F58-9466720321BB}"/>
              </a:ext>
            </a:extLst>
          </p:cNvPr>
          <p:cNvCxnSpPr/>
          <p:nvPr/>
        </p:nvCxnSpPr>
        <p:spPr>
          <a:xfrm>
            <a:off x="6667500" y="2527300"/>
            <a:ext cx="381000" cy="0"/>
          </a:xfrm>
          <a:prstGeom prst="line">
            <a:avLst/>
          </a:prstGeom>
          <a:ln w="25400">
            <a:solidFill>
              <a:srgbClr val="0E74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776E71A-0635-B702-9E8B-0F52FC4A3587}"/>
              </a:ext>
            </a:extLst>
          </p:cNvPr>
          <p:cNvCxnSpPr/>
          <p:nvPr/>
        </p:nvCxnSpPr>
        <p:spPr>
          <a:xfrm>
            <a:off x="8826500" y="2527300"/>
            <a:ext cx="381000" cy="0"/>
          </a:xfrm>
          <a:prstGeom prst="line">
            <a:avLst/>
          </a:prstGeom>
          <a:ln w="25400">
            <a:solidFill>
              <a:srgbClr val="0E74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23DCAE0E-7693-8079-0412-395F5AAC1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271995"/>
              </p:ext>
            </p:extLst>
          </p:nvPr>
        </p:nvGraphicFramePr>
        <p:xfrm>
          <a:off x="1016000" y="3937000"/>
          <a:ext cx="101600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346282358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60426711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r>
                        <a:rPr lang="zh-CN" altLang="en-US" sz="10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跳转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含义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17627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US" altLang="zh-CN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app_v12_web.py -&gt; src/v12_predictor.py</a:t>
                      </a:r>
                      <a:endParaRPr lang="zh-CN" altLang="en-US" sz="10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Web </a:t>
                      </a:r>
                      <a:r>
                        <a:rPr lang="zh-CN" altLang="en-US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只负责接收请求，真正推理交给 </a:t>
                      </a:r>
                      <a:r>
                        <a:rPr lang="en-US" altLang="zh-CN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Segmenter</a:t>
                      </a:r>
                      <a:r>
                        <a:rPr lang="zh-CN" altLang="en-US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0992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US" altLang="zh-CN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src/v12_predictor.py -&gt; model_factory.py</a:t>
                      </a:r>
                      <a:endParaRPr lang="zh-CN" altLang="en-US" sz="10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根据 </a:t>
                      </a:r>
                      <a:r>
                        <a:rPr lang="en-US" altLang="zh-CN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checkpoint </a:t>
                      </a:r>
                      <a:r>
                        <a:rPr lang="zh-CN" altLang="en-US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或 </a:t>
                      </a:r>
                      <a:r>
                        <a:rPr lang="en-US" altLang="zh-CN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model_name </a:t>
                      </a:r>
                      <a:r>
                        <a:rPr lang="zh-CN" altLang="en-US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选择模型结构。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88535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US" altLang="zh-CN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model_factory.py -&gt; transunet2d_v18.py</a:t>
                      </a:r>
                      <a:endParaRPr lang="zh-CN" altLang="en-US" sz="10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创建 </a:t>
                      </a:r>
                      <a:r>
                        <a:rPr lang="en-US" altLang="zh-CN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网络，然后加载权重。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49893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US" altLang="zh-CN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model.forward -&gt; postprocess</a:t>
                      </a:r>
                      <a:endParaRPr lang="zh-CN" altLang="en-US" sz="10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模型输出概率图，后处理转成可展示结果。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600509"/>
                  </a:ext>
                </a:extLst>
              </a:tr>
            </a:tbl>
          </a:graphicData>
        </a:graphic>
      </p:graphicFrame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0FDA1EF-840F-A09B-40BF-158F23480ADB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1011F42-4438-486E-7888-C811716D7A94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先背这条线，后面每段代码都能挂到这条线上。</a:t>
            </a:r>
          </a:p>
        </p:txBody>
      </p:sp>
    </p:spTree>
    <p:extLst>
      <p:ext uri="{BB962C8B-B14F-4D97-AF65-F5344CB8AC3E}">
        <p14:creationId xmlns:p14="http://schemas.microsoft.com/office/powerpoint/2010/main" val="2648522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DF44B5-473F-886D-5C1D-8872ED98AF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71CC79-5B44-C1CE-9904-CD1B5CCDDCF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E4C0BC-A318-C63D-6E3B-4C0F3CA62BF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A19927-1DC5-3DD3-5489-D3A7D18A3CC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F1CDAC-403E-C014-B8BE-940CF92D8950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31 Web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代码逐行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CE0019-2B8C-64ED-14BF-0044F1C237FB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594C91-E87A-3FED-DE35-4C540F449F7C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app_v12_web.py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：用户点击预测后发生什么？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C6410C-70C6-A7D3-DA10-4FD8B5AB12AE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左边是答辩用伪代码，右边逐行解释。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68C751-D353-F420-04A9-4E00AEE807BB}"/>
              </a:ext>
            </a:extLst>
          </p:cNvPr>
          <p:cNvSpPr/>
          <p:nvPr/>
        </p:nvSpPr>
        <p:spPr>
          <a:xfrm>
            <a:off x="444500" y="1587500"/>
            <a:ext cx="6032500" cy="4445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4D4319-CCD4-4DC0-C057-891157B58999}"/>
              </a:ext>
            </a:extLst>
          </p:cNvPr>
          <p:cNvSpPr txBox="1"/>
          <p:nvPr/>
        </p:nvSpPr>
        <p:spPr>
          <a:xfrm>
            <a:off x="596900" y="1714500"/>
            <a:ext cx="5727700" cy="17927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850">
                <a:solidFill>
                  <a:srgbClr val="E2E8F0"/>
                </a:solidFill>
                <a:latin typeface="Consolas" panose="020B0609020204030204" pitchFamily="49" charset="0"/>
              </a:rPr>
              <a:t>@app.post("/api/predict")
async def predict(file, checkpoint, threshold=0.25, min_area=32):
    image_path = save_upload(file)
    cfg = resolve_config(checkpoint)
    result = segmenter.segment_file(
        image_path, checkpoint=cfg.ckpt,
        threshold=threshold, min_area=min_area, tta=cfg.tta
    )
    metrics = evaluate_if_gt_exists(image_path, result.mask)
    return {"original": url(result.original_png),
            "mask": url(result.mask_png),
            "overlay": url(result.overlay_png),
            "metrics": metrics}</a:t>
            </a:r>
            <a:endParaRPr lang="zh-CN" altLang="en-US" sz="85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D0DED36-7128-DABB-98F4-A32254396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360507"/>
              </p:ext>
            </p:extLst>
          </p:nvPr>
        </p:nvGraphicFramePr>
        <p:xfrm>
          <a:off x="6794500" y="1587500"/>
          <a:ext cx="48895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750">
                  <a:extLst>
                    <a:ext uri="{9D8B030D-6E8A-4147-A177-3AD203B41FA5}">
                      <a16:colId xmlns:a16="http://schemas.microsoft.com/office/drawing/2014/main" val="2573389580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512403823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r>
                        <a:rPr lang="zh-CN" altLang="en-US" sz="8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代码行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解释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25151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@app.post</a:t>
                      </a:r>
                      <a:endParaRPr lang="zh-CN" altLang="en-US" sz="8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声明网页后端接口，前端向 </a:t>
                      </a:r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/api/predict </a:t>
                      </a:r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发送请求。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096247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predict(...)</a:t>
                      </a:r>
                      <a:endParaRPr lang="zh-CN" altLang="en-US" sz="8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接收图片、模型权重、阈值和最小面积。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6484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save_upload</a:t>
                      </a:r>
                      <a:endParaRPr lang="zh-CN" altLang="en-US" sz="8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把上传文件保存成本地临时图片。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281037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resolve_config</a:t>
                      </a:r>
                      <a:endParaRPr lang="zh-CN" altLang="en-US" sz="8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根据选择的 </a:t>
                      </a:r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checkpoint </a:t>
                      </a:r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找到配置。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690129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segment_file</a:t>
                      </a:r>
                      <a:endParaRPr lang="zh-CN" altLang="en-US" sz="8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跳到 </a:t>
                      </a:r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src/v12_predictor.py </a:t>
                      </a:r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做真正推理。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538377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evaluate_if_gt_exists</a:t>
                      </a:r>
                      <a:endParaRPr lang="zh-CN" altLang="en-US" sz="8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如果有真值 </a:t>
                      </a:r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mask</a:t>
                      </a:r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，就计算指标。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664889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lang="en-US" altLang="zh-CN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return</a:t>
                      </a:r>
                      <a:endParaRPr lang="zh-CN" altLang="en-US" sz="85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5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把图片路径和指标返回给前端。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276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162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5DDEC1-5CBF-70E7-6AA0-52906FAA0F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A028F7-2CA4-89E1-E2BB-F83F07F89B5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B5ED16-5F69-2B73-F162-3F07B169948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4C6F8E-046E-5461-32B1-3DB21504EA6E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C7E9D9-3C0B-1498-396B-52F0C731ECF1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推理封装逐行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8FDDFE-6CD5-EE08-FE50-79312031F33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491982-C513-D39C-80B9-356042AA5492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src/v12_predictor.py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segment_file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做了什么？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1D7103-2984-5A74-3737-FF568D83DBD3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它是 </a:t>
            </a:r>
            <a:r>
              <a:rPr lang="en-US" altLang="zh-CN" sz="1300">
                <a:solidFill>
                  <a:srgbClr val="475569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与模型之间的中间层。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79038C-9833-416F-A0A8-AE6204870121}"/>
              </a:ext>
            </a:extLst>
          </p:cNvPr>
          <p:cNvSpPr/>
          <p:nvPr/>
        </p:nvSpPr>
        <p:spPr>
          <a:xfrm>
            <a:off x="444500" y="1676400"/>
            <a:ext cx="6032500" cy="4191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3AB264-61FD-4EFA-828D-81EFF1252D84}"/>
              </a:ext>
            </a:extLst>
          </p:cNvPr>
          <p:cNvSpPr txBox="1"/>
          <p:nvPr/>
        </p:nvSpPr>
        <p:spPr>
          <a:xfrm>
            <a:off x="596900" y="1803400"/>
            <a:ext cx="5727700" cy="16158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def segment_file(path, checkpoint, threshold, min_area, tta=False):
    image = read_grayscale(path)
    x = preprocess(image).to(device)
    model = load_model(checkpoint).to(device)
    logits = model(x)["seg"]
    prob = sigmoid(logits)
    if tta:
        prob = average_tta_predictions(model, x)
    mask = remove_small_components(prob &gt; threshold, min_area)
    overlay = build_overlay(image, mask)
    return SegmentResult(mask=mask, overlay=overlay, prob=prob)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E748C7D-4EA7-70C5-3D49-D5B4D6528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878643"/>
              </p:ext>
            </p:extLst>
          </p:nvPr>
        </p:nvGraphicFramePr>
        <p:xfrm>
          <a:off x="6794500" y="1676400"/>
          <a:ext cx="48895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750">
                  <a:extLst>
                    <a:ext uri="{9D8B030D-6E8A-4147-A177-3AD203B41FA5}">
                      <a16:colId xmlns:a16="http://schemas.microsoft.com/office/drawing/2014/main" val="2200025127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3205069190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lang="zh-CN" altLang="en-US" sz="88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代码行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8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解释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42968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read_grayscale</a:t>
                      </a:r>
                      <a:endParaRPr lang="zh-CN" altLang="en-US" sz="88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胸片按灰度图读取。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9283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preprocess</a:t>
                      </a:r>
                      <a:endParaRPr lang="zh-CN" altLang="en-US" sz="88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缩放、归一化、转 </a:t>
                      </a:r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tensor</a:t>
                      </a:r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94828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load_model</a:t>
                      </a:r>
                      <a:endParaRPr lang="zh-CN" altLang="en-US" sz="88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根据权重加载 </a:t>
                      </a:r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或其他模型。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07499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model(x)[seg]</a:t>
                      </a:r>
                      <a:endParaRPr lang="zh-CN" altLang="en-US" sz="88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调用模型 </a:t>
                      </a:r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forward</a:t>
                      </a:r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，拿分割 </a:t>
                      </a:r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logits</a:t>
                      </a:r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559049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sigmoid</a:t>
                      </a:r>
                      <a:endParaRPr lang="zh-CN" altLang="en-US" sz="88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 </a:t>
                      </a:r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logits </a:t>
                      </a:r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转为 </a:t>
                      </a:r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0-1 </a:t>
                      </a:r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321468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prob &gt; threshold</a:t>
                      </a:r>
                      <a:endParaRPr lang="zh-CN" altLang="en-US" sz="88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概率图转二值 </a:t>
                      </a:r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mask</a:t>
                      </a:r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86402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build_overlay</a:t>
                      </a:r>
                      <a:endParaRPr lang="zh-CN" altLang="en-US" sz="88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把红色 </a:t>
                      </a:r>
                      <a:r>
                        <a:rPr lang="en-US" altLang="zh-CN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mask </a:t>
                      </a:r>
                      <a:r>
                        <a:rPr lang="zh-CN" altLang="en-US" sz="88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叠加回原图。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710443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E67BEBF-A0F3-07AF-0994-1ECF05FC9C71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1B749B-3375-9DD5-5E44-30C2A2B8A2B5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这里最关键的跳转是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load_model -&gt; model_factory -&gt;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具体模型类。</a:t>
            </a:r>
          </a:p>
        </p:txBody>
      </p:sp>
    </p:spTree>
    <p:extLst>
      <p:ext uri="{BB962C8B-B14F-4D97-AF65-F5344CB8AC3E}">
        <p14:creationId xmlns:p14="http://schemas.microsoft.com/office/powerpoint/2010/main" val="3018347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D286104-15EA-B142-A8B7-242DE88C95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320401-2602-6681-C2D4-E875F8B16C20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CB1620-5AC2-4499-FEB5-61240BA044D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CBD67F-A526-AF1C-BD7D-94F1658C49EC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516312-3E67-C90D-7C6E-FD1528AAB194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模型构建逐行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E7949B-790F-42C1-A8D9-A466AEE141B1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2E2971-CD71-5749-ADC3-7DCDEFD068EE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model_factory.py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：模型名字如何变成代码对象？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FC1186-250C-8BAE-F678-F4FE03EFC62A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训练和推理都需要先构建模型结构，再加载权重。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CFEAFF-545E-BCE3-9604-A37439CF47FD}"/>
              </a:ext>
            </a:extLst>
          </p:cNvPr>
          <p:cNvSpPr/>
          <p:nvPr/>
        </p:nvSpPr>
        <p:spPr>
          <a:xfrm>
            <a:off x="635000" y="1714500"/>
            <a:ext cx="6604000" cy="3556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BEE9AE-5F1C-9B77-7041-7652541C063F}"/>
              </a:ext>
            </a:extLst>
          </p:cNvPr>
          <p:cNvSpPr txBox="1"/>
          <p:nvPr/>
        </p:nvSpPr>
        <p:spPr>
          <a:xfrm>
            <a:off x="787400" y="1841500"/>
            <a:ext cx="6299200" cy="13388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def build_model(name, in_channels=1, out_channels=1):
    name = normalize_model_name(name)
    if name == "transunet2d_v18":
        from src.models.transunet2d_v18 import build_transunet2d_v18
        return build_transunet2d_v18(in_channels, out_channels)
    if name == "lowdice_refinenet2d":
        from src.models.lowdice_refinenet2d import build_lowdice_refinenet2d
        return build_lowdice_refinenet2d(in_channels, out_channels)
    raise ValueError("unknown model")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907A7DA4-EF5F-F8FB-3993-1520F3F25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656961"/>
              </p:ext>
            </p:extLst>
          </p:nvPr>
        </p:nvGraphicFramePr>
        <p:xfrm>
          <a:off x="7747000" y="1714500"/>
          <a:ext cx="37465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250">
                  <a:extLst>
                    <a:ext uri="{9D8B030D-6E8A-4147-A177-3AD203B41FA5}">
                      <a16:colId xmlns:a16="http://schemas.microsoft.com/office/drawing/2014/main" val="1116799018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1374862058"/>
                    </a:ext>
                  </a:extLst>
                </a:gridCol>
              </a:tblGrid>
              <a:tr h="592667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代码行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解释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013522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normalize_model_name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把别名统一成标准模型名。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647529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if transunet2d_v18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选择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338799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import build_transunet2d_v18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跳到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src/models/transunet2d_v18.py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274070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if lowdice_refinenet2d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选择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84069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raise ValueError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输入未知模型名时直接报错，避免加载错模型。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41557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F243B42-CC66-C781-226A-1A96C3BA40A9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28C7BB-F1DE-8CAC-F63A-A93B7071D149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调用链：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segment_file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需要模型时，会通过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model_factory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找到具体模型文件。</a:t>
            </a:r>
          </a:p>
        </p:txBody>
      </p:sp>
    </p:spTree>
    <p:extLst>
      <p:ext uri="{BB962C8B-B14F-4D97-AF65-F5344CB8AC3E}">
        <p14:creationId xmlns:p14="http://schemas.microsoft.com/office/powerpoint/2010/main" val="2566238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770A7A-DD0E-41E9-8FA8-05D9BAC63A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EDBF3E-B35D-EE7C-3785-924CC5AFF7E5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85887A-453B-4148-CED0-311C9616706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5E4643-B75E-7002-15B4-39D26BCEA5BE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C3CCE3-23C1-EFFA-5031-2122ED1CE3EB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34 v18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代码逐行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7A6E88-8D39-202C-D5D9-5716A47A9790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5AF475-0122-0EB9-F35B-8FDA9DE3CD3E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FrequencyPriorExtractor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每行做什么？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FE971D-A765-31E4-37EB-EBB93B7A90FD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这一段把胸片变成频域</a:t>
            </a:r>
            <a:r>
              <a:rPr lang="en-US" altLang="zh-CN" sz="1300">
                <a:solidFill>
                  <a:srgbClr val="47556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边界先验。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747699-761D-D206-E9AD-10C779A5A00E}"/>
              </a:ext>
            </a:extLst>
          </p:cNvPr>
          <p:cNvSpPr/>
          <p:nvPr/>
        </p:nvSpPr>
        <p:spPr>
          <a:xfrm>
            <a:off x="444500" y="1625600"/>
            <a:ext cx="5651500" cy="3937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EBAC8D-4606-192C-6D76-CD1E719D4383}"/>
              </a:ext>
            </a:extLst>
          </p:cNvPr>
          <p:cNvSpPr txBox="1"/>
          <p:nvPr/>
        </p:nvSpPr>
        <p:spPr>
          <a:xfrm>
            <a:off x="596900" y="1752600"/>
            <a:ext cx="5346700" cy="13388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gray = image.mean(dim=1, keepdim=True)
low = avg_pool2d(gray, kernel_size=9, stride=1, padding=4)
high = gray - low
gx = conv2d(gray, sobel_x, padding=1)
gy = conv2d(gray, sobel_y, padding=1)
edge = sqrt(gx.square() + gy.square() + 1e-6)
lap = conv2d(gray, laplace, padding=1).abs()
feat = encoder(cat([gray, low, high.abs(), edge, lap], dim=1))
prior_logits = head(feat)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38C3B3D-16FE-4E0A-4A5B-7157FD559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559021"/>
              </p:ext>
            </p:extLst>
          </p:nvPr>
        </p:nvGraphicFramePr>
        <p:xfrm>
          <a:off x="6413500" y="1625600"/>
          <a:ext cx="52705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5250">
                  <a:extLst>
                    <a:ext uri="{9D8B030D-6E8A-4147-A177-3AD203B41FA5}">
                      <a16:colId xmlns:a16="http://schemas.microsoft.com/office/drawing/2014/main" val="2068521748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3763779696"/>
                    </a:ext>
                  </a:extLst>
                </a:gridCol>
              </a:tblGrid>
              <a:tr h="437444">
                <a:tc>
                  <a:txBody>
                    <a:bodyPr/>
                    <a:lstStyle/>
                    <a:p>
                      <a:r>
                        <a:rPr lang="zh-CN" altLang="en-US" sz="82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行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2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意思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564902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gray</a:t>
                      </a:r>
                      <a:endParaRPr lang="zh-CN" altLang="en-US" sz="82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把输入转为灰度通道。胸片本身就是灰度信息为主。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373829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</a:t>
                      </a:r>
                      <a:endParaRPr lang="zh-CN" altLang="en-US" sz="82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平均池化得到低频亮度趋势。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377013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high</a:t>
                      </a:r>
                      <a:endParaRPr lang="zh-CN" altLang="en-US" sz="82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原图减低频，得到局部纹理变化。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68306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gx / gy</a:t>
                      </a:r>
                      <a:endParaRPr lang="zh-CN" altLang="en-US" sz="82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Sobel </a:t>
                      </a:r>
                      <a:r>
                        <a:rPr lang="zh-CN" altLang="en-US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横纵梯度，检测边缘方向。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104584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edge</a:t>
                      </a:r>
                      <a:endParaRPr lang="zh-CN" altLang="en-US" sz="82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合成边缘强度图。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252635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lap</a:t>
                      </a:r>
                      <a:endParaRPr lang="zh-CN" altLang="en-US" sz="82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Laplace </a:t>
                      </a:r>
                      <a:r>
                        <a:rPr lang="zh-CN" altLang="en-US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响应，强调边界和突变。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86931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feat</a:t>
                      </a:r>
                      <a:endParaRPr lang="zh-CN" altLang="en-US" sz="82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把这些先验拼接后送入小 </a:t>
                      </a:r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encoder</a:t>
                      </a:r>
                      <a:r>
                        <a:rPr lang="zh-CN" altLang="en-US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476313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r>
                        <a:rPr lang="en-US" altLang="zh-CN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prior_logits</a:t>
                      </a:r>
                      <a:endParaRPr lang="zh-CN" altLang="en-US" sz="82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2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输出一个辅助病灶先验图。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866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798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469686E-5CFE-C9F2-EFE0-D6DDF8D5D6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2D58C2-C615-EB7C-1D4C-3E1E1A2176E5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5E30EE-D69F-462D-D6E8-84F1E2C3EEE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892EC2-54BC-5277-D1CC-1B866404E16C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988566-7751-10EF-AAB1-FB8A99249A3C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35 v18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代码逐行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ACAD02-3847-DBA1-F343-9AF6E24A80DE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88F420-7C3E-7595-997D-1AB41A569C7D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residual adapter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每行做什么？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DA6D989-ACAC-4680-9F0A-6056ED0DF66D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>
                <a:solidFill>
                  <a:srgbClr val="475569"/>
                </a:solidFill>
                <a:latin typeface="Microsoft YaHei" panose="020B0503020204020204" pitchFamily="34" charset="-122"/>
              </a:rPr>
              <a:t>adapter </a:t>
            </a:r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的作用是把先验注入不同尺度特征。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A39A7D-9EE6-B67C-56BB-34945B7A2B56}"/>
              </a:ext>
            </a:extLst>
          </p:cNvPr>
          <p:cNvSpPr/>
          <p:nvPr/>
        </p:nvSpPr>
        <p:spPr>
          <a:xfrm>
            <a:off x="698500" y="1905000"/>
            <a:ext cx="5588000" cy="2159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4C6B67-D938-933E-3311-F04689CD6F85}"/>
              </a:ext>
            </a:extLst>
          </p:cNvPr>
          <p:cNvSpPr txBox="1"/>
          <p:nvPr/>
        </p:nvSpPr>
        <p:spPr>
          <a:xfrm>
            <a:off x="850900" y="2032000"/>
            <a:ext cx="5283200" cy="86177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2E8F0"/>
                </a:solidFill>
                <a:latin typeface="Consolas" panose="020B0609020204030204" pitchFamily="49" charset="0"/>
              </a:rPr>
              <a:t>prior_feat = interpolate(prior_feat, size=feat.shape[-2:])
prior_prob = interpolate(sigmoid(prior_logits), size=feat.shape[-2:])
delta = self.net(cat([feat, prior_feat, prior_prob], dim=1))
out = feat + tanh(self.gamma) * delta
return out</a:t>
            </a:r>
            <a:endParaRPr lang="zh-CN" altLang="en-US" sz="10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947F042-5745-F7F3-DA66-736CA5652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00248"/>
              </p:ext>
            </p:extLst>
          </p:nvPr>
        </p:nvGraphicFramePr>
        <p:xfrm>
          <a:off x="6794500" y="1587500"/>
          <a:ext cx="46990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2989247840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1280013398"/>
                    </a:ext>
                  </a:extLst>
                </a:gridCol>
              </a:tblGrid>
              <a:tr h="526143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行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意思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12309"/>
                  </a:ext>
                </a:extLst>
              </a:tr>
              <a:tr h="526143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interpolate prior_feat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把先验特征缩放到和当前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encoder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特征一样大小。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705143"/>
                  </a:ext>
                </a:extLst>
              </a:tr>
              <a:tr h="526143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sigmoid prior_logits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把先验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logits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变成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0-1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405952"/>
                  </a:ext>
                </a:extLst>
              </a:tr>
              <a:tr h="526143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cat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把原特征、先验特征、先验概率拼在一起。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591745"/>
                  </a:ext>
                </a:extLst>
              </a:tr>
              <a:tr h="526143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delta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经过小网络生成要补充的残差信息。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238036"/>
                  </a:ext>
                </a:extLst>
              </a:tr>
              <a:tr h="526143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gamma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可学习强度，初始化为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，避免一开始破坏基线模型。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084738"/>
                  </a:ext>
                </a:extLst>
              </a:tr>
              <a:tr h="526143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feat + ...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保留原特征，只加一小部分先验修正。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835124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E6AADE4-9010-5687-138D-1E73548A8E95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182BB6-6DA9-37F8-EC2B-05E09E871B52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这就是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稳定的原因：不是强行替换特征，而是残差式轻量注入。</a:t>
            </a:r>
          </a:p>
        </p:txBody>
      </p:sp>
    </p:spTree>
    <p:extLst>
      <p:ext uri="{BB962C8B-B14F-4D97-AF65-F5344CB8AC3E}">
        <p14:creationId xmlns:p14="http://schemas.microsoft.com/office/powerpoint/2010/main" val="42814528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11E5AD8-CF81-D638-FA0B-7AD77591B0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8992D7-BCA9-0BC1-D968-B92349E1CB0B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DEB1CB-1990-2B8F-054B-953BAF784DE0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63B336-B8E8-CD9F-1727-CEB92E26B5A9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71D2E4-A385-55B4-1D3C-025A8ECBFAC5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36 v18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代码逐行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C21BA8-FD06-44ED-8AAA-B1BEFC81B27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EE7BD1-6934-5936-DEAE-E69DDA9CF232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v18 forward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：一张图如何走完整个模型？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3D2003-17E0-21D7-2750-CFC1F23331A9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这是 </a:t>
            </a:r>
            <a:r>
              <a:rPr lang="en-US" altLang="zh-CN" sz="1300">
                <a:solidFill>
                  <a:srgbClr val="475569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从输入到输出的主路径。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31EB2A-720A-35E6-19A5-CB981972719E}"/>
              </a:ext>
            </a:extLst>
          </p:cNvPr>
          <p:cNvSpPr/>
          <p:nvPr/>
        </p:nvSpPr>
        <p:spPr>
          <a:xfrm>
            <a:off x="444500" y="1549400"/>
            <a:ext cx="6350000" cy="43815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8EAD1B-622C-789B-B0F7-8DFDA8ABBCD7}"/>
              </a:ext>
            </a:extLst>
          </p:cNvPr>
          <p:cNvSpPr txBox="1"/>
          <p:nvPr/>
        </p:nvSpPr>
        <p:spPr>
          <a:xfrm>
            <a:off x="596900" y="1676400"/>
            <a:ext cx="60452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880">
                <a:solidFill>
                  <a:srgbClr val="E2E8F0"/>
                </a:solidFill>
                <a:latin typeface="Consolas" panose="020B0609020204030204" pitchFamily="49" charset="0"/>
              </a:rPr>
              <a:t>prior_feat, prior_logits = self.prior_branch(x)
s1 = adapter1(enc1(x), prior_feat, prior_logits)
s2 = adapter2(enc2(down(s1)), prior_feat, prior_logits)
s3 = adapter3(enc3(down(s2)), prior_feat, prior_logits)
s4 = adapter4(enc4(down(s3)), prior_feat, prior_logits)
tokens = transformer(flatten(down(s4)), h, w)
d1 = decoder(tokens, skip=[s4, s3, s2, s1])
coarse = coarse_out(d1)
seg_logits = coarse + refine(d1, coarse)
return {"seg": seg_logits, "prior": prior_logits, "boundary": boundary_head(d1)}</a:t>
            </a:r>
            <a:endParaRPr lang="zh-CN" altLang="en-US" sz="88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CED0269-51BA-6079-4D91-19AF3042B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949998"/>
              </p:ext>
            </p:extLst>
          </p:nvPr>
        </p:nvGraphicFramePr>
        <p:xfrm>
          <a:off x="7112000" y="1549400"/>
          <a:ext cx="4572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40317437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386390217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阶段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解释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51941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prior_branch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先算胸片先验。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13808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s1-s4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四层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encoder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特征，并逐层注入先验。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48515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transformer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瓶颈层建模全局上下文。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91846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decoder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上采样恢复空间分辨率，并使用跳跃连接。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14426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coarse + refine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粗分割加边界细化。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01925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输出字典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seg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用于最终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mask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prior/boundary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用于辅助监督。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91511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B415147-D9E0-AFF9-2DCD-5AA06FE2F9E8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15EA1A-C46A-EF25-A3A6-43913CA1569D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模型代码跳转：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forward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内部先去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prior_branch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，再走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encoder/adapter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，再走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transformer/decoder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，最后返回字典。</a:t>
            </a:r>
          </a:p>
        </p:txBody>
      </p:sp>
    </p:spTree>
    <p:extLst>
      <p:ext uri="{BB962C8B-B14F-4D97-AF65-F5344CB8AC3E}">
        <p14:creationId xmlns:p14="http://schemas.microsoft.com/office/powerpoint/2010/main" val="23725358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C08910E-9B82-49AD-2361-930207B82F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A0A65-FD4B-E3A3-1EEC-3908098E4022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9D100F-769C-05CB-1359-4F6274152097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35B266-3430-0618-B799-1A79266D91C6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09C308-5A51-FB32-AA61-6B3B0B03E54B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37 LowDice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代码逐行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2D5D22-2476-58CB-3DDD-EB980A56DBDD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743D9B-F97C-355A-C0FC-D575530E8AAA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LowDicePrior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：为什么要额外加坐标和边界？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E0AE66-F667-EE0F-158C-8C46AF60C210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低分样本常见位置偏移、小病灶和边界模糊。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7F3893-88A0-F985-BFE6-B0D41F2D66D4}"/>
              </a:ext>
            </a:extLst>
          </p:cNvPr>
          <p:cNvSpPr/>
          <p:nvPr/>
        </p:nvSpPr>
        <p:spPr>
          <a:xfrm>
            <a:off x="571500" y="1778000"/>
            <a:ext cx="5715000" cy="3175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790094-D891-36E7-2A1C-6D00770192E1}"/>
              </a:ext>
            </a:extLst>
          </p:cNvPr>
          <p:cNvSpPr txBox="1"/>
          <p:nvPr/>
        </p:nvSpPr>
        <p:spPr>
          <a:xfrm>
            <a:off x="723900" y="1905000"/>
            <a:ext cx="5410200" cy="11156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50">
                <a:solidFill>
                  <a:srgbClr val="E2E8F0"/>
                </a:solidFill>
                <a:latin typeface="Consolas" panose="020B0609020204030204" pitchFamily="49" charset="0"/>
              </a:rPr>
              <a:t>gray = x[:, :1]
low  = avg_pool(gray, kernel=9)
high = abs(gray - low)
edge = sqrt(sobel_x(gray)^2 + sobel_y(gray)^2)
lap  = abs(laplace(gray))
xx, yy = normalized_coord(gray.shape)
prior = concat([gray, low, high, edge, lap, xx, yy])</a:t>
            </a:r>
            <a:endParaRPr lang="zh-CN" altLang="en-US" sz="95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9F44A35-F018-1687-0A27-162E38C88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97769"/>
              </p:ext>
            </p:extLst>
          </p:nvPr>
        </p:nvGraphicFramePr>
        <p:xfrm>
          <a:off x="6794500" y="1651000"/>
          <a:ext cx="46990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297587731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1313925746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行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解释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09355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gray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保留原始胸片灰度。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89015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看整体肺野亮度趋势。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63225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high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看局部纹理异常。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406417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edge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看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Sobel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边缘。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09711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lap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看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Laplace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边界突变。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154207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xx / yy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告诉模型像素在图中的位置。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66757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concat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把所有先验合成新的输入特征。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531777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311F3D6-9C50-5EF7-76A5-AF9B5F547324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F27AB4-AFE5-F812-3913-465B025C01E4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先验偏稳定，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先验更强调困难样本的细节和位置。</a:t>
            </a:r>
          </a:p>
        </p:txBody>
      </p:sp>
    </p:spTree>
    <p:extLst>
      <p:ext uri="{BB962C8B-B14F-4D97-AF65-F5344CB8AC3E}">
        <p14:creationId xmlns:p14="http://schemas.microsoft.com/office/powerpoint/2010/main" val="1807989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60C4555-65C0-98DA-9A90-4672723E16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681BA9-5009-1804-C396-C51F04DD4A32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FF469A-B1FD-9E39-832B-AEFA97EC65B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37B53C-F279-481D-3667-A9E5CD9E7E46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FF7C70-D704-5396-FACE-AAFAA2573817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38 LowDice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代码逐行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F4A6E9-01F8-BA46-04CD-CBB49740F1A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EF7FCA-DB29-83BC-34DA-399C79622477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LowDiceRefineNet forward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：专家模型如何输出 </a:t>
            </a:r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2E8B70-2ACB-5AA8-EB7C-B74340E16CD9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这段说明专家模型不是单纯 </a:t>
            </a:r>
            <a:r>
              <a:rPr lang="en-US" altLang="zh-CN" sz="1300">
                <a:solidFill>
                  <a:srgbClr val="475569"/>
                </a:solidFill>
                <a:latin typeface="Microsoft YaHei" panose="020B0503020204020204" pitchFamily="34" charset="-122"/>
              </a:rPr>
              <a:t>U-Net</a:t>
            </a:r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92B2F4-D9CB-4969-E9C3-85D40965FFE5}"/>
              </a:ext>
            </a:extLst>
          </p:cNvPr>
          <p:cNvSpPr/>
          <p:nvPr/>
        </p:nvSpPr>
        <p:spPr>
          <a:xfrm>
            <a:off x="635000" y="1714500"/>
            <a:ext cx="5842000" cy="3175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5DF0CDC-8D5D-2AFB-00C8-B326A59DF4AE}"/>
              </a:ext>
            </a:extLst>
          </p:cNvPr>
          <p:cNvSpPr txBox="1"/>
          <p:nvPr/>
        </p:nvSpPr>
        <p:spPr>
          <a:xfrm>
            <a:off x="787400" y="1841500"/>
            <a:ext cx="55372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2E8F0"/>
                </a:solidFill>
                <a:latin typeface="Consolas" panose="020B0609020204030204" pitchFamily="49" charset="0"/>
              </a:rPr>
              <a:t>prior = self.prior(x)
x0 = self.stem(cat([x, prior], dim=1))
feat = self.encoder(x0)
feat = self.aspp(feat)
d1 = self.decoder(feat)
d1 = self.local_refine(cat([d1, prior], dim=1))
seg = self.seg_head(d1)
return {"seg": seg}</a:t>
            </a:r>
            <a:endParaRPr lang="zh-CN" altLang="en-US" sz="10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975BC0C-ECED-B1F6-6FD4-8D7F911C0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013883"/>
              </p:ext>
            </p:extLst>
          </p:nvPr>
        </p:nvGraphicFramePr>
        <p:xfrm>
          <a:off x="6794500" y="1524000"/>
          <a:ext cx="48895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750">
                  <a:extLst>
                    <a:ext uri="{9D8B030D-6E8A-4147-A177-3AD203B41FA5}">
                      <a16:colId xmlns:a16="http://schemas.microsoft.com/office/drawing/2014/main" val="360216571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4210448353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r>
                        <a:rPr lang="zh-CN" altLang="en-US" sz="86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行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6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解释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794814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self.prior</a:t>
                      </a:r>
                      <a:endParaRPr lang="zh-CN" altLang="en-US" sz="86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生成低分样本先验特征。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517240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cat([x, prior])</a:t>
                      </a:r>
                      <a:endParaRPr lang="zh-CN" altLang="en-US" sz="86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把原图和先验一起送入网络。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964381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stem</a:t>
                      </a:r>
                      <a:endParaRPr lang="zh-CN" altLang="en-US" sz="86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最初的卷积特征提取。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98499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encoder</a:t>
                      </a:r>
                      <a:endParaRPr lang="zh-CN" altLang="en-US" sz="86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提取深层语义。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281009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aspp</a:t>
                      </a:r>
                      <a:endParaRPr lang="zh-CN" altLang="en-US" sz="86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多尺度上下文，兼顾小病灶和大片病灶。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806104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decoder</a:t>
                      </a:r>
                      <a:endParaRPr lang="zh-CN" altLang="en-US" sz="86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恢复空间分辨率。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222904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local_refine</a:t>
                      </a:r>
                      <a:endParaRPr lang="zh-CN" altLang="en-US" sz="86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回到高分辨率位置细化边界。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869710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seg_head</a:t>
                      </a:r>
                      <a:endParaRPr lang="zh-CN" altLang="en-US" sz="86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输出最终分割 </a:t>
                      </a:r>
                      <a:r>
                        <a:rPr lang="en-US" altLang="zh-CN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logits</a:t>
                      </a:r>
                      <a:r>
                        <a:rPr lang="zh-CN" altLang="en-US" sz="86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84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34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6F788C8-2E0A-3949-8D0E-6F88254574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772CA5-A8AE-BB05-66E0-D2B467363E06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7B3AB1-88A3-A6AB-8D13-56FD433667D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F5C915-A0BA-D745-7E8E-8541CCD31AEF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3569B7-5D88-4BA9-4A30-5AC7649542F5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39 Gate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代码逐行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684E95-AE34-D9F8-22F0-80D01A1D4C1C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E63F49-761F-3E64-7EBF-32FFC5C8698E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门控代码：错误类型如何变成专家选择？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213DC1-23BA-CB65-9754-592981E648F1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最终策略靠这段逻辑把低分样本分流。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B26A0F-9EF1-9B7F-A9E8-40B59BC111C2}"/>
              </a:ext>
            </a:extLst>
          </p:cNvPr>
          <p:cNvSpPr/>
          <p:nvPr/>
        </p:nvSpPr>
        <p:spPr>
          <a:xfrm>
            <a:off x="444500" y="1549400"/>
            <a:ext cx="6540500" cy="4318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319174-9D38-621F-96E7-6D4216CEE6A5}"/>
              </a:ext>
            </a:extLst>
          </p:cNvPr>
          <p:cNvSpPr txBox="1"/>
          <p:nvPr/>
        </p:nvSpPr>
        <p:spPr>
          <a:xfrm>
            <a:off x="596900" y="1676400"/>
            <a:ext cx="6235700" cy="15481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860">
                <a:solidFill>
                  <a:srgbClr val="E2E8F0"/>
                </a:solidFill>
                <a:latin typeface="Consolas" panose="020B0609020204030204" pitchFamily="49" charset="0"/>
              </a:rPr>
              <a:t>def gate_choice(failure_type, available):
    routing = {
        "over_segmented_fp": ("actual_fp", "actual_all", "precision", "broad"),
        "under_segmented_fn": ("actual_fn", "boundary", "recall", "broad"),
        "mostly_missed_fn": ("recall", "actual_fn", "boundary", "broad"),
        "boundary_or_shift_error": ("basev18", "actual_all", "broad"),
    }.get(str(failure_type), ("broad",))
    for preferred in routing:
        if preferred in available:
            return preferred
    return "basev18"</a:t>
            </a:r>
            <a:endParaRPr lang="zh-CN" altLang="en-US" sz="86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E309CA13-BE6A-635D-E5A6-B87E5D9FB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834851"/>
              </p:ext>
            </p:extLst>
          </p:nvPr>
        </p:nvGraphicFramePr>
        <p:xfrm>
          <a:off x="7302500" y="1549400"/>
          <a:ext cx="43815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3375738978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349124351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84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行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4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解释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64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failure_type</a:t>
                      </a:r>
                      <a:endParaRPr lang="zh-CN" altLang="en-US" sz="84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当前样本属于哪类错误。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5583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available</a:t>
                      </a:r>
                      <a:endParaRPr lang="zh-CN" altLang="en-US" sz="84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当前已经有预测结果的专家集合。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78154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routing </a:t>
                      </a:r>
                      <a:r>
                        <a:rPr lang="zh-CN" altLang="en-US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字典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为每类错误设置候选专家顺序。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4643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get(... broad)</a:t>
                      </a:r>
                      <a:endParaRPr lang="zh-CN" altLang="en-US" sz="84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未知错误时默认用 </a:t>
                      </a:r>
                      <a:r>
                        <a:rPr lang="en-US" altLang="zh-CN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broad </a:t>
                      </a:r>
                      <a:r>
                        <a:rPr lang="zh-CN" altLang="en-US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4803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for preferred</a:t>
                      </a:r>
                      <a:endParaRPr lang="zh-CN" altLang="en-US" sz="84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按优先级逐个尝试专家。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43332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if in available</a:t>
                      </a:r>
                      <a:endParaRPr lang="zh-CN" altLang="en-US" sz="84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该专家存在就选它。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58271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return basev18</a:t>
                      </a:r>
                      <a:endParaRPr lang="zh-CN" altLang="en-US" sz="84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所有专家不可用时回退到 </a:t>
                      </a:r>
                      <a:r>
                        <a:rPr lang="en-US" altLang="zh-CN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</a:t>
                      </a:r>
                      <a:r>
                        <a:rPr lang="zh-CN" altLang="en-US" sz="84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656372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FA7C7E2-B7CF-D74B-4ACB-587B867F9E20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9ED8E07-2836-4225-34F5-7809E9381E7D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这段代码就是论文里的「错误类型感知多专家门控」。</a:t>
            </a:r>
          </a:p>
        </p:txBody>
      </p:sp>
    </p:spTree>
    <p:extLst>
      <p:ext uri="{BB962C8B-B14F-4D97-AF65-F5344CB8AC3E}">
        <p14:creationId xmlns:p14="http://schemas.microsoft.com/office/powerpoint/2010/main" val="832958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A2F685-1DCE-66A7-08A8-5D219F3537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4865D5-11F0-CBEB-2766-D0B1F40C64B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746D83-875F-7D9F-EE8B-C1EF61E1F23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2AAA9F-F2AE-CE00-F372-80C71CD3C62D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DAC2B6-D4A7-48A0-E06C-35566FA1B8DE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40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后处理逐行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A9787C-424A-D2CF-110B-C9C2698FA220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5E3A83-F3B2-D1AB-3E18-D2D6ED4AC4E8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后处理：概率图如何变成网页里的红色区域？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9AA052-D2FF-F597-51C6-D20BAC8E62A3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后处理决定最终展示是否干净。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D60BAC-15EB-C90F-4CEB-779EA295B3DE}"/>
              </a:ext>
            </a:extLst>
          </p:cNvPr>
          <p:cNvSpPr/>
          <p:nvPr/>
        </p:nvSpPr>
        <p:spPr>
          <a:xfrm>
            <a:off x="698500" y="1905000"/>
            <a:ext cx="4953000" cy="23495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3E20B9-DD64-04AD-B22A-0173BC48CAED}"/>
              </a:ext>
            </a:extLst>
          </p:cNvPr>
          <p:cNvSpPr txBox="1"/>
          <p:nvPr/>
        </p:nvSpPr>
        <p:spPr>
          <a:xfrm>
            <a:off x="850900" y="2032000"/>
            <a:ext cx="4648200" cy="10618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E2E8F0"/>
                </a:solidFill>
                <a:latin typeface="Consolas" panose="020B0609020204030204" pitchFamily="49" charset="0"/>
              </a:rPr>
              <a:t>prob = sigmoid(logits)
pred = prob &gt; threshold
pred = remove_small_components(pred, min_area)
area_ratio = pred.sum() / pred.size
overlay = build_overlay(image, pred, alpha=0.35)
save_png(original, mask, overlay)</a:t>
            </a:r>
            <a:endParaRPr lang="zh-CN" altLang="en-US" sz="105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A86E4E2-3ADB-5870-683C-0A8913AEE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10642"/>
              </p:ext>
            </p:extLst>
          </p:nvPr>
        </p:nvGraphicFramePr>
        <p:xfrm>
          <a:off x="6413500" y="1651000"/>
          <a:ext cx="48895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750">
                  <a:extLst>
                    <a:ext uri="{9D8B030D-6E8A-4147-A177-3AD203B41FA5}">
                      <a16:colId xmlns:a16="http://schemas.microsoft.com/office/drawing/2014/main" val="844906992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3104699422"/>
                    </a:ext>
                  </a:extLst>
                </a:gridCol>
              </a:tblGrid>
              <a:tr h="471714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行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解释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23178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sigmoid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logits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转成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0-1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848591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prob &gt; threshold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概率大于阈值的像素设为感染。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750975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remove_small_components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去掉太小的孤立噪声块。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727283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area_ratio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计算感染面积占比。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312168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build_overlay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mask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用红色半透明叠加到原图。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041738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save_png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保存前端需要展示的图片。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983123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ACD28CE-17A9-9DDB-E275-B1F80827BC10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27EE9C-43AD-0213-4B34-C6395A7F719E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网页端显示的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Original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Overlay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，本质上就是这几步产生的。</a:t>
            </a:r>
          </a:p>
        </p:txBody>
      </p:sp>
    </p:spTree>
    <p:extLst>
      <p:ext uri="{BB962C8B-B14F-4D97-AF65-F5344CB8AC3E}">
        <p14:creationId xmlns:p14="http://schemas.microsoft.com/office/powerpoint/2010/main" val="340344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AA9F7B-0880-D4A9-D323-65EC25011B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39843D-61F8-9D49-7323-252058D9BB8F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431701-ABE9-D947-B092-3E8DB3B4DC1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C13E75-EF45-73E8-3E6A-68226680DAE0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8D969C-FCF0-F5E1-A903-C7482F4BA7AC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41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训练流程逐行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58525D-0830-5AD9-003B-CD2F7CA3AA8E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E94F98-3D61-3D57-6A06-8389BBCD8C33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训练脚本：权重是怎么训练出来的？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6B6CFE-0E5D-EE1F-E41F-770314C7BD9E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推理之前必须先得到 </a:t>
            </a:r>
            <a:r>
              <a:rPr lang="en-US" altLang="zh-CN" sz="1300">
                <a:solidFill>
                  <a:srgbClr val="475569"/>
                </a:solidFill>
                <a:latin typeface="Microsoft YaHei" panose="020B0503020204020204" pitchFamily="34" charset="-122"/>
              </a:rPr>
              <a:t>checkpoint</a:t>
            </a:r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5EB453-D35B-7CA9-8E88-30EE79263604}"/>
              </a:ext>
            </a:extLst>
          </p:cNvPr>
          <p:cNvSpPr/>
          <p:nvPr/>
        </p:nvSpPr>
        <p:spPr>
          <a:xfrm>
            <a:off x="571500" y="1676400"/>
            <a:ext cx="5651500" cy="3810000"/>
          </a:xfrm>
          <a:prstGeom prst="rect">
            <a:avLst/>
          </a:prstGeom>
          <a:solidFill>
            <a:srgbClr val="0B1F33"/>
          </a:solidFill>
          <a:ln w="19050">
            <a:solidFill>
              <a:srgbClr val="0E74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26B1F9-8DB2-224F-2805-BE679ED3B1A7}"/>
              </a:ext>
            </a:extLst>
          </p:cNvPr>
          <p:cNvSpPr txBox="1"/>
          <p:nvPr/>
        </p:nvSpPr>
        <p:spPr>
          <a:xfrm>
            <a:off x="723900" y="1803400"/>
            <a:ext cx="5346700" cy="16496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20">
                <a:solidFill>
                  <a:srgbClr val="E2E8F0"/>
                </a:solidFill>
                <a:latin typeface="Consolas" panose="020B0609020204030204" pitchFamily="49" charset="0"/>
              </a:rPr>
              <a:t>for epoch in range(num_epochs):
    model.train()
    for x, y in train_loader:
        outputs = model(x)
        loss = compute_loss(outputs, y, loss_mode)
        loss.backward()
        optimizer.step()
        optimizer.zero_grad()
    val_dice = evaluate(model, val_loader)
    if val_dice &gt; best:
        save_checkpoint(model)</a:t>
            </a:r>
            <a:endParaRPr lang="zh-CN" altLang="en-US" sz="92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D1305C0-A58D-2FD1-01A0-51C5AFB68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331666"/>
              </p:ext>
            </p:extLst>
          </p:nvPr>
        </p:nvGraphicFramePr>
        <p:xfrm>
          <a:off x="6604000" y="1524000"/>
          <a:ext cx="4953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158142706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715124613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r>
                        <a:rPr lang="zh-CN" altLang="en-US" sz="87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行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7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解释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054208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for epoch</a:t>
                      </a:r>
                      <a:endParaRPr lang="zh-CN" altLang="en-US" sz="87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按轮次训练。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742840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model.train</a:t>
                      </a:r>
                      <a:endParaRPr lang="zh-CN" altLang="en-US" sz="87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进入训练模式。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060550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for x,y</a:t>
                      </a:r>
                      <a:endParaRPr lang="zh-CN" altLang="en-US" sz="87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读取一批图像和掩码。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677173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outputs=model(x)</a:t>
                      </a:r>
                      <a:endParaRPr lang="zh-CN" altLang="en-US" sz="87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前向传播。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746570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compute_loss</a:t>
                      </a:r>
                      <a:endParaRPr lang="zh-CN" altLang="en-US" sz="87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计算 </a:t>
                      </a:r>
                      <a:r>
                        <a:rPr lang="en-US" altLang="zh-CN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Dice/Focal/Boundary </a:t>
                      </a:r>
                      <a:r>
                        <a:rPr lang="zh-CN" altLang="en-US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等损失。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8653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backward/step</a:t>
                      </a:r>
                      <a:endParaRPr lang="zh-CN" altLang="en-US" sz="87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反向传播并更新参数。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060846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evaluate</a:t>
                      </a:r>
                      <a:endParaRPr lang="zh-CN" altLang="en-US" sz="87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验证集评估。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320360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en-US" altLang="zh-CN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save_checkpoint</a:t>
                      </a:r>
                      <a:endParaRPr lang="zh-CN" altLang="en-US" sz="87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保存验证 </a:t>
                      </a:r>
                      <a:r>
                        <a:rPr lang="en-US" altLang="zh-CN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</a:t>
                      </a:r>
                      <a:r>
                        <a:rPr lang="zh-CN" altLang="en-US" sz="87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最好的权重。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693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5791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F397C6-4EAA-6787-79CE-4E93F415AF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BFFA20-6721-FD81-2742-871D6E22D1AA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D3C94E-E09B-0CC0-C22E-1CF6DCEE8B5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A3B171-F122-37D2-BD13-E1A8599F1F80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0D9090-9610-A679-FC13-1BF0392065F1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42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从代码到结果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476BA3-5C85-B500-A74C-56BFE4E9C235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42663F-8506-B5C4-B879-FE1153ED590B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代码如何对应最终结果？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325A22-D40F-23B8-D182-EF7BA86AA025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把工程实现和论文结果连起来。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22574C4-F864-E730-2F25-037F0159A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001177"/>
              </p:ext>
            </p:extLst>
          </p:nvPr>
        </p:nvGraphicFramePr>
        <p:xfrm>
          <a:off x="889000" y="1841500"/>
          <a:ext cx="10414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0">
                  <a:extLst>
                    <a:ext uri="{9D8B030D-6E8A-4147-A177-3AD203B41FA5}">
                      <a16:colId xmlns:a16="http://schemas.microsoft.com/office/drawing/2014/main" val="1737482996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2374691260"/>
                    </a:ext>
                  </a:extLst>
                </a:gridCol>
              </a:tblGrid>
              <a:tr h="518583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代码模块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产生的论文结果</a:t>
                      </a:r>
                    </a:p>
                  </a:txBody>
                  <a:tcPr>
                    <a:solidFill>
                      <a:srgbClr val="082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988055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transunet2d_v18.py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baseline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，全测试集 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0.7740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757932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lowdice_refinenet2d.py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 / precision / recall / boundary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366980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r>
                        <a:rPr lang="es-E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build_qata_v18_error_expert_manifests.py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把低分样本拆成误检、漏检、边界偏移等类别。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77593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eval_lowdice_expert_gate.py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得到 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gate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，全测试集 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0.7959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72592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app_v12_web.py + v12_predictor.py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形成网页端 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Original / Mask / Overlay / metrics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展示。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590783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C275F49-88D3-410F-C129-04139AE2CBBA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BE235A-B6B0-B03B-A66E-6E3E1FD18C8E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学习时要把代码和实验表格对应起来，否则只看代码很容易不知道为什么写这一段。</a:t>
            </a:r>
          </a:p>
        </p:txBody>
      </p:sp>
    </p:spTree>
    <p:extLst>
      <p:ext uri="{BB962C8B-B14F-4D97-AF65-F5344CB8AC3E}">
        <p14:creationId xmlns:p14="http://schemas.microsoft.com/office/powerpoint/2010/main" val="6581384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349768-D1B0-84EE-3900-E06113D5D6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F4A046-A3D8-F6F3-8B8A-706584866F33}"/>
              </a:ext>
            </a:extLst>
          </p:cNvPr>
          <p:cNvSpPr/>
          <p:nvPr/>
        </p:nvSpPr>
        <p:spPr>
          <a:xfrm>
            <a:off x="0" y="431800"/>
            <a:ext cx="12192000" cy="508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C9436C-90FE-0A5D-F95A-035D7C98273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082F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89D9CF-C7DB-144F-30B1-4E31D3CA4481}"/>
              </a:ext>
            </a:extLst>
          </p:cNvPr>
          <p:cNvSpPr/>
          <p:nvPr/>
        </p:nvSpPr>
        <p:spPr>
          <a:xfrm>
            <a:off x="0" y="0"/>
            <a:ext cx="152400" cy="431800"/>
          </a:xfrm>
          <a:prstGeom prst="rect">
            <a:avLst/>
          </a:prstGeom>
          <a:solidFill>
            <a:srgbClr val="DC26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00CB9C-4AD3-F392-AFFD-2D93869F3A1A}"/>
              </a:ext>
            </a:extLst>
          </p:cNvPr>
          <p:cNvSpPr txBox="1"/>
          <p:nvPr/>
        </p:nvSpPr>
        <p:spPr>
          <a:xfrm>
            <a:off x="355600" y="88900"/>
            <a:ext cx="965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43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学习版总结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FB22CE-3994-5372-4A35-545DE05D73B4}"/>
              </a:ext>
            </a:extLst>
          </p:cNvPr>
          <p:cNvSpPr/>
          <p:nvPr/>
        </p:nvSpPr>
        <p:spPr>
          <a:xfrm>
            <a:off x="533400" y="698500"/>
            <a:ext cx="76200" cy="571500"/>
          </a:xfrm>
          <a:prstGeom prst="rect">
            <a:avLst/>
          </a:prstGeom>
          <a:solidFill>
            <a:srgbClr val="0E74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9F2B89-E396-7330-ADEA-8FEA479EA7EB}"/>
              </a:ext>
            </a:extLst>
          </p:cNvPr>
          <p:cNvSpPr txBox="1"/>
          <p:nvPr/>
        </p:nvSpPr>
        <p:spPr>
          <a:xfrm>
            <a:off x="736600" y="635000"/>
            <a:ext cx="1079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</a:rPr>
              <a:t>整套代码的主线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5E5916-A62E-A640-1920-06BC8AC3E204}"/>
              </a:ext>
            </a:extLst>
          </p:cNvPr>
          <p:cNvSpPr txBox="1"/>
          <p:nvPr/>
        </p:nvSpPr>
        <p:spPr>
          <a:xfrm>
            <a:off x="762000" y="1320800"/>
            <a:ext cx="10604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</a:rPr>
              <a:t>最后用一句话串起来。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4DA847D-9B66-5395-CE31-9FCDA36C38AE}"/>
              </a:ext>
            </a:extLst>
          </p:cNvPr>
          <p:cNvSpPr/>
          <p:nvPr/>
        </p:nvSpPr>
        <p:spPr>
          <a:xfrm>
            <a:off x="825500" y="1841500"/>
            <a:ext cx="3175000" cy="2667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E9DA4B-63A2-789A-D982-CA5C31441637}"/>
              </a:ext>
            </a:extLst>
          </p:cNvPr>
          <p:cNvSpPr txBox="1"/>
          <p:nvPr/>
        </p:nvSpPr>
        <p:spPr>
          <a:xfrm>
            <a:off x="977900" y="1968500"/>
            <a:ext cx="287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训练阶段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AD5102-7A63-CAA9-E92A-B2C92F9C67D3}"/>
              </a:ext>
            </a:extLst>
          </p:cNvPr>
          <p:cNvSpPr txBox="1"/>
          <p:nvPr/>
        </p:nvSpPr>
        <p:spPr>
          <a:xfrm>
            <a:off x="977900" y="2324100"/>
            <a:ext cx="2870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train_unet2d_qata.py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读取数据、构建模型、计算损失、保存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checkpoint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D66175E-B9C2-459F-5640-8350BDBF2472}"/>
              </a:ext>
            </a:extLst>
          </p:cNvPr>
          <p:cNvSpPr/>
          <p:nvPr/>
        </p:nvSpPr>
        <p:spPr>
          <a:xfrm>
            <a:off x="4508500" y="1841500"/>
            <a:ext cx="3175000" cy="2667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8A2A35-408F-382F-CBBF-A1023C9B93B3}"/>
              </a:ext>
            </a:extLst>
          </p:cNvPr>
          <p:cNvSpPr txBox="1"/>
          <p:nvPr/>
        </p:nvSpPr>
        <p:spPr>
          <a:xfrm>
            <a:off x="4660900" y="1968500"/>
            <a:ext cx="287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离线评估阶段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89DE2C-7864-DECC-621D-407F3280A3E4}"/>
              </a:ext>
            </a:extLst>
          </p:cNvPr>
          <p:cNvSpPr txBox="1"/>
          <p:nvPr/>
        </p:nvSpPr>
        <p:spPr>
          <a:xfrm>
            <a:off x="4660900" y="2324100"/>
            <a:ext cx="2870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eval_lowdice_expert_gate.py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比较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和专家输出，得到最终门控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DFB61E4-963E-1B05-6110-8815DEDB979C}"/>
              </a:ext>
            </a:extLst>
          </p:cNvPr>
          <p:cNvSpPr/>
          <p:nvPr/>
        </p:nvSpPr>
        <p:spPr>
          <a:xfrm>
            <a:off x="8191500" y="1841500"/>
            <a:ext cx="3175000" cy="2667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A3C8EC-F69C-D9D5-81A2-143730106B9B}"/>
              </a:ext>
            </a:extLst>
          </p:cNvPr>
          <p:cNvSpPr txBox="1"/>
          <p:nvPr/>
        </p:nvSpPr>
        <p:spPr>
          <a:xfrm>
            <a:off x="8343900" y="1968500"/>
            <a:ext cx="2870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网页展示阶段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6ECC5DB-A6B1-346C-072E-40619D9EDA31}"/>
              </a:ext>
            </a:extLst>
          </p:cNvPr>
          <p:cNvSpPr txBox="1"/>
          <p:nvPr/>
        </p:nvSpPr>
        <p:spPr>
          <a:xfrm>
            <a:off x="8343900" y="2324100"/>
            <a:ext cx="28702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app_v12_web.py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调用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segmenter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，把概率图转成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mask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</a:rPr>
              <a:t>返回页面。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CD6A524-0828-48C7-A70C-4C4CB502DF1C}"/>
              </a:ext>
            </a:extLst>
          </p:cNvPr>
          <p:cNvSpPr/>
          <p:nvPr/>
        </p:nvSpPr>
        <p:spPr>
          <a:xfrm>
            <a:off x="889000" y="6032500"/>
            <a:ext cx="10414000" cy="5334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879ADB-CEFB-6A7D-E832-D59FE65E1B4A}"/>
              </a:ext>
            </a:extLst>
          </p:cNvPr>
          <p:cNvSpPr txBox="1"/>
          <p:nvPr/>
        </p:nvSpPr>
        <p:spPr>
          <a:xfrm>
            <a:off x="1066800" y="6159500"/>
            <a:ext cx="10058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最终记忆链路：数据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训练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-&gt; checkpoint -&gt;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推理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后处理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可视化 </a:t>
            </a:r>
            <a:r>
              <a:rPr lang="en-US" altLang="zh-CN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250" b="1">
                <a:solidFill>
                  <a:srgbClr val="7C2D12"/>
                </a:solidFill>
                <a:latin typeface="Microsoft YaHei" panose="020B0503020204020204" pitchFamily="34" charset="-122"/>
              </a:rPr>
              <a:t>指标。</a:t>
            </a:r>
          </a:p>
        </p:txBody>
      </p:sp>
    </p:spTree>
    <p:extLst>
      <p:ext uri="{BB962C8B-B14F-4D97-AF65-F5344CB8AC3E}">
        <p14:creationId xmlns:p14="http://schemas.microsoft.com/office/powerpoint/2010/main" val="30230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6553</Words>
  <Application>Microsoft Office PowerPoint</Application>
  <PresentationFormat>宽屏</PresentationFormat>
  <Paragraphs>759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1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2026-05-20T11:13:44Z</dcterms:created>
  <dcterms:modified xsi:type="dcterms:W3CDTF">2026-05-21T10:48:18Z</dcterms:modified>
</cp:coreProperties>
</file>