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05EA8-5FD9-15D9-CAF6-8FB4C4CD3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FE2883-B22A-0209-6374-773E4B3D7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67D9C6-DD65-E703-28AC-3372D7A81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76407-A7DD-537A-E6DE-36DB8B43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7B7763-75EF-E3DD-8E48-69C16F189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057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7D5C2-9A98-614D-B703-B724A7387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1A0BCF-D566-C612-2318-98BF5F7C5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44C43C-015E-B3F5-CA5C-EB638D4EF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A17D4B-7F10-7FB6-C6A8-766BDCB9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E94954-D4EC-7B1E-7FEA-9D5589BA5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722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C0A56E-A8F8-4460-70A5-71167ABDB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13CC2E-5FA9-8E16-EF2D-F59E6C8BF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B78317-00FD-8EAE-CCCB-C610028D9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0F9A5D-F1C6-A11A-B05F-9A3AD743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BF2E7-DB38-8CFD-A772-D6475AB3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565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0A94DC-4962-77F9-67C5-407463D4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C639FF-F86D-C0CA-F70D-2A51BF3CE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B5097C-409D-15E3-A52E-A3D1045E6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3DE592-003E-B32E-7D03-614BA8C17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B29A71-10E0-269A-60EF-4442F2A3B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0FB8A4-2B70-BDC8-EB0C-EAABC9D9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710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E1E26-7D82-99AA-9615-8B9CA4E99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67BCB2-3F1C-5441-3D53-64E2216E9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315DA8-DBDE-A60B-8241-C148A6FA8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A57AF8-4B9F-4743-9C10-A0634B688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E80062-7993-7A76-B507-F13194510C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7EA7E6-EB00-45A1-F9E2-9960B873D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AD214B-B65A-733E-1910-F1C30636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B7BBA74-AAE7-2586-14E9-3A1EC9012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878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6A703-3267-F9A8-736E-AE3092DDF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F73E7E9-5FA8-2CB9-BEF6-D85329AF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963A77-68A6-8C24-D12A-ADF694A3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84382B4-FECF-D737-E566-DE9E3F79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2854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D6DCE5-E50A-F5C5-8913-FCDDB0033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D8F14A-CDF0-FAC9-9112-22E1B172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02818E-B184-0107-C9E0-FCB646A6E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4906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61F9BA-ED6C-60F0-9C42-C43A462EC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B4562F-875B-ECEA-3E65-39A0EF3F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C7F052-4011-E7C4-53E9-96AACE7473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009C2A-0AFD-78D3-71D9-7D29A84EB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DC7240-7A71-6287-3C2F-B054CBACB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5937FD-D64C-07FD-7E66-186E12F9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582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C18F36-52B1-0FC4-F817-18878C401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7620271-91DB-B261-0100-EDF099487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E58949-AF87-9D87-C3EB-793013751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7427C4-1B25-6AFC-BDA8-EF3FE30E3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B89987-66A3-645C-608F-BEE6A9CFA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78208C-9948-97C0-08E0-9B657DCAF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83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EBC82C-4B28-79FC-7B50-8A468A71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7988EB-BD79-9FDB-9B9B-5489C4A394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64F416-5980-CF60-1D82-FC649A561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9ED13-476A-FE46-9513-C89338CE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71CD9-2B61-3B77-56BD-8BBDD718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4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8B23D8-FFEE-0A01-D666-06467F416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916FDF-3A5E-1A49-1791-65CD10AE1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5B7E52-DD6A-DD63-D7B7-3C8B00651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B4A413-B32C-5797-F2DD-BED264046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0C1F79-1803-C0A4-182B-844CEAA8F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725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0AFD6D-3AA3-4CCC-28F4-AFBC40A5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99061-63C8-E984-FA85-601DD26CF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433664-1D0F-8BF8-7928-F5F0F9667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A7044-4E5E-4576-AB65-174BA2D9526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DECB2-0F6B-58CB-BD87-CB7FBF8F60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3B6469-86E0-4BE7-85E0-372B9EBD1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80DF0-0590-4C2E-BD46-596092D76A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3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25FE4D6-9741-92D9-724D-3E3FAE719E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3558D1-A34F-3A81-74C1-50ED1CD2AB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42F76EC-F7AF-CC5A-F569-77C84234C51F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AB66A1-D716-A028-2BF2-9D9CC0E7653E}"/>
              </a:ext>
            </a:extLst>
          </p:cNvPr>
          <p:cNvSpPr txBox="1"/>
          <p:nvPr/>
        </p:nvSpPr>
        <p:spPr>
          <a:xfrm>
            <a:off x="787400" y="1117600"/>
            <a:ext cx="10541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C6F6BA-44C0-80DE-70A7-4D1BD1D95ED5}"/>
              </a:ext>
            </a:extLst>
          </p:cNvPr>
          <p:cNvSpPr txBox="1"/>
          <p:nvPr/>
        </p:nvSpPr>
        <p:spPr>
          <a:xfrm>
            <a:off x="838200" y="19304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F5203FD-C3E5-CDB5-4821-75D55FD5EC04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项目展示详版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C738F1-F4A5-7A32-069E-65CCF2B2532C}"/>
              </a:ext>
            </a:extLst>
          </p:cNvPr>
          <p:cNvSpPr txBox="1"/>
          <p:nvPr/>
        </p:nvSpPr>
        <p:spPr>
          <a:xfrm>
            <a:off x="8890000" y="10668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6475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CC0E8BE-7DED-646F-8888-B633217339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705146-E53F-4666-C6B7-C06563D7612F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8DD80D-14D8-3D20-69F4-45FB28061A13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展示目录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DE0F52-CAEE-7038-65EF-4F0326D6C31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这份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怎么讲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F0AA9B-5D06-81F3-41F8-D7BC6881E4A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按系统、模型、公式、可视化、代码五条线展开。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E09318A-E035-7C4E-9090-3A87F18D2216}"/>
              </a:ext>
            </a:extLst>
          </p:cNvPr>
          <p:cNvSpPr/>
          <p:nvPr/>
        </p:nvSpPr>
        <p:spPr>
          <a:xfrm>
            <a:off x="762000" y="1841500"/>
            <a:ext cx="3302000" cy="1333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1622512-0B58-2979-82F6-FEA350916CA6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系统与数据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CEFAA6-DFB6-2141-CE30-8AEE086B9D79}"/>
              </a:ext>
            </a:extLst>
          </p:cNvPr>
          <p:cNvSpPr txBox="1"/>
          <p:nvPr/>
        </p:nvSpPr>
        <p:spPr>
          <a:xfrm>
            <a:off x="939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任务目标、数据集、预处理、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系统入口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79ECEF1-CC38-9F06-6824-3A476CB40C36}"/>
              </a:ext>
            </a:extLst>
          </p:cNvPr>
          <p:cNvSpPr/>
          <p:nvPr/>
        </p:nvSpPr>
        <p:spPr>
          <a:xfrm>
            <a:off x="4445000" y="1841500"/>
            <a:ext cx="3302000" cy="1333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44B10A-0C8F-D851-7208-222EA0578617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B9DBF3D-645D-00AC-DB01-48C46DEBBE2C}"/>
              </a:ext>
            </a:extLst>
          </p:cNvPr>
          <p:cNvSpPr txBox="1"/>
          <p:nvPr/>
        </p:nvSpPr>
        <p:spPr>
          <a:xfrm>
            <a:off x="4622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输入图像 → 模型概率图 → 阈值化 → 后处理 → 可视化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BDB8203-1302-2DCE-2E00-A07FC18994A7}"/>
              </a:ext>
            </a:extLst>
          </p:cNvPr>
          <p:cNvSpPr/>
          <p:nvPr/>
        </p:nvSpPr>
        <p:spPr>
          <a:xfrm>
            <a:off x="8128000" y="1841500"/>
            <a:ext cx="3302000" cy="1333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6F889B3-E83C-1E36-685E-D78325E1AAB2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EE2F120-0F21-965C-0F5C-EE5C451A79FD}"/>
              </a:ext>
            </a:extLst>
          </p:cNvPr>
          <p:cNvSpPr txBox="1"/>
          <p:nvPr/>
        </p:nvSpPr>
        <p:spPr>
          <a:xfrm>
            <a:off x="8305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基线、低分样本分析、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B6E1D98-9ECB-B358-A771-7C5F180B80FB}"/>
              </a:ext>
            </a:extLst>
          </p:cNvPr>
          <p:cNvSpPr/>
          <p:nvPr/>
        </p:nvSpPr>
        <p:spPr>
          <a:xfrm>
            <a:off x="762000" y="3683000"/>
            <a:ext cx="3302000" cy="1333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A23C1D-5862-3DE9-4A41-BB2B7050ACBE}"/>
              </a:ext>
            </a:extLst>
          </p:cNvPr>
          <p:cNvSpPr txBox="1"/>
          <p:nvPr/>
        </p:nvSpPr>
        <p:spPr>
          <a:xfrm>
            <a:off x="939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评价公式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49DB5BE-6E9A-8BE7-1D0A-AF31793FC17E}"/>
              </a:ext>
            </a:extLst>
          </p:cNvPr>
          <p:cNvSpPr txBox="1"/>
          <p:nvPr/>
        </p:nvSpPr>
        <p:spPr>
          <a:xfrm>
            <a:off x="939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、损失函数和字母含义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B74E481-3B3B-BB3F-B9EE-82E92938D76D}"/>
              </a:ext>
            </a:extLst>
          </p:cNvPr>
          <p:cNvSpPr/>
          <p:nvPr/>
        </p:nvSpPr>
        <p:spPr>
          <a:xfrm>
            <a:off x="4445000" y="3683000"/>
            <a:ext cx="3302000" cy="1333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2D2F97-5FC8-C12D-A774-66EA21A4DC57}"/>
              </a:ext>
            </a:extLst>
          </p:cNvPr>
          <p:cNvSpPr txBox="1"/>
          <p:nvPr/>
        </p:nvSpPr>
        <p:spPr>
          <a:xfrm>
            <a:off x="4622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实验展示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EB090B-9166-DFB9-7C2C-E0100F5541E8}"/>
              </a:ext>
            </a:extLst>
          </p:cNvPr>
          <p:cNvSpPr txBox="1"/>
          <p:nvPr/>
        </p:nvSpPr>
        <p:spPr>
          <a:xfrm>
            <a:off x="4622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定量对比、低分样本提升、颜色图例、误差图说明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0EA3C5F-4A38-5F25-A300-57D73531591A}"/>
              </a:ext>
            </a:extLst>
          </p:cNvPr>
          <p:cNvSpPr/>
          <p:nvPr/>
        </p:nvSpPr>
        <p:spPr>
          <a:xfrm>
            <a:off x="8128000" y="3683000"/>
            <a:ext cx="3302000" cy="13335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908DF1-01FC-EECB-63AD-A163C618B2D1}"/>
              </a:ext>
            </a:extLst>
          </p:cNvPr>
          <p:cNvSpPr txBox="1"/>
          <p:nvPr/>
        </p:nvSpPr>
        <p:spPr>
          <a:xfrm>
            <a:off x="8305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关键代码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F812262-1CAF-58BC-A06D-5D7CC21FB4AA}"/>
              </a:ext>
            </a:extLst>
          </p:cNvPr>
          <p:cNvSpPr txBox="1"/>
          <p:nvPr/>
        </p:nvSpPr>
        <p:spPr>
          <a:xfrm>
            <a:off x="8305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模型先验、门控路由、推理后处理、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2441801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648D4B2-2C84-8365-C9A2-BDE62A74B5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98A1BA-09EE-D23B-2C35-D729644F60A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E28A09-942F-CFB0-5778-23128CE761A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项目目标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75B1FE-B2E1-DFE8-0CC5-9DFAFEB2AC9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要解决的问题是什么？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F59D89-F257-3651-3AD0-88B7F96E6B8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给定一张胸片，自动找出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54FF206-1425-51C9-39B8-6A6D39460E89}"/>
              </a:ext>
            </a:extLst>
          </p:cNvPr>
          <p:cNvSpPr/>
          <p:nvPr/>
        </p:nvSpPr>
        <p:spPr>
          <a:xfrm>
            <a:off x="825500" y="1905000"/>
            <a:ext cx="31750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45075D9-21DD-B222-B0C3-3499EF64E82B}"/>
              </a:ext>
            </a:extLst>
          </p:cNvPr>
          <p:cNvSpPr txBox="1"/>
          <p:nvPr/>
        </p:nvSpPr>
        <p:spPr>
          <a:xfrm>
            <a:off x="1003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70F98CC-E590-BA62-C9E1-F3364E2F62DE}"/>
              </a:ext>
            </a:extLst>
          </p:cNvPr>
          <p:cNvSpPr txBox="1"/>
          <p:nvPr/>
        </p:nvSpPr>
        <p:spPr>
          <a:xfrm>
            <a:off x="1003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格式：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 / JPG / 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来源：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1201885-E31D-FE07-E597-B550FCC0A662}"/>
              </a:ext>
            </a:extLst>
          </p:cNvPr>
          <p:cNvSpPr/>
          <p:nvPr/>
        </p:nvSpPr>
        <p:spPr>
          <a:xfrm>
            <a:off x="4508500" y="1905000"/>
            <a:ext cx="31750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43F5D77-5224-C553-47D1-A6E875116A8F}"/>
              </a:ext>
            </a:extLst>
          </p:cNvPr>
          <p:cNvSpPr txBox="1"/>
          <p:nvPr/>
        </p:nvSpPr>
        <p:spPr>
          <a:xfrm>
            <a:off x="4686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算法输出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C24D9B9-A2BC-0C21-1E6B-C0DF628554ED}"/>
              </a:ext>
            </a:extLst>
          </p:cNvPr>
          <p:cNvSpPr txBox="1"/>
          <p:nvPr/>
        </p:nvSpPr>
        <p:spPr>
          <a:xfrm>
            <a:off x="4686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像素级感染概率图
二值感染掩码
病灶面积占比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E00DC6-8A14-6B4F-E436-B5934A6EA1AE}"/>
              </a:ext>
            </a:extLst>
          </p:cNvPr>
          <p:cNvSpPr/>
          <p:nvPr/>
        </p:nvSpPr>
        <p:spPr>
          <a:xfrm>
            <a:off x="8191500" y="1905000"/>
            <a:ext cx="31750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1FBE93-117A-6DEA-BED9-AA18766444B2}"/>
              </a:ext>
            </a:extLst>
          </p:cNvPr>
          <p:cNvSpPr txBox="1"/>
          <p:nvPr/>
        </p:nvSpPr>
        <p:spPr>
          <a:xfrm>
            <a:off x="8369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281F2C-ED20-24BA-B57D-7DF4350130C4}"/>
              </a:ext>
            </a:extLst>
          </p:cNvPr>
          <p:cNvSpPr txBox="1"/>
          <p:nvPr/>
        </p:nvSpPr>
        <p:spPr>
          <a:xfrm>
            <a:off x="8369300" y="2476500"/>
            <a:ext cx="2819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Error Map
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9334993-705E-97E6-DD86-346FDFE464F2}"/>
              </a:ext>
            </a:extLst>
          </p:cNvPr>
          <p:cNvCxnSpPr/>
          <p:nvPr/>
        </p:nvCxnSpPr>
        <p:spPr>
          <a:xfrm>
            <a:off x="4000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45E94FA-515D-8664-8206-3753F1583053}"/>
              </a:ext>
            </a:extLst>
          </p:cNvPr>
          <p:cNvCxnSpPr/>
          <p:nvPr/>
        </p:nvCxnSpPr>
        <p:spPr>
          <a:xfrm>
            <a:off x="7683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0965B04-6F7B-8EA7-19B4-287F05800923}"/>
              </a:ext>
            </a:extLst>
          </p:cNvPr>
          <p:cNvSpPr txBox="1"/>
          <p:nvPr/>
        </p:nvSpPr>
        <p:spPr>
          <a:xfrm>
            <a:off x="952500" y="54610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DC2626"/>
                </a:solidFill>
                <a:latin typeface="Microsoft YaHei" panose="020B0503020204020204" pitchFamily="34" charset="-122"/>
              </a:rPr>
              <a:t>核心难点：病灶区域小、边界模糊、灰度与肺纹理接近，容易误检或漏检。</a:t>
            </a:r>
          </a:p>
        </p:txBody>
      </p:sp>
    </p:spTree>
    <p:extLst>
      <p:ext uri="{BB962C8B-B14F-4D97-AF65-F5344CB8AC3E}">
        <p14:creationId xmlns:p14="http://schemas.microsoft.com/office/powerpoint/2010/main" val="434958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221AF2B-B682-1ED7-0C4A-CC3EDCB70B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997F4A-4D03-4381-B300-DFC192562F3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66DDD05-B04B-FE5F-2E64-AFA7A77CBA8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4237DB-11DF-2F4B-5DF0-71093CA6E8B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系统由四层组成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9A317C4-14EF-311D-7C8E-C051D354451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数据层、模型层、评估层、展示层。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B4B6504-5E5F-34CC-294E-AE667531FF53}"/>
              </a:ext>
            </a:extLst>
          </p:cNvPr>
          <p:cNvSpPr/>
          <p:nvPr/>
        </p:nvSpPr>
        <p:spPr>
          <a:xfrm>
            <a:off x="825500" y="1714500"/>
            <a:ext cx="2286000" cy="3175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EA02F7C-2D1F-1B6B-C131-4DE2281E64F4}"/>
              </a:ext>
            </a:extLst>
          </p:cNvPr>
          <p:cNvSpPr txBox="1"/>
          <p:nvPr/>
        </p:nvSpPr>
        <p:spPr>
          <a:xfrm>
            <a:off x="1003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887B06-783C-0C69-4261-5F60E2B5271F}"/>
              </a:ext>
            </a:extLst>
          </p:cNvPr>
          <p:cNvSpPr txBox="1"/>
          <p:nvPr/>
        </p:nvSpPr>
        <p:spPr>
          <a:xfrm>
            <a:off x="1003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raw images
GT masks
NPZ cache
manifest.csv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5ABD218-E795-9DEA-7C9F-7FA47C8D10EE}"/>
              </a:ext>
            </a:extLst>
          </p:cNvPr>
          <p:cNvSpPr/>
          <p:nvPr/>
        </p:nvSpPr>
        <p:spPr>
          <a:xfrm>
            <a:off x="3492500" y="1714500"/>
            <a:ext cx="2286000" cy="3175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7DF289-207B-425C-9516-C3943653CDB7}"/>
              </a:ext>
            </a:extLst>
          </p:cNvPr>
          <p:cNvSpPr txBox="1"/>
          <p:nvPr/>
        </p:nvSpPr>
        <p:spPr>
          <a:xfrm>
            <a:off x="3670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667EE44-5B83-F97D-8847-A6356B0C2E7E}"/>
              </a:ext>
            </a:extLst>
          </p:cNvPr>
          <p:cNvSpPr txBox="1"/>
          <p:nvPr/>
        </p:nvSpPr>
        <p:spPr>
          <a:xfrm>
            <a:off x="3670300" y="22860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
LowDice experts
threshold / min_area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C545672-6124-6B7D-DB3B-4730EFC9A879}"/>
              </a:ext>
            </a:extLst>
          </p:cNvPr>
          <p:cNvSpPr/>
          <p:nvPr/>
        </p:nvSpPr>
        <p:spPr>
          <a:xfrm>
            <a:off x="6159500" y="1714500"/>
            <a:ext cx="2286000" cy="3175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C0790D2-C721-2719-526D-75A2A4E96C14}"/>
              </a:ext>
            </a:extLst>
          </p:cNvPr>
          <p:cNvSpPr txBox="1"/>
          <p:nvPr/>
        </p:nvSpPr>
        <p:spPr>
          <a:xfrm>
            <a:off x="6337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0FC382-658B-A293-6F18-814A9426D767}"/>
              </a:ext>
            </a:extLst>
          </p:cNvPr>
          <p:cNvSpPr txBox="1"/>
          <p:nvPr/>
        </p:nvSpPr>
        <p:spPr>
          <a:xfrm>
            <a:off x="6337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
Precision / Recall
low-dice analysis
expert gate eval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DF05D49-B904-D521-106D-1A60986F9D5C}"/>
              </a:ext>
            </a:extLst>
          </p:cNvPr>
          <p:cNvSpPr/>
          <p:nvPr/>
        </p:nvSpPr>
        <p:spPr>
          <a:xfrm>
            <a:off x="8826500" y="1714500"/>
            <a:ext cx="2286000" cy="3175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58E2276-3925-A0DA-9580-3C9BCA3782A5}"/>
              </a:ext>
            </a:extLst>
          </p:cNvPr>
          <p:cNvSpPr txBox="1"/>
          <p:nvPr/>
        </p:nvSpPr>
        <p:spPr>
          <a:xfrm>
            <a:off x="9004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B73141C-5121-2312-F298-4C65259BFD0D}"/>
              </a:ext>
            </a:extLst>
          </p:cNvPr>
          <p:cNvSpPr txBox="1"/>
          <p:nvPr/>
        </p:nvSpPr>
        <p:spPr>
          <a:xfrm>
            <a:off x="9004300" y="2286000"/>
            <a:ext cx="1930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web/index.html
app_v12_web.py
Original / Mask / Overlay
Download outputs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C011180-EEAB-B8B5-E5AE-D14B57955694}"/>
              </a:ext>
            </a:extLst>
          </p:cNvPr>
          <p:cNvCxnSpPr/>
          <p:nvPr/>
        </p:nvCxnSpPr>
        <p:spPr>
          <a:xfrm>
            <a:off x="3111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095CAB0B-7D38-5CFC-EC7A-E8C2EF91CBEA}"/>
              </a:ext>
            </a:extLst>
          </p:cNvPr>
          <p:cNvCxnSpPr/>
          <p:nvPr/>
        </p:nvCxnSpPr>
        <p:spPr>
          <a:xfrm>
            <a:off x="5778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DCA0559E-9EA1-1466-6BE0-0AEC43C5CEC6}"/>
              </a:ext>
            </a:extLst>
          </p:cNvPr>
          <p:cNvCxnSpPr/>
          <p:nvPr/>
        </p:nvCxnSpPr>
        <p:spPr>
          <a:xfrm>
            <a:off x="8445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368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D237EA-F3F3-2F6A-A2C8-5709FADC85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D3B0BFC-57DE-74E8-3A94-DF745E16CBD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2EC5D30-92C3-E240-2E46-57F9212C00F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B7468D-3D58-CCC1-3A0F-F1918CC3E37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数据与划分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D6DD78-5A1D-CE65-8B27-3B47554C277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以胸片图像和人工感染区域标注为监督信号。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185E27-0178-58F1-56E5-B9BA39A4956B}"/>
              </a:ext>
            </a:extLst>
          </p:cNvPr>
          <p:cNvSpPr/>
          <p:nvPr/>
        </p:nvSpPr>
        <p:spPr>
          <a:xfrm>
            <a:off x="762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9036DD-7E24-346C-CCEA-3A9EAE184E09}"/>
              </a:ext>
            </a:extLst>
          </p:cNvPr>
          <p:cNvSpPr txBox="1"/>
          <p:nvPr/>
        </p:nvSpPr>
        <p:spPr>
          <a:xfrm>
            <a:off x="939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总样本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24FFEF-9EE2-7932-4CC2-0F2301D34195}"/>
              </a:ext>
            </a:extLst>
          </p:cNvPr>
          <p:cNvSpPr txBox="1"/>
          <p:nvPr/>
        </p:nvSpPr>
        <p:spPr>
          <a:xfrm>
            <a:off x="939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6059282-194D-0027-4112-A1944E0C1D5F}"/>
              </a:ext>
            </a:extLst>
          </p:cNvPr>
          <p:cNvSpPr txBox="1"/>
          <p:nvPr/>
        </p:nvSpPr>
        <p:spPr>
          <a:xfrm>
            <a:off x="939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全部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manifest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624335-F864-367C-B64B-C8F730F3F472}"/>
              </a:ext>
            </a:extLst>
          </p:cNvPr>
          <p:cNvSpPr/>
          <p:nvPr/>
        </p:nvSpPr>
        <p:spPr>
          <a:xfrm>
            <a:off x="3556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FBC351-3DB7-4DD3-466E-A35EAFC726B4}"/>
              </a:ext>
            </a:extLst>
          </p:cNvPr>
          <p:cNvSpPr txBox="1"/>
          <p:nvPr/>
        </p:nvSpPr>
        <p:spPr>
          <a:xfrm>
            <a:off x="3733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C6C5295-6B5A-C118-192A-CC7C135E47C3}"/>
              </a:ext>
            </a:extLst>
          </p:cNvPr>
          <p:cNvSpPr txBox="1"/>
          <p:nvPr/>
        </p:nvSpPr>
        <p:spPr>
          <a:xfrm>
            <a:off x="3733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059669"/>
                </a:solidFill>
                <a:latin typeface="Microsoft YaHei" panose="020B0503020204020204" pitchFamily="34" charset="-122"/>
              </a:rPr>
              <a:t>7406</a:t>
            </a:r>
            <a:endParaRPr lang="zh-CN" altLang="en-US" sz="24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BFE18D-6310-A177-5B41-ACE7E954A756}"/>
              </a:ext>
            </a:extLst>
          </p:cNvPr>
          <p:cNvSpPr txBox="1"/>
          <p:nvPr/>
        </p:nvSpPr>
        <p:spPr>
          <a:xfrm>
            <a:off x="3733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用于模型拟合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C3AF9E-079E-91BC-5A88-81DC5C006B84}"/>
              </a:ext>
            </a:extLst>
          </p:cNvPr>
          <p:cNvSpPr/>
          <p:nvPr/>
        </p:nvSpPr>
        <p:spPr>
          <a:xfrm>
            <a:off x="6350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7CAAD6-77FE-CDB7-704A-BA1F66A174B4}"/>
              </a:ext>
            </a:extLst>
          </p:cNvPr>
          <p:cNvSpPr txBox="1"/>
          <p:nvPr/>
        </p:nvSpPr>
        <p:spPr>
          <a:xfrm>
            <a:off x="6527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验证集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A58F740-F3B9-309B-5620-1B46F2058644}"/>
              </a:ext>
            </a:extLst>
          </p:cNvPr>
          <p:cNvSpPr txBox="1"/>
          <p:nvPr/>
        </p:nvSpPr>
        <p:spPr>
          <a:xfrm>
            <a:off x="6527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925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579367A-448F-8BCC-A445-3AFCCFF6CF8D}"/>
              </a:ext>
            </a:extLst>
          </p:cNvPr>
          <p:cNvSpPr txBox="1"/>
          <p:nvPr/>
        </p:nvSpPr>
        <p:spPr>
          <a:xfrm>
            <a:off x="6527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用于阈值和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7931440-D0E2-A680-75F2-5D1CC950E198}"/>
              </a:ext>
            </a:extLst>
          </p:cNvPr>
          <p:cNvSpPr/>
          <p:nvPr/>
        </p:nvSpPr>
        <p:spPr>
          <a:xfrm>
            <a:off x="9144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5F0BA7-705C-19EE-C2B0-F182AFCE390D}"/>
              </a:ext>
            </a:extLst>
          </p:cNvPr>
          <p:cNvSpPr txBox="1"/>
          <p:nvPr/>
        </p:nvSpPr>
        <p:spPr>
          <a:xfrm>
            <a:off x="9321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测试集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F720BEF-D355-CE6E-7EEF-6CC0981EEAAA}"/>
              </a:ext>
            </a:extLst>
          </p:cNvPr>
          <p:cNvSpPr txBox="1"/>
          <p:nvPr/>
        </p:nvSpPr>
        <p:spPr>
          <a:xfrm>
            <a:off x="9321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927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ED8A43E-AF6D-8AC8-5DD1-5A915A1C29ED}"/>
              </a:ext>
            </a:extLst>
          </p:cNvPr>
          <p:cNvSpPr txBox="1"/>
          <p:nvPr/>
        </p:nvSpPr>
        <p:spPr>
          <a:xfrm>
            <a:off x="9321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最终评估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D1E10BC-F986-81D3-BE72-A5536BC554EA}"/>
              </a:ext>
            </a:extLst>
          </p:cNvPr>
          <p:cNvSpPr txBox="1"/>
          <p:nvPr/>
        </p:nvSpPr>
        <p:spPr>
          <a:xfrm>
            <a:off x="914400" y="381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每条数据包含：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id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。训练时读取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A2FCA78-8DE3-2D6C-6A75-0D657B4F9A8B}"/>
              </a:ext>
            </a:extLst>
          </p:cNvPr>
          <p:cNvSpPr txBox="1"/>
          <p:nvPr/>
        </p:nvSpPr>
        <p:spPr>
          <a:xfrm>
            <a:off x="914400" y="4572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为什么要单独保留测试集：避免用测试样本调参，保证最终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具有对比意义。</a:t>
            </a:r>
          </a:p>
        </p:txBody>
      </p:sp>
    </p:spTree>
    <p:extLst>
      <p:ext uri="{BB962C8B-B14F-4D97-AF65-F5344CB8AC3E}">
        <p14:creationId xmlns:p14="http://schemas.microsoft.com/office/powerpoint/2010/main" val="920267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483508F-67A9-774F-F3E9-520B75C67C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C842DF-B7FB-D9B3-6D23-45BAFCC45FD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01C324-E5A5-2780-ACD0-52C3076C9E5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预处理流程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7214737-D850-3555-7AD2-82A4A3A3D8E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图像进入模型前做了什么？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ECA7FB-7AAF-B54E-B935-A0936850E8F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统一输入尺度和数值范围，保证模型训练稳定。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4999A07-D859-2644-D2A1-F16FF74D9B11}"/>
              </a:ext>
            </a:extLst>
          </p:cNvPr>
          <p:cNvSpPr/>
          <p:nvPr/>
        </p:nvSpPr>
        <p:spPr>
          <a:xfrm>
            <a:off x="571500" y="1905000"/>
            <a:ext cx="2095500" cy="2476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A052D1-FE1F-4F3D-6B26-D7E775A1C5D9}"/>
              </a:ext>
            </a:extLst>
          </p:cNvPr>
          <p:cNvSpPr txBox="1"/>
          <p:nvPr/>
        </p:nvSpPr>
        <p:spPr>
          <a:xfrm>
            <a:off x="749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读取图像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5CA13A-A78E-E95A-11F1-EF4A9A8A232A}"/>
              </a:ext>
            </a:extLst>
          </p:cNvPr>
          <p:cNvSpPr txBox="1"/>
          <p:nvPr/>
        </p:nvSpPr>
        <p:spPr>
          <a:xfrm>
            <a:off x="749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PIL/OpenCV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读取
转灰度图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45ECFA6-6CE1-C1CE-164E-FA4E3909CAFF}"/>
              </a:ext>
            </a:extLst>
          </p:cNvPr>
          <p:cNvSpPr/>
          <p:nvPr/>
        </p:nvSpPr>
        <p:spPr>
          <a:xfrm>
            <a:off x="2984500" y="1905000"/>
            <a:ext cx="2095500" cy="2476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545BC7-0A64-E662-2BC2-88ACB774273F}"/>
              </a:ext>
            </a:extLst>
          </p:cNvPr>
          <p:cNvSpPr txBox="1"/>
          <p:nvPr/>
        </p:nvSpPr>
        <p:spPr>
          <a:xfrm>
            <a:off x="3162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归一化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BA0394-23C3-BF53-6F10-3199ECDA1B98}"/>
              </a:ext>
            </a:extLst>
          </p:cNvPr>
          <p:cNvSpPr txBox="1"/>
          <p:nvPr/>
        </p:nvSpPr>
        <p:spPr>
          <a:xfrm>
            <a:off x="3162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像素缩放到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[0,1]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减少曝光差异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B8D1E11-F187-4433-E593-72AC2D3B4972}"/>
              </a:ext>
            </a:extLst>
          </p:cNvPr>
          <p:cNvSpPr/>
          <p:nvPr/>
        </p:nvSpPr>
        <p:spPr>
          <a:xfrm>
            <a:off x="5397500" y="1905000"/>
            <a:ext cx="2095500" cy="2476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C14870-9FD3-D301-8A4C-34F989CC163C}"/>
              </a:ext>
            </a:extLst>
          </p:cNvPr>
          <p:cNvSpPr txBox="1"/>
          <p:nvPr/>
        </p:nvSpPr>
        <p:spPr>
          <a:xfrm>
            <a:off x="5575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尺寸统一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8816D8-9AFA-F71C-9C9A-473FFD73B45F}"/>
              </a:ext>
            </a:extLst>
          </p:cNvPr>
          <p:cNvSpPr txBox="1"/>
          <p:nvPr/>
        </p:nvSpPr>
        <p:spPr>
          <a:xfrm>
            <a:off x="5575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Resize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224×224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形成固定输入张量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2C73C0E-8418-55B8-9CF5-6CD8AB5C785C}"/>
              </a:ext>
            </a:extLst>
          </p:cNvPr>
          <p:cNvSpPr/>
          <p:nvPr/>
        </p:nvSpPr>
        <p:spPr>
          <a:xfrm>
            <a:off x="7810500" y="1905000"/>
            <a:ext cx="2095500" cy="2476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CEC32EF-A2C4-A7C6-F0FB-3B329AC42DF5}"/>
              </a:ext>
            </a:extLst>
          </p:cNvPr>
          <p:cNvSpPr txBox="1"/>
          <p:nvPr/>
        </p:nvSpPr>
        <p:spPr>
          <a:xfrm>
            <a:off x="7988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Mask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4341DD0-D916-5A34-0BBA-3511CBEBE153}"/>
              </a:ext>
            </a:extLst>
          </p:cNvPr>
          <p:cNvSpPr txBox="1"/>
          <p:nvPr/>
        </p:nvSpPr>
        <p:spPr>
          <a:xfrm>
            <a:off x="7988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=1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背景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=0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A0295A1-276B-ED29-1011-366CB4A48421}"/>
              </a:ext>
            </a:extLst>
          </p:cNvPr>
          <p:cNvSpPr/>
          <p:nvPr/>
        </p:nvSpPr>
        <p:spPr>
          <a:xfrm>
            <a:off x="10223500" y="1905000"/>
            <a:ext cx="1397000" cy="2476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C0A8732-B34A-8C88-50B2-45865AB9B96D}"/>
              </a:ext>
            </a:extLst>
          </p:cNvPr>
          <p:cNvSpPr txBox="1"/>
          <p:nvPr/>
        </p:nvSpPr>
        <p:spPr>
          <a:xfrm>
            <a:off x="10401300" y="2057400"/>
            <a:ext cx="1041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存储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97455E-F8F5-40C5-9EA6-349B00B58712}"/>
              </a:ext>
            </a:extLst>
          </p:cNvPr>
          <p:cNvSpPr txBox="1"/>
          <p:nvPr/>
        </p:nvSpPr>
        <p:spPr>
          <a:xfrm>
            <a:off x="10401300" y="2476500"/>
            <a:ext cx="104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NPZ
manifest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ADAA452-5090-13D6-9EDD-E9EF818D5B5F}"/>
              </a:ext>
            </a:extLst>
          </p:cNvPr>
          <p:cNvCxnSpPr/>
          <p:nvPr/>
        </p:nvCxnSpPr>
        <p:spPr>
          <a:xfrm>
            <a:off x="2667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4FBB982-5227-A5A4-A144-0C4C737617F4}"/>
              </a:ext>
            </a:extLst>
          </p:cNvPr>
          <p:cNvCxnSpPr/>
          <p:nvPr/>
        </p:nvCxnSpPr>
        <p:spPr>
          <a:xfrm>
            <a:off x="5080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00F93E4-C5E9-9AB7-0878-E0C7CF360A29}"/>
              </a:ext>
            </a:extLst>
          </p:cNvPr>
          <p:cNvCxnSpPr/>
          <p:nvPr/>
        </p:nvCxnSpPr>
        <p:spPr>
          <a:xfrm>
            <a:off x="7493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E297154-51E3-35C3-6E0C-FBDE325DCB0D}"/>
              </a:ext>
            </a:extLst>
          </p:cNvPr>
          <p:cNvCxnSpPr/>
          <p:nvPr/>
        </p:nvCxnSpPr>
        <p:spPr>
          <a:xfrm>
            <a:off x="9906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C874881F-B3AA-B8E4-0A39-5918FC95D5F9}"/>
              </a:ext>
            </a:extLst>
          </p:cNvPr>
          <p:cNvSpPr txBox="1"/>
          <p:nvPr/>
        </p:nvSpPr>
        <p:spPr>
          <a:xfrm>
            <a:off x="889000" y="5143500"/>
            <a:ext cx="1054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训练增强：水平翻转、亮度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对比度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/Gamma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、轻微噪声；避免垂直翻转破坏胸片上下结构。</a:t>
            </a:r>
          </a:p>
        </p:txBody>
      </p:sp>
    </p:spTree>
    <p:extLst>
      <p:ext uri="{BB962C8B-B14F-4D97-AF65-F5344CB8AC3E}">
        <p14:creationId xmlns:p14="http://schemas.microsoft.com/office/powerpoint/2010/main" val="2416732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AD142C4-8E8B-ABC7-7D70-3AE1A1EFD5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302051-48A8-E319-DAA5-1EB8F169705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D3A92AD-0030-37ED-43F7-8F6F05D7705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85FCC4-34F2-6D78-740A-25A49D66D70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从概率图到最终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Mask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50A025-3AAE-8E82-F7AC-CD598DA6700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模型输出不是直接结果，还需要阈值化和后处理。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FC90FA2-79DA-4CB3-B501-4E21D31F4FCD}"/>
              </a:ext>
            </a:extLst>
          </p:cNvPr>
          <p:cNvSpPr/>
          <p:nvPr/>
        </p:nvSpPr>
        <p:spPr>
          <a:xfrm>
            <a:off x="698500" y="1905000"/>
            <a:ext cx="2286000" cy="2794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232617-10B4-B2C3-BBE0-A83519D8A34C}"/>
              </a:ext>
            </a:extLst>
          </p:cNvPr>
          <p:cNvSpPr txBox="1"/>
          <p:nvPr/>
        </p:nvSpPr>
        <p:spPr>
          <a:xfrm>
            <a:off x="876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1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模型前向传播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8CA76F-C1E2-0109-9AE3-1DEC556549F7}"/>
              </a:ext>
            </a:extLst>
          </p:cNvPr>
          <p:cNvSpPr txBox="1"/>
          <p:nvPr/>
        </p:nvSpPr>
        <p:spPr>
          <a:xfrm>
            <a:off x="876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logits Z
Sigmoid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得概率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70F86E2-5C48-D52B-5A9E-9C40D13A2DC3}"/>
              </a:ext>
            </a:extLst>
          </p:cNvPr>
          <p:cNvSpPr/>
          <p:nvPr/>
        </p:nvSpPr>
        <p:spPr>
          <a:xfrm>
            <a:off x="3492500" y="1905000"/>
            <a:ext cx="2286000" cy="2794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2D31384-1939-8BE9-9A0F-49052B18326D}"/>
              </a:ext>
            </a:extLst>
          </p:cNvPr>
          <p:cNvSpPr txBox="1"/>
          <p:nvPr/>
        </p:nvSpPr>
        <p:spPr>
          <a:xfrm>
            <a:off x="3670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2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阈值化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0129A2-9415-DD31-98EB-6BCDBE598B4A}"/>
              </a:ext>
            </a:extLst>
          </p:cNvPr>
          <p:cNvSpPr txBox="1"/>
          <p:nvPr/>
        </p:nvSpPr>
        <p:spPr>
          <a:xfrm>
            <a:off x="3670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P(x,y) &gt; τ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则预测为感染区域
否则为背景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B77C537-5ED8-D6DB-DC61-FF5C59FF477D}"/>
              </a:ext>
            </a:extLst>
          </p:cNvPr>
          <p:cNvSpPr/>
          <p:nvPr/>
        </p:nvSpPr>
        <p:spPr>
          <a:xfrm>
            <a:off x="6286500" y="1905000"/>
            <a:ext cx="2286000" cy="2794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14FBBC8-41BA-40CE-F6F2-A32BAFA0C3F2}"/>
              </a:ext>
            </a:extLst>
          </p:cNvPr>
          <p:cNvSpPr txBox="1"/>
          <p:nvPr/>
        </p:nvSpPr>
        <p:spPr>
          <a:xfrm>
            <a:off x="6464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3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8F48B89-0A33-E240-6448-C5A40FE78847}"/>
              </a:ext>
            </a:extLst>
          </p:cNvPr>
          <p:cNvSpPr txBox="1"/>
          <p:nvPr/>
        </p:nvSpPr>
        <p:spPr>
          <a:xfrm>
            <a:off x="6464300" y="24765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删除面积小于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的小碎片，降低噪声误检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8336937-C4C7-4397-A59C-2EA4B58FF50D}"/>
              </a:ext>
            </a:extLst>
          </p:cNvPr>
          <p:cNvSpPr/>
          <p:nvPr/>
        </p:nvSpPr>
        <p:spPr>
          <a:xfrm>
            <a:off x="9080500" y="1905000"/>
            <a:ext cx="2286000" cy="2794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D0561E-D351-2D4C-4011-4689AEC48F5E}"/>
              </a:ext>
            </a:extLst>
          </p:cNvPr>
          <p:cNvSpPr txBox="1"/>
          <p:nvPr/>
        </p:nvSpPr>
        <p:spPr>
          <a:xfrm>
            <a:off x="9258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4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可视化与评估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97E7B47-401A-53A1-3C00-687A81D1E2C8}"/>
              </a:ext>
            </a:extLst>
          </p:cNvPr>
          <p:cNvSpPr txBox="1"/>
          <p:nvPr/>
        </p:nvSpPr>
        <p:spPr>
          <a:xfrm>
            <a:off x="9258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Error Map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计算四个指标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71A724E-99FF-7A1A-07C1-9DD4E97CF3E1}"/>
              </a:ext>
            </a:extLst>
          </p:cNvPr>
          <p:cNvCxnSpPr/>
          <p:nvPr/>
        </p:nvCxnSpPr>
        <p:spPr>
          <a:xfrm>
            <a:off x="2984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6B3A7B09-BD61-AB69-942A-22EEFC668ED1}"/>
              </a:ext>
            </a:extLst>
          </p:cNvPr>
          <p:cNvCxnSpPr/>
          <p:nvPr/>
        </p:nvCxnSpPr>
        <p:spPr>
          <a:xfrm>
            <a:off x="5778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B55B0302-CC05-A1EC-2110-7DB8FA7D3A7E}"/>
              </a:ext>
            </a:extLst>
          </p:cNvPr>
          <p:cNvCxnSpPr/>
          <p:nvPr/>
        </p:nvCxnSpPr>
        <p:spPr>
          <a:xfrm>
            <a:off x="8572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D6F414B-3AAA-255C-4FC5-EC26D8DFCAA4}"/>
              </a:ext>
            </a:extLst>
          </p:cNvPr>
          <p:cNvSpPr txBox="1"/>
          <p:nvPr/>
        </p:nvSpPr>
        <p:spPr>
          <a:xfrm>
            <a:off x="889000" y="5334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本项目最终阈值不是固定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0.5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，而是在验证集上搜索；不同专家模型有各自最优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min_area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42686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D1C562-0CDE-1232-020F-91DDEE5EF3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A5A430-25B3-6CFE-7256-DD495F55EEB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1E18CD-E99F-7817-EFF8-3BEE2BC0566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后处理公式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1866AB-6148-4EEA-47D6-15368C80851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二值化和连通域过滤怎么算？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E61486-033F-0AE5-2626-3A255626867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这一步决定最终感染面积和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结果。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64A77E-A85F-4491-174C-ACCB570AF858}"/>
              </a:ext>
            </a:extLst>
          </p:cNvPr>
          <p:cNvSpPr txBox="1"/>
          <p:nvPr/>
        </p:nvSpPr>
        <p:spPr>
          <a:xfrm>
            <a:off x="889000" y="1841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概率图：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6CF54A-F333-E922-BA2A-E3A9C7D26030}"/>
              </a:ext>
            </a:extLst>
          </p:cNvPr>
          <p:cNvSpPr txBox="1"/>
          <p:nvPr/>
        </p:nvSpPr>
        <p:spPr>
          <a:xfrm>
            <a:off x="2794000" y="18415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P(x,y) = sigmoid(Z(x,y))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2B6AC7-55C6-567F-A4EB-106342CF6624}"/>
              </a:ext>
            </a:extLst>
          </p:cNvPr>
          <p:cNvSpPr txBox="1"/>
          <p:nvPr/>
        </p:nvSpPr>
        <p:spPr>
          <a:xfrm>
            <a:off x="889000" y="2603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 </a:t>
            </a:r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DAD25F4-AF01-9D1B-DCFD-33E9861F781C}"/>
              </a:ext>
            </a:extLst>
          </p:cNvPr>
          <p:cNvSpPr txBox="1"/>
          <p:nvPr/>
        </p:nvSpPr>
        <p:spPr>
          <a:xfrm>
            <a:off x="2794000" y="2603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b="1">
                <a:solidFill>
                  <a:srgbClr val="DC2626"/>
                </a:solidFill>
                <a:latin typeface="Microsoft YaHei" panose="020B0503020204020204" pitchFamily="34" charset="-122"/>
              </a:rPr>
              <a:t>M_hat(x,y) = 1, if P(x,y) &gt; tau;  otherwise 0</a:t>
            </a:r>
            <a:endParaRPr lang="zh-CN" altLang="en-US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21DD31-E7D3-2A21-CBDC-B721C0763323}"/>
              </a:ext>
            </a:extLst>
          </p:cNvPr>
          <p:cNvSpPr txBox="1"/>
          <p:nvPr/>
        </p:nvSpPr>
        <p:spPr>
          <a:xfrm>
            <a:off x="889000" y="3365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019283-7213-6B8E-BCF9-3405ACDF38B0}"/>
              </a:ext>
            </a:extLst>
          </p:cNvPr>
          <p:cNvSpPr txBox="1"/>
          <p:nvPr/>
        </p:nvSpPr>
        <p:spPr>
          <a:xfrm>
            <a:off x="2794000" y="3365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删除面积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Area(C_i) &lt; min_area </a:t>
            </a:r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的预测连通块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C_i</a:t>
            </a:r>
            <a:endParaRPr lang="zh-CN" altLang="en-US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959CD52-0037-E614-CA39-1CA488A6F06D}"/>
              </a:ext>
            </a:extLst>
          </p:cNvPr>
          <p:cNvSpPr/>
          <p:nvPr/>
        </p:nvSpPr>
        <p:spPr>
          <a:xfrm>
            <a:off x="1143000" y="4381500"/>
            <a:ext cx="2921000" cy="1206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93CB63-645C-1BD1-D700-861FCFDBF45C}"/>
              </a:ext>
            </a:extLst>
          </p:cNvPr>
          <p:cNvSpPr txBox="1"/>
          <p:nvPr/>
        </p:nvSpPr>
        <p:spPr>
          <a:xfrm>
            <a:off x="1320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P(x,y)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0810CB-84B3-3A6B-C327-E652871B931C}"/>
              </a:ext>
            </a:extLst>
          </p:cNvPr>
          <p:cNvSpPr txBox="1"/>
          <p:nvPr/>
        </p:nvSpPr>
        <p:spPr>
          <a:xfrm>
            <a:off x="1320800" y="4953000"/>
            <a:ext cx="2565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(x,y)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属于感染区域的概率。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4EAB5DA-12BA-FB99-F8EB-15547550E9D9}"/>
              </a:ext>
            </a:extLst>
          </p:cNvPr>
          <p:cNvSpPr/>
          <p:nvPr/>
        </p:nvSpPr>
        <p:spPr>
          <a:xfrm>
            <a:off x="4635500" y="4381500"/>
            <a:ext cx="2921000" cy="1206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1A81FB-8C6B-A06E-8B66-76B93F921F6A}"/>
              </a:ext>
            </a:extLst>
          </p:cNvPr>
          <p:cNvSpPr txBox="1"/>
          <p:nvPr/>
        </p:nvSpPr>
        <p:spPr>
          <a:xfrm>
            <a:off x="48133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tau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4C241FF-E223-1447-6965-F6B7E4465AFD}"/>
              </a:ext>
            </a:extLst>
          </p:cNvPr>
          <p:cNvSpPr txBox="1"/>
          <p:nvPr/>
        </p:nvSpPr>
        <p:spPr>
          <a:xfrm>
            <a:off x="48133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阈值。越高越保守，误检减少但漏检可能增加。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8A3D75D-E4FD-B2B3-28C0-87E815A40CE8}"/>
              </a:ext>
            </a:extLst>
          </p:cNvPr>
          <p:cNvSpPr/>
          <p:nvPr/>
        </p:nvSpPr>
        <p:spPr>
          <a:xfrm>
            <a:off x="8128000" y="4381500"/>
            <a:ext cx="2921000" cy="1206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B05993E-EEAB-DB64-E179-DF20758866B1}"/>
              </a:ext>
            </a:extLst>
          </p:cNvPr>
          <p:cNvSpPr txBox="1"/>
          <p:nvPr/>
        </p:nvSpPr>
        <p:spPr>
          <a:xfrm>
            <a:off x="8305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B9FAF68-4407-623B-654E-7507F707EFAC}"/>
              </a:ext>
            </a:extLst>
          </p:cNvPr>
          <p:cNvSpPr txBox="1"/>
          <p:nvPr/>
        </p:nvSpPr>
        <p:spPr>
          <a:xfrm>
            <a:off x="83058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最小连通域面积。用于过滤小噪声点。</a:t>
            </a:r>
          </a:p>
        </p:txBody>
      </p:sp>
    </p:spTree>
    <p:extLst>
      <p:ext uri="{BB962C8B-B14F-4D97-AF65-F5344CB8AC3E}">
        <p14:creationId xmlns:p14="http://schemas.microsoft.com/office/powerpoint/2010/main" val="1763658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8EFC0D9-A5CE-02A3-9E88-981CCA5942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BE7BC6-B16E-5B2E-9FF8-D259869CE16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71C6401-2F4E-E018-15E4-2E3DCC039B9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A983C4A-A130-9AA6-E397-C78EABC217E2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模型路线为什么从单模型转向多专家？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99BC90C-435C-0BBF-B5A4-BEC36049984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单一结构改进提升有限，错误类型拆解更有效。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916711B-215F-6B89-B48C-26C5C63A8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354297"/>
              </p:ext>
            </p:extLst>
          </p:nvPr>
        </p:nvGraphicFramePr>
        <p:xfrm>
          <a:off x="698500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4214583587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3798726957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328291085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568888817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代表方案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92075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基础模型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U-Net / DynUNet / Attention U-Net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建立分割基线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可用但性能有限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79396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v11-v20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窗口注意力、边界、频域、先验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部分提升不稳定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689669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传统融合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利用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50028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按低分错误类型选择专家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912011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8C92E2D-514D-E0BE-29F6-298ED92D446B}"/>
              </a:ext>
            </a:extLst>
          </p:cNvPr>
          <p:cNvSpPr txBox="1"/>
          <p:nvPr/>
        </p:nvSpPr>
        <p:spPr>
          <a:xfrm>
            <a:off x="889000" y="5461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工程判断：如果某类错误反复出现，就针对这类错误训练专家，而不是继续把所有问题塞给一个模型。</a:t>
            </a:r>
          </a:p>
        </p:txBody>
      </p:sp>
    </p:spTree>
    <p:extLst>
      <p:ext uri="{BB962C8B-B14F-4D97-AF65-F5344CB8AC3E}">
        <p14:creationId xmlns:p14="http://schemas.microsoft.com/office/powerpoint/2010/main" val="3948699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37AB71-5520-5DB3-BC51-7D0F3A5F42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C10324-B1B9-C233-AC22-CCD5E0092B6F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E2EC77-7983-1168-09CE-5889C20BFF2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主要模型改动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E59D38-2CCB-6029-ED35-DB0E8098CD2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主要模型到底改在哪里？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EE834C-93A7-F8CC-AFAD-33A68C94C43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最终版不是只改一个网络文件，而是模型结构、训练损失、低分数据划分和门控策略一起改。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6D3B8D0-D5DC-7FC0-6A8F-019EFBF599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196208"/>
              </p:ext>
            </p:extLst>
          </p:nvPr>
        </p:nvGraphicFramePr>
        <p:xfrm>
          <a:off x="482600" y="1778000"/>
          <a:ext cx="11226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267">
                  <a:extLst>
                    <a:ext uri="{9D8B030D-6E8A-4147-A177-3AD203B41FA5}">
                      <a16:colId xmlns:a16="http://schemas.microsoft.com/office/drawing/2014/main" val="977512528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3898494497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32821248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改动位置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具体内容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解决的问题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87336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src/models/lowdice_refinenet2d.py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LowDiceRefineNet2D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：边缘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频域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坐标先验，高分辨率解码，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SE/ASPP/AttentionMerge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给低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样本单独建专家模型。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03473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src/train_unet2d_qata.py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boundary_shift_combo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不同专家使用不同损失倾向。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8214175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scripts/build_qata_v18_error_expert_manifests.py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的实际错误把低分样本拆成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 / actual_fn / actual_boundary / actual_all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让训练集和错误类型对应起来。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5134449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scripts/eval_lowdice_expert_gate.py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gate_choice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实现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路由，按错误类型选择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或对应专家。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避免平均融合，把每个样本交给更合适的模型。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853618"/>
                  </a:ext>
                </a:extLst>
              </a:tr>
            </a:tbl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87D230FF-2551-2FA1-678E-7E51E1554070}"/>
              </a:ext>
            </a:extLst>
          </p:cNvPr>
          <p:cNvSpPr/>
          <p:nvPr/>
        </p:nvSpPr>
        <p:spPr>
          <a:xfrm>
            <a:off x="1397000" y="5715000"/>
            <a:ext cx="939800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BBF2A4-5913-ABA8-3C5B-449D5EE5BF97}"/>
              </a:ext>
            </a:extLst>
          </p:cNvPr>
          <p:cNvSpPr txBox="1"/>
          <p:nvPr/>
        </p:nvSpPr>
        <p:spPr>
          <a:xfrm>
            <a:off x="1574800" y="5867400"/>
            <a:ext cx="904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一句话总结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7BA92B4-F796-24F5-12B7-CD5272C81129}"/>
              </a:ext>
            </a:extLst>
          </p:cNvPr>
          <p:cNvSpPr txBox="1"/>
          <p:nvPr/>
        </p:nvSpPr>
        <p:spPr>
          <a:xfrm>
            <a:off x="1574800" y="6286500"/>
            <a:ext cx="904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最终模型改动点是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+ 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门控路由，不是单纯把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换成一个新模型。</a:t>
            </a:r>
          </a:p>
        </p:txBody>
      </p:sp>
    </p:spTree>
    <p:extLst>
      <p:ext uri="{BB962C8B-B14F-4D97-AF65-F5344CB8AC3E}">
        <p14:creationId xmlns:p14="http://schemas.microsoft.com/office/powerpoint/2010/main" val="2543960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CC14D5-883B-228F-D6F8-70E6AF143B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903585-D91D-03FA-5391-873445F5E2E0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E8FB431-6B2C-ABFB-FB23-AA305F29AC8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A9A2F9-1D29-B982-E976-82C47C79E3C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扮演什么角色？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C62B7A-0560-5654-23EF-57D342421E9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它是最终门控策略的基准模型和常规样本默认输出。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A225E5-D071-5659-ACA0-37295A510A72}"/>
              </a:ext>
            </a:extLst>
          </p:cNvPr>
          <p:cNvSpPr/>
          <p:nvPr/>
        </p:nvSpPr>
        <p:spPr>
          <a:xfrm>
            <a:off x="952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1976749-068B-4C3A-C7E1-E6CBBCF6F6ED}"/>
              </a:ext>
            </a:extLst>
          </p:cNvPr>
          <p:cNvSpPr txBox="1"/>
          <p:nvPr/>
        </p:nvSpPr>
        <p:spPr>
          <a:xfrm>
            <a:off x="1130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8A77C2-C371-3FAA-A0FD-1DCE503AB115}"/>
              </a:ext>
            </a:extLst>
          </p:cNvPr>
          <p:cNvSpPr txBox="1"/>
          <p:nvPr/>
        </p:nvSpPr>
        <p:spPr>
          <a:xfrm>
            <a:off x="1130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2C77F3-680A-B6AD-4738-DBAF74F3EE0E}"/>
              </a:ext>
            </a:extLst>
          </p:cNvPr>
          <p:cNvSpPr txBox="1"/>
          <p:nvPr/>
        </p:nvSpPr>
        <p:spPr>
          <a:xfrm>
            <a:off x="1130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935CFF2-3ECD-E178-C0E4-D5663C7EB896}"/>
              </a:ext>
            </a:extLst>
          </p:cNvPr>
          <p:cNvSpPr/>
          <p:nvPr/>
        </p:nvSpPr>
        <p:spPr>
          <a:xfrm>
            <a:off x="46990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8558A1E-90FD-DC0D-34E5-CA9D4F09980A}"/>
              </a:ext>
            </a:extLst>
          </p:cNvPr>
          <p:cNvSpPr txBox="1"/>
          <p:nvPr/>
        </p:nvSpPr>
        <p:spPr>
          <a:xfrm>
            <a:off x="48768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0A7AD0-190C-E014-3166-566B3B1ABF63}"/>
              </a:ext>
            </a:extLst>
          </p:cNvPr>
          <p:cNvSpPr txBox="1"/>
          <p:nvPr/>
        </p:nvSpPr>
        <p:spPr>
          <a:xfrm>
            <a:off x="48768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A1E287B-DF49-F328-AD74-4D9EE3E83B44}"/>
              </a:ext>
            </a:extLst>
          </p:cNvPr>
          <p:cNvSpPr txBox="1"/>
          <p:nvPr/>
        </p:nvSpPr>
        <p:spPr>
          <a:xfrm>
            <a:off x="48768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54C9BE6-E9F1-C009-D811-2F8BA588B3B8}"/>
              </a:ext>
            </a:extLst>
          </p:cNvPr>
          <p:cNvSpPr/>
          <p:nvPr/>
        </p:nvSpPr>
        <p:spPr>
          <a:xfrm>
            <a:off x="8445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93464AF-F8E2-C9DB-F4C1-62157DC48C13}"/>
              </a:ext>
            </a:extLst>
          </p:cNvPr>
          <p:cNvSpPr txBox="1"/>
          <p:nvPr/>
        </p:nvSpPr>
        <p:spPr>
          <a:xfrm>
            <a:off x="8623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低分均值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71DDAC1-B325-CE60-A966-097869EE0BFA}"/>
              </a:ext>
            </a:extLst>
          </p:cNvPr>
          <p:cNvSpPr txBox="1"/>
          <p:nvPr/>
        </p:nvSpPr>
        <p:spPr>
          <a:xfrm>
            <a:off x="8623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0.4033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23D2C7E-73B5-D6CD-384A-C2B13B5846C2}"/>
              </a:ext>
            </a:extLst>
          </p:cNvPr>
          <p:cNvSpPr txBox="1"/>
          <p:nvPr/>
        </p:nvSpPr>
        <p:spPr>
          <a:xfrm>
            <a:off x="8623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困难样本平均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71783F9-4D9C-04EE-D7D6-5E7B1C1D660F}"/>
              </a:ext>
            </a:extLst>
          </p:cNvPr>
          <p:cNvSpPr/>
          <p:nvPr/>
        </p:nvSpPr>
        <p:spPr>
          <a:xfrm>
            <a:off x="1270000" y="3937000"/>
            <a:ext cx="9652000" cy="127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AD72FC6-3F1D-94BB-3575-C80742E63104}"/>
              </a:ext>
            </a:extLst>
          </p:cNvPr>
          <p:cNvSpPr txBox="1"/>
          <p:nvPr/>
        </p:nvSpPr>
        <p:spPr>
          <a:xfrm>
            <a:off x="1447800" y="40894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为什么还保留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44A52B-B9BB-480F-93C3-DF5D2BF2B5F3}"/>
              </a:ext>
            </a:extLst>
          </p:cNvPr>
          <p:cNvSpPr txBox="1"/>
          <p:nvPr/>
        </p:nvSpPr>
        <p:spPr>
          <a:xfrm>
            <a:off x="1447800" y="4508500"/>
            <a:ext cx="929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虽然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在低分样本上不够好，但它在部分边界偏移样本上比专家更稳。因此最终策略不是完全替换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，而是让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成为可回退的专家之一。</a:t>
            </a:r>
          </a:p>
        </p:txBody>
      </p:sp>
    </p:spTree>
    <p:extLst>
      <p:ext uri="{BB962C8B-B14F-4D97-AF65-F5344CB8AC3E}">
        <p14:creationId xmlns:p14="http://schemas.microsoft.com/office/powerpoint/2010/main" val="265988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9B01DA4-9E01-7559-050E-44724FE634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0AFCD0-1A22-0A79-BD45-B6EE6BE07CA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FEC7E94-081B-4D8F-C115-16160AB9BFE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DF8A5F1-15A2-6183-B59C-30A47DC4D87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个低分样本错在哪里？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0E5F84-D4DB-D332-AE10-C06AF57E87B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用错误类型决定训练哪些专家。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B76FBD-63F7-B13A-B9D9-3A6DB65F92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D75BD9D9-7482-CD3A-5996-00F274C94CE6}"/>
              </a:ext>
            </a:extLst>
          </p:cNvPr>
          <p:cNvSpPr/>
          <p:nvPr/>
        </p:nvSpPr>
        <p:spPr>
          <a:xfrm>
            <a:off x="7493000" y="1714500"/>
            <a:ext cx="3810000" cy="825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6AF97B-8839-8C15-55D3-ADAA6D1D7450}"/>
              </a:ext>
            </a:extLst>
          </p:cNvPr>
          <p:cNvSpPr txBox="1"/>
          <p:nvPr/>
        </p:nvSpPr>
        <p:spPr>
          <a:xfrm>
            <a:off x="7670800" y="1866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boundary_or_shift_error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FCDB8AA-20F1-DFD0-F874-A2B12A4E6899}"/>
              </a:ext>
            </a:extLst>
          </p:cNvPr>
          <p:cNvSpPr txBox="1"/>
          <p:nvPr/>
        </p:nvSpPr>
        <p:spPr>
          <a:xfrm>
            <a:off x="7670800" y="2286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例：大体位置对，但边界偏移。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8D4E83-C774-29ED-6C17-DC4549A352B4}"/>
              </a:ext>
            </a:extLst>
          </p:cNvPr>
          <p:cNvSpPr/>
          <p:nvPr/>
        </p:nvSpPr>
        <p:spPr>
          <a:xfrm>
            <a:off x="7493000" y="2730500"/>
            <a:ext cx="3810000" cy="825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A93A599-2056-6F88-BD5F-A131B508A1E0}"/>
              </a:ext>
            </a:extLst>
          </p:cNvPr>
          <p:cNvSpPr txBox="1"/>
          <p:nvPr/>
        </p:nvSpPr>
        <p:spPr>
          <a:xfrm>
            <a:off x="7670800" y="2882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over_segmented_fp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973BC9-194C-22EC-831F-2F1C7B506E1C}"/>
              </a:ext>
            </a:extLst>
          </p:cNvPr>
          <p:cNvSpPr txBox="1"/>
          <p:nvPr/>
        </p:nvSpPr>
        <p:spPr>
          <a:xfrm>
            <a:off x="7670800" y="3302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例：预测过大，假阳性多。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D74181-5C64-1E90-B2E4-C5428481C19F}"/>
              </a:ext>
            </a:extLst>
          </p:cNvPr>
          <p:cNvSpPr/>
          <p:nvPr/>
        </p:nvSpPr>
        <p:spPr>
          <a:xfrm>
            <a:off x="7493000" y="3746500"/>
            <a:ext cx="3810000" cy="825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E71F52-4E13-09DA-644E-71E926506947}"/>
              </a:ext>
            </a:extLst>
          </p:cNvPr>
          <p:cNvSpPr txBox="1"/>
          <p:nvPr/>
        </p:nvSpPr>
        <p:spPr>
          <a:xfrm>
            <a:off x="7670800" y="3898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under / missed FN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0F7818D-07C0-4416-1A1C-F295956A3D26}"/>
              </a:ext>
            </a:extLst>
          </p:cNvPr>
          <p:cNvSpPr txBox="1"/>
          <p:nvPr/>
        </p:nvSpPr>
        <p:spPr>
          <a:xfrm>
            <a:off x="7670800" y="4318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例：病灶覆盖不足或完全漏掉。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8686A10-13E3-2088-EF3D-32ACB7A67307}"/>
              </a:ext>
            </a:extLst>
          </p:cNvPr>
          <p:cNvSpPr/>
          <p:nvPr/>
        </p:nvSpPr>
        <p:spPr>
          <a:xfrm>
            <a:off x="7493000" y="4762500"/>
            <a:ext cx="3810000" cy="825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CCE7495-920F-5308-FAED-E34BE3A790DE}"/>
              </a:ext>
            </a:extLst>
          </p:cNvPr>
          <p:cNvSpPr txBox="1"/>
          <p:nvPr/>
        </p:nvSpPr>
        <p:spPr>
          <a:xfrm>
            <a:off x="7670800" y="4914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wrong_location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60F60F-2D39-5B7D-8EB3-8C06D032B235}"/>
              </a:ext>
            </a:extLst>
          </p:cNvPr>
          <p:cNvSpPr txBox="1"/>
          <p:nvPr/>
        </p:nvSpPr>
        <p:spPr>
          <a:xfrm>
            <a:off x="7670800" y="5334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例：预测区域与真值几乎无重叠。</a:t>
            </a:r>
          </a:p>
        </p:txBody>
      </p:sp>
    </p:spTree>
    <p:extLst>
      <p:ext uri="{BB962C8B-B14F-4D97-AF65-F5344CB8AC3E}">
        <p14:creationId xmlns:p14="http://schemas.microsoft.com/office/powerpoint/2010/main" val="1489483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D76029-8DC4-7A2E-C348-32A86239B6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87A8C8-D100-B3DD-1E09-20E01D9A347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E3BFF-98D9-86A9-097E-36FD08462346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CA074F-32D2-E265-8A17-5B9E522F089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每个专家具体解决什么问题？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1DA3F3-CC4D-AE15-AABB-97F451E17AF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不同专家不是分数都高，而是在特定错误类型上更合适。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67EFEEB-3CA5-E563-9E11-F909F7C81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975998"/>
              </p:ext>
            </p:extLst>
          </p:nvPr>
        </p:nvGraphicFramePr>
        <p:xfrm>
          <a:off x="571500" y="1714500"/>
          <a:ext cx="11049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35560359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075346655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131170530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4066234426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专家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适合错误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7008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低分样本通用纠错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多数困难样本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稳健替换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84481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减少假阳性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过分割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让预测更保守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70443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提高召回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明显漏检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扩大病灶覆盖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888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边界与质心约束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细化边缘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373275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actual-fp/fn/boundary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实际错误划分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极端低分样本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针对性更强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973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631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B4BD6D-F5FD-1942-5FCF-9F8822394E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EBCE33-C7DB-DD85-F595-BDCABB89F6D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922D53-4644-35DB-CAD4-97D1BD7C933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最终优化策略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A7D809-911E-8A7D-64CC-2B138FA93D04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是什么意思？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7C1259-52C9-15D0-F0AC-156A8DBC367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不是平均融合，而是按错误类型选择模型。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C27904-FD16-B2E8-043E-7EE28E4074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C9BF5B9-EC35-6939-5082-C9684084C60F}"/>
              </a:ext>
            </a:extLst>
          </p:cNvPr>
          <p:cNvSpPr txBox="1"/>
          <p:nvPr/>
        </p:nvSpPr>
        <p:spPr>
          <a:xfrm>
            <a:off x="787400" y="5842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核心思想：先让 </a:t>
            </a:r>
            <a:r>
              <a:rPr lang="en-US" altLang="zh-CN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给出基线，再对低分困难样本按错误类型选择更合适的专家输出。</a:t>
            </a:r>
          </a:p>
        </p:txBody>
      </p:sp>
    </p:spTree>
    <p:extLst>
      <p:ext uri="{BB962C8B-B14F-4D97-AF65-F5344CB8AC3E}">
        <p14:creationId xmlns:p14="http://schemas.microsoft.com/office/powerpoint/2010/main" val="2330128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C0E9E17-9989-B981-6414-FF9FFDAFFC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8956A6-4F78-13BA-1179-77149215C1E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534E668-FDA3-5062-F250-F625398CEA5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门控规则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50C643-476C-9AC1-20E9-2EFFD7C7527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每种错误路由到哪个专家？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0FF5F73-E16A-4E40-5BB0-132784F75E2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这张表就是最终优化策略的含义。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1CA0844-E087-FDF2-9EB4-93F0ABEA1A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089605"/>
              </p:ext>
            </p:extLst>
          </p:nvPr>
        </p:nvGraphicFramePr>
        <p:xfrm>
          <a:off x="571500" y="1651000"/>
          <a:ext cx="11049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3988498359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591837268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80978319"/>
                    </a:ext>
                  </a:extLst>
                </a:gridCol>
              </a:tblGrid>
              <a:tr h="607786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为什么这样选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513760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这类样本位置基本对，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边界更稳，避免专家过修正。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645679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预测区域过大，需要更强的误检抑制。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703623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boundary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真实病灶没覆盖够，需要提高召回或补边界。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6982846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mostly_missed_fn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大面积漏检时优先用召回专家。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026863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预测错位，优先用实际错位样本训练出的专家。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09014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完全漏掉时用整体低分专家或漏检专家。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944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060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6EA3711-995A-06B6-4E4A-BB144A73EB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0B7B63F-1BFF-1674-1E21-9328804053B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830E33D-07E7-35D8-DF92-C15EB8688F0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8099E9A-A9EA-50DE-35B6-3FCCAA7AF42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为什么要用四个指标？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B0D6EC-9807-544F-27AC-B7330FC56F0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不够，需要同时看误检和漏检。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27804A9-EBD3-9ABE-9CAB-380FE6B171E9}"/>
              </a:ext>
            </a:extLst>
          </p:cNvPr>
          <p:cNvSpPr/>
          <p:nvPr/>
        </p:nvSpPr>
        <p:spPr>
          <a:xfrm>
            <a:off x="889000" y="1905000"/>
            <a:ext cx="2413000" cy="241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DB044A-48B5-6A19-1BC4-77207840681B}"/>
              </a:ext>
            </a:extLst>
          </p:cNvPr>
          <p:cNvSpPr txBox="1"/>
          <p:nvPr/>
        </p:nvSpPr>
        <p:spPr>
          <a:xfrm>
            <a:off x="1066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62837A1-AF4C-88BF-8BD3-440BFBEFC797}"/>
              </a:ext>
            </a:extLst>
          </p:cNvPr>
          <p:cNvSpPr txBox="1"/>
          <p:nvPr/>
        </p:nvSpPr>
        <p:spPr>
          <a:xfrm>
            <a:off x="1066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衡量预测区域与真实区域的重叠程度。医学分割最常用。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6C8AE7A-4053-3FEF-3A7D-EC80E5492C73}"/>
              </a:ext>
            </a:extLst>
          </p:cNvPr>
          <p:cNvSpPr/>
          <p:nvPr/>
        </p:nvSpPr>
        <p:spPr>
          <a:xfrm>
            <a:off x="3619500" y="1905000"/>
            <a:ext cx="2413000" cy="241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0545A5-30BF-5FA1-6B50-C81A145583B1}"/>
              </a:ext>
            </a:extLst>
          </p:cNvPr>
          <p:cNvSpPr txBox="1"/>
          <p:nvPr/>
        </p:nvSpPr>
        <p:spPr>
          <a:xfrm>
            <a:off x="3797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9E5F20-2AD5-3309-96D1-FC3B93CD1A91}"/>
              </a:ext>
            </a:extLst>
          </p:cNvPr>
          <p:cNvSpPr txBox="1"/>
          <p:nvPr/>
        </p:nvSpPr>
        <p:spPr>
          <a:xfrm>
            <a:off x="3797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交并比，比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更严格，对边界偏移更敏感。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57B1B86-202F-8A77-0188-19725B7C4B2D}"/>
              </a:ext>
            </a:extLst>
          </p:cNvPr>
          <p:cNvSpPr/>
          <p:nvPr/>
        </p:nvSpPr>
        <p:spPr>
          <a:xfrm>
            <a:off x="6350000" y="1905000"/>
            <a:ext cx="2413000" cy="241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10D55F-76C2-79A3-9FFD-E9034DE9C5AE}"/>
              </a:ext>
            </a:extLst>
          </p:cNvPr>
          <p:cNvSpPr txBox="1"/>
          <p:nvPr/>
        </p:nvSpPr>
        <p:spPr>
          <a:xfrm>
            <a:off x="6527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5C0598A-0842-DD19-D92F-EC4903D0B165}"/>
              </a:ext>
            </a:extLst>
          </p:cNvPr>
          <p:cNvSpPr txBox="1"/>
          <p:nvPr/>
        </p:nvSpPr>
        <p:spPr>
          <a:xfrm>
            <a:off x="6527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预测为病灶的像素中，有多少是真的。低则误检多。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27AD4F2-5AC7-6979-412E-75922F78324B}"/>
              </a:ext>
            </a:extLst>
          </p:cNvPr>
          <p:cNvSpPr/>
          <p:nvPr/>
        </p:nvSpPr>
        <p:spPr>
          <a:xfrm>
            <a:off x="9080500" y="1905000"/>
            <a:ext cx="2413000" cy="241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7E30BE6-53D3-D6CC-B17C-47719410D3AB}"/>
              </a:ext>
            </a:extLst>
          </p:cNvPr>
          <p:cNvSpPr txBox="1"/>
          <p:nvPr/>
        </p:nvSpPr>
        <p:spPr>
          <a:xfrm>
            <a:off x="9258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E5B0180-C7EB-5718-0E15-99232F1D4012}"/>
              </a:ext>
            </a:extLst>
          </p:cNvPr>
          <p:cNvSpPr txBox="1"/>
          <p:nvPr/>
        </p:nvSpPr>
        <p:spPr>
          <a:xfrm>
            <a:off x="9258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真实病灶像素中，有多少被找出来。低则漏检多。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32EEE88-10F4-F35A-FCAA-29E0500895D8}"/>
              </a:ext>
            </a:extLst>
          </p:cNvPr>
          <p:cNvSpPr txBox="1"/>
          <p:nvPr/>
        </p:nvSpPr>
        <p:spPr>
          <a:xfrm>
            <a:off x="889000" y="5207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四者关系：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看整体重叠；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。最终模型要在误检和漏检之间折中。</a:t>
            </a:r>
          </a:p>
        </p:txBody>
      </p:sp>
    </p:spTree>
    <p:extLst>
      <p:ext uri="{BB962C8B-B14F-4D97-AF65-F5344CB8AC3E}">
        <p14:creationId xmlns:p14="http://schemas.microsoft.com/office/powerpoint/2010/main" val="115366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5E93A9C-3F82-5E61-A3EA-19B61129AE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772DF6-71F8-8520-C62B-EB8CBF43C68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FFC6703-8C8A-F044-D0F2-9FE8B9C5013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公式符号说明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AA15E0-9D04-2A00-38C6-532AF27A9D4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公式里的字母分别代表什么？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D8C467-F549-FCEA-DD5D-C28CF87C8B18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先统一符号，再看每个公式。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5C66673-CD9B-7799-8180-04D03C3B84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375216"/>
              </p:ext>
            </p:extLst>
          </p:nvPr>
        </p:nvGraphicFramePr>
        <p:xfrm>
          <a:off x="1206500" y="1651000"/>
          <a:ext cx="9779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9500">
                  <a:extLst>
                    <a:ext uri="{9D8B030D-6E8A-4147-A177-3AD203B41FA5}">
                      <a16:colId xmlns:a16="http://schemas.microsoft.com/office/drawing/2014/main" val="324372298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298605979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符号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570905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真实二值掩码。感染区域为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，背景为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42863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M_hat(x,y)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模型预测二值掩码。阈值化后感染区域为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732862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模型预测的感染概率，范围为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8454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True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，预测为感染且真实也是感染的像素数。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40085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，预测为感染但真实是背景的像素数。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490910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Negative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，真实是感染但模型预测为背景的像素数。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195783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epsilon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很小的平滑项，防止分母为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699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657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5674253-A0C6-99A3-C5D7-39740BECBF9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BAF239-B034-D0A6-71B5-C107A8F6C3C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B764FB-93BD-741C-B208-DFF6BE8365D6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16 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C465084-3454-4F7B-7BB6-5C783E2BDB0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重叠类指标怎么算？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555BAD2-80C3-99FB-697A-9B77B10A19C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越接近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，预测和真实区域越一致。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EEEE11-11A2-8BD2-28AF-56139C2758E2}"/>
              </a:ext>
            </a:extLst>
          </p:cNvPr>
          <p:cNvSpPr txBox="1"/>
          <p:nvPr/>
        </p:nvSpPr>
        <p:spPr>
          <a:xfrm>
            <a:off x="889000" y="1905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Dice = (2 × TP + epsilon) / (2 × TP + FP + FN + epsilon)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D3687EB-2ED0-6B4A-9E63-74BDF103CE4D}"/>
              </a:ext>
            </a:extLst>
          </p:cNvPr>
          <p:cNvSpPr txBox="1"/>
          <p:nvPr/>
        </p:nvSpPr>
        <p:spPr>
          <a:xfrm>
            <a:off x="889000" y="2540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2563EB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2563EB"/>
                </a:solidFill>
                <a:latin typeface="Microsoft YaHei" panose="020B0503020204020204" pitchFamily="34" charset="-122"/>
              </a:rPr>
              <a:t>Dice = 2 × |M_hat ∩ M| / (|M_hat| + |M|)</a:t>
            </a:r>
            <a:endParaRPr lang="zh-CN" altLang="en-US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44F5EA-0BE3-8208-8427-ED72598EDB74}"/>
              </a:ext>
            </a:extLst>
          </p:cNvPr>
          <p:cNvSpPr txBox="1"/>
          <p:nvPr/>
        </p:nvSpPr>
        <p:spPr>
          <a:xfrm>
            <a:off x="889000" y="3556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059669"/>
                </a:solidFill>
                <a:latin typeface="Microsoft YaHei" panose="020B0503020204020204" pitchFamily="34" charset="-122"/>
              </a:rPr>
              <a:t>IoU = (TP + epsilon) / (TP + FP + FN + epsilon)</a:t>
            </a:r>
            <a:endParaRPr lang="zh-CN" altLang="en-US" sz="20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4378D3-2B0A-42A7-C693-535F509B879F}"/>
              </a:ext>
            </a:extLst>
          </p:cNvPr>
          <p:cNvSpPr txBox="1"/>
          <p:nvPr/>
        </p:nvSpPr>
        <p:spPr>
          <a:xfrm>
            <a:off x="889000" y="4191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059669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059669"/>
                </a:solidFill>
                <a:latin typeface="Microsoft YaHei" panose="020B0503020204020204" pitchFamily="34" charset="-122"/>
              </a:rPr>
              <a:t>IoU = |M_hat ∩ M| / |M_hat ∪ M|</a:t>
            </a:r>
            <a:endParaRPr lang="zh-CN" altLang="en-US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539DE3-BC58-6F7F-BD06-5EF2BC42BC9E}"/>
              </a:ext>
            </a:extLst>
          </p:cNvPr>
          <p:cNvSpPr txBox="1"/>
          <p:nvPr/>
        </p:nvSpPr>
        <p:spPr>
          <a:xfrm>
            <a:off x="1016000" y="533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对重叠比较友好；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分母是并集，因此同样错误下通常比 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更低、更严格。</a:t>
            </a:r>
          </a:p>
        </p:txBody>
      </p:sp>
    </p:spTree>
    <p:extLst>
      <p:ext uri="{BB962C8B-B14F-4D97-AF65-F5344CB8AC3E}">
        <p14:creationId xmlns:p14="http://schemas.microsoft.com/office/powerpoint/2010/main" val="4242825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C47C747-DF86-675C-A6EF-F40E3651BC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54469A-D510-6546-0F92-DD2B9EBF0C5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5CDA0C-624C-9CA2-14CD-C87863E4209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17 Precision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814C6E-E2AC-62C5-09C9-F72A5E24515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误检和漏检怎么算？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A42AD1-A818-AA73-4893-4313A87959E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这两个指标对应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两类错误。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01485A-FA6E-D2D9-6393-BB0D18FE3A15}"/>
              </a:ext>
            </a:extLst>
          </p:cNvPr>
          <p:cNvSpPr txBox="1"/>
          <p:nvPr/>
        </p:nvSpPr>
        <p:spPr>
          <a:xfrm>
            <a:off x="889000" y="2032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97706"/>
                </a:solidFill>
                <a:latin typeface="Microsoft YaHei" panose="020B0503020204020204" pitchFamily="34" charset="-122"/>
              </a:rPr>
              <a:t>Precision = (TP + epsilon) / (TP + FP + epsilon)</a:t>
            </a:r>
            <a:endParaRPr lang="zh-CN" altLang="en-US" sz="20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62A4F3C-66BC-D797-ECC6-BED53F296D32}"/>
              </a:ext>
            </a:extLst>
          </p:cNvPr>
          <p:cNvSpPr txBox="1"/>
          <p:nvPr/>
        </p:nvSpPr>
        <p:spPr>
          <a:xfrm>
            <a:off x="1079500" y="2692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含义：模型说是感染的像素中，有多少是真的感染。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误检多。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DCDAC4-2E52-1CB4-9F3D-5BFB2BDF1522}"/>
              </a:ext>
            </a:extLst>
          </p:cNvPr>
          <p:cNvSpPr txBox="1"/>
          <p:nvPr/>
        </p:nvSpPr>
        <p:spPr>
          <a:xfrm>
            <a:off x="889000" y="3810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C2626"/>
                </a:solidFill>
                <a:latin typeface="Microsoft YaHei" panose="020B0503020204020204" pitchFamily="34" charset="-122"/>
              </a:rPr>
              <a:t>Recall = (TP + epsilon) / (TP + FN + epsilon)</a:t>
            </a:r>
            <a:endParaRPr lang="zh-CN" altLang="en-US" sz="20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489BD5-F90A-72E8-BE8F-747954A98347}"/>
              </a:ext>
            </a:extLst>
          </p:cNvPr>
          <p:cNvSpPr txBox="1"/>
          <p:nvPr/>
        </p:nvSpPr>
        <p:spPr>
          <a:xfrm>
            <a:off x="1079500" y="447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含义：真实感染像素中，有多少被模型找出来。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漏检多。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B34160-46D8-6FC6-F6B2-3F0CE752FB07}"/>
              </a:ext>
            </a:extLst>
          </p:cNvPr>
          <p:cNvSpPr txBox="1"/>
          <p:nvPr/>
        </p:nvSpPr>
        <p:spPr>
          <a:xfrm>
            <a:off x="1016000" y="5461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为什么低分专家要分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/ recall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：过分割主要看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，漏分割主要看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，优化方向相反。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3798631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1771B2E-B853-99CB-D106-AE1456F4C6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40D27A-B522-52EB-7A00-2E4BD9CF551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FE101EF-B1AE-DF4E-FE7F-951A512847B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损失函数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05E7FE-7ED4-21FE-8ADE-A4956F17B0E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训练时模型靠什么学习？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085E890-B573-69D0-7D6B-93DA527F4D6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Dice/Focal/Tversky/Boundary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等损失组合处理类别不平衡和困难边界。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CF1CB2-EB2C-3FDC-78B1-31DDCB696AB9}"/>
              </a:ext>
            </a:extLst>
          </p:cNvPr>
          <p:cNvSpPr txBox="1"/>
          <p:nvPr/>
        </p:nvSpPr>
        <p:spPr>
          <a:xfrm>
            <a:off x="762000" y="1841500"/>
            <a:ext cx="1079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Soft Dice Loss = 1 - (2 ×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Σ(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× M) + epsilon) / (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+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M + epsilon)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03FF062-AE8A-1701-52C7-56B16DBC19D5}"/>
              </a:ext>
            </a:extLst>
          </p:cNvPr>
          <p:cNvSpPr txBox="1"/>
          <p:nvPr/>
        </p:nvSpPr>
        <p:spPr>
          <a:xfrm>
            <a:off x="762000" y="2603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Focal Loss</a:t>
            </a:r>
            <a:r>
              <a:rPr lang="zh-CN" altLang="en-US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：降低易分类背景像素权重，让模型更关注难分像素。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0B3B44-94C9-297B-D82E-431E9442AB3A}"/>
              </a:ext>
            </a:extLst>
          </p:cNvPr>
          <p:cNvSpPr txBox="1"/>
          <p:nvPr/>
        </p:nvSpPr>
        <p:spPr>
          <a:xfrm>
            <a:off x="762000" y="3365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Tversky Loss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：通过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beta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调整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的惩罚强度。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94ACF0-D282-903A-76A2-B4EA786E01A7}"/>
              </a:ext>
            </a:extLst>
          </p:cNvPr>
          <p:cNvSpPr txBox="1"/>
          <p:nvPr/>
        </p:nvSpPr>
        <p:spPr>
          <a:xfrm>
            <a:off x="762000" y="4127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Boundary Loss</a:t>
            </a:r>
            <a:r>
              <a:rPr lang="zh-CN" altLang="en-US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：对边界带区域加权，缓解病灶边缘模糊导致的偏移。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C63EAE-950F-AECC-374F-DC1321F89846}"/>
              </a:ext>
            </a:extLst>
          </p:cNvPr>
          <p:cNvSpPr txBox="1"/>
          <p:nvPr/>
        </p:nvSpPr>
        <p:spPr>
          <a:xfrm>
            <a:off x="952500" y="5334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本项目不同专家使用不同损失倾向：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专家更重视边界。</a:t>
            </a:r>
          </a:p>
        </p:txBody>
      </p:sp>
    </p:spTree>
    <p:extLst>
      <p:ext uri="{BB962C8B-B14F-4D97-AF65-F5344CB8AC3E}">
        <p14:creationId xmlns:p14="http://schemas.microsoft.com/office/powerpoint/2010/main" val="1839974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7553EC-CAAD-5AC5-5658-F330FE5FF7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464AFE3-B089-BF46-9245-19DF162E56B8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76CF78-ED3B-566A-7EA4-7EA4029B3F4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论文结果表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1A8AF18-A56A-3E28-9A8F-340878B01E0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论文里的最终结果表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306ACB-0A65-533C-3F07-BE7ECFF622A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公式讲完后再看结果表，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的含义更清楚。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17D4C0A-0E90-4DCB-C97B-F4238C0F36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461978"/>
              </p:ext>
            </p:extLst>
          </p:nvPr>
        </p:nvGraphicFramePr>
        <p:xfrm>
          <a:off x="698500" y="1714500"/>
          <a:ext cx="1079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809012076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65638135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4166568486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830672945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84292105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IoU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7515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0.7755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0.6708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0.8344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7964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0.6722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0.7640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0.8542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15549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概率级融合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0.6851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0.7831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0.8482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2109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0.6691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0.7894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20624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0.6792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0.7948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81936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多专家门控（最终）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0.6893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0.7988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0.8303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4455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Oracle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上限（分析）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0.8129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84042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E8E28A8B-F1E6-C63F-C37D-EAF18CCD9D5B}"/>
              </a:ext>
            </a:extLst>
          </p:cNvPr>
          <p:cNvSpPr txBox="1"/>
          <p:nvPr/>
        </p:nvSpPr>
        <p:spPr>
          <a:xfrm>
            <a:off x="889000" y="58166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写论文和答辩时：最终可部署结果写 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多专家门控；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只作为专家池潜力分析，不当作真实部署成绩。</a:t>
            </a:r>
          </a:p>
        </p:txBody>
      </p:sp>
    </p:spTree>
    <p:extLst>
      <p:ext uri="{BB962C8B-B14F-4D97-AF65-F5344CB8AC3E}">
        <p14:creationId xmlns:p14="http://schemas.microsoft.com/office/powerpoint/2010/main" val="2738832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73A209F-48B5-4FD3-75ED-4B27E94BB23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592E3B-8289-467C-5571-B85F1335656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D62FDE7-64E8-6AB4-0568-4F58E3C727A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全测试集结果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C6FE681-1439-E8CB-0BDC-CFF86361D7F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最终结果提升多少？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C37048A-F4CF-9E88-B71E-CC7656C0333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是当前最终版。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9037915-1EF7-0CFC-A7A5-9DDC3CA86D8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AAD9587B-91E6-2AE7-F9F0-F0C9D7B18FD6}"/>
              </a:ext>
            </a:extLst>
          </p:cNvPr>
          <p:cNvSpPr/>
          <p:nvPr/>
        </p:nvSpPr>
        <p:spPr>
          <a:xfrm>
            <a:off x="7874000" y="1752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119C8D0-BE20-D165-797C-D7BCEE86B42D}"/>
              </a:ext>
            </a:extLst>
          </p:cNvPr>
          <p:cNvSpPr txBox="1"/>
          <p:nvPr/>
        </p:nvSpPr>
        <p:spPr>
          <a:xfrm>
            <a:off x="8051800" y="1892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60A065D-E018-15E7-279B-81ADDAC10D8F}"/>
              </a:ext>
            </a:extLst>
          </p:cNvPr>
          <p:cNvSpPr txBox="1"/>
          <p:nvPr/>
        </p:nvSpPr>
        <p:spPr>
          <a:xfrm>
            <a:off x="8051800" y="2146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14DF35-1145-435C-5250-5FEAAEF0FAB2}"/>
              </a:ext>
            </a:extLst>
          </p:cNvPr>
          <p:cNvSpPr txBox="1"/>
          <p:nvPr/>
        </p:nvSpPr>
        <p:spPr>
          <a:xfrm>
            <a:off x="8051800" y="2616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16D26F4-C609-C62E-4F9E-B2CEB31BB9F0}"/>
              </a:ext>
            </a:extLst>
          </p:cNvPr>
          <p:cNvSpPr/>
          <p:nvPr/>
        </p:nvSpPr>
        <p:spPr>
          <a:xfrm>
            <a:off x="7874000" y="3276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649E3E6-C809-B274-7368-692B90C842AA}"/>
              </a:ext>
            </a:extLst>
          </p:cNvPr>
          <p:cNvSpPr txBox="1"/>
          <p:nvPr/>
        </p:nvSpPr>
        <p:spPr>
          <a:xfrm>
            <a:off x="8051800" y="3416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FBFA78B-ED50-2D59-2F45-46C17631FE7C}"/>
              </a:ext>
            </a:extLst>
          </p:cNvPr>
          <p:cNvSpPr txBox="1"/>
          <p:nvPr/>
        </p:nvSpPr>
        <p:spPr>
          <a:xfrm>
            <a:off x="8051800" y="3670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2B471DD-B246-B3BA-7666-9277BFD69A18}"/>
              </a:ext>
            </a:extLst>
          </p:cNvPr>
          <p:cNvSpPr txBox="1"/>
          <p:nvPr/>
        </p:nvSpPr>
        <p:spPr>
          <a:xfrm>
            <a:off x="8051800" y="4140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88FFDD-9CA6-7807-967D-74AFA98D0DC2}"/>
              </a:ext>
            </a:extLst>
          </p:cNvPr>
          <p:cNvSpPr/>
          <p:nvPr/>
        </p:nvSpPr>
        <p:spPr>
          <a:xfrm>
            <a:off x="7874000" y="4800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6C4E02F-FA16-15DF-4C00-349554562230}"/>
              </a:ext>
            </a:extLst>
          </p:cNvPr>
          <p:cNvSpPr txBox="1"/>
          <p:nvPr/>
        </p:nvSpPr>
        <p:spPr>
          <a:xfrm>
            <a:off x="8051800" y="4940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DC0943F-4710-26AB-6585-EBCA5268C304}"/>
              </a:ext>
            </a:extLst>
          </p:cNvPr>
          <p:cNvSpPr txBox="1"/>
          <p:nvPr/>
        </p:nvSpPr>
        <p:spPr>
          <a:xfrm>
            <a:off x="8051800" y="5194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B85B681-8D56-F360-996A-54EE1464224F}"/>
              </a:ext>
            </a:extLst>
          </p:cNvPr>
          <p:cNvSpPr txBox="1"/>
          <p:nvPr/>
        </p:nvSpPr>
        <p:spPr>
          <a:xfrm>
            <a:off x="8051800" y="5664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42731246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D09AF4-BA57-A32D-F3B8-7676A4C632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A976DC8-1FEB-8EBD-9FB0-912452A9774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8BBD4C9-8671-8B4E-4B6A-9C851601CD1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319A7A7-3151-DE27-205F-BB55E3D1AA1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低分样本是本轮优化重点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7390CF-D5A8-B085-7C83-BA61896395A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平均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0.5319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D99EAB3-1852-29D0-2B7F-3F6394DFED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01973"/>
              </p:ext>
            </p:extLst>
          </p:nvPr>
        </p:nvGraphicFramePr>
        <p:xfrm>
          <a:off x="825500" y="1714500"/>
          <a:ext cx="1054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3114783214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141697579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196071124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4602648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91492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89608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45534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22135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424047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374712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BA68DA5-C80F-CD8B-3A89-FA42A006E379}"/>
              </a:ext>
            </a:extLst>
          </p:cNvPr>
          <p:cNvSpPr txBox="1"/>
          <p:nvPr/>
        </p:nvSpPr>
        <p:spPr>
          <a:xfrm>
            <a:off x="952500" y="55245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上限不是可部署策略，只用于说明专家池还有潜力；真实部署还需要无真值门控分类器。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595980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4C00A24-3219-8526-C433-60C515A4E4E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268F18-5B2B-72E1-658B-151053FCE9F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1762D8-B3E2-51B5-A309-720BDD01E5E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7D223C-0CF5-99C2-900B-69C1A605A53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样本：预测和真值基本重合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E1F7A4-9642-80C4-458D-F5664F8BB52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重点看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Error Map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，判断模型是否真正覆盖病灶。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5D4DE5-EFDE-D71B-FB5C-19E4631674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0D01079-68C4-279A-FDF5-FBA20B19E357}"/>
              </a:ext>
            </a:extLst>
          </p:cNvPr>
          <p:cNvSpPr txBox="1"/>
          <p:nvPr/>
        </p:nvSpPr>
        <p:spPr>
          <a:xfrm>
            <a:off x="736600" y="4953000"/>
            <a:ext cx="1524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颜色含义：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C50858-FEA0-C091-5CEE-F3BB1E45E578}"/>
              </a:ext>
            </a:extLst>
          </p:cNvPr>
          <p:cNvSpPr/>
          <p:nvPr/>
        </p:nvSpPr>
        <p:spPr>
          <a:xfrm>
            <a:off x="762000" y="5384800"/>
            <a:ext cx="203200" cy="203200"/>
          </a:xfrm>
          <a:prstGeom prst="rect">
            <a:avLst/>
          </a:prstGeom>
          <a:solidFill>
            <a:srgbClr val="EF444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313F804-0E9B-6640-46D9-8B52DE52ABC5}"/>
              </a:ext>
            </a:extLst>
          </p:cNvPr>
          <p:cNvSpPr txBox="1"/>
          <p:nvPr/>
        </p:nvSpPr>
        <p:spPr>
          <a:xfrm>
            <a:off x="105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红色填充：预测感染区域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C7EA979-615E-AA51-7B14-966E7B7272ED}"/>
              </a:ext>
            </a:extLst>
          </p:cNvPr>
          <p:cNvSpPr/>
          <p:nvPr/>
        </p:nvSpPr>
        <p:spPr>
          <a:xfrm>
            <a:off x="4572000" y="5384800"/>
            <a:ext cx="203200" cy="203200"/>
          </a:xfrm>
          <a:prstGeom prst="rect">
            <a:avLst/>
          </a:prstGeom>
          <a:solidFill>
            <a:srgbClr val="EAB30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910CBD0-E035-799D-1A44-CAE61E80DB97}"/>
              </a:ext>
            </a:extLst>
          </p:cNvPr>
          <p:cNvSpPr txBox="1"/>
          <p:nvPr/>
        </p:nvSpPr>
        <p:spPr>
          <a:xfrm>
            <a:off x="486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黄色轮廓：真实标注 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B80222-408E-E192-3AB5-AECFA67395EA}"/>
              </a:ext>
            </a:extLst>
          </p:cNvPr>
          <p:cNvSpPr/>
          <p:nvPr/>
        </p:nvSpPr>
        <p:spPr>
          <a:xfrm>
            <a:off x="8382000" y="5384800"/>
            <a:ext cx="203200" cy="203200"/>
          </a:xfrm>
          <a:prstGeom prst="rect">
            <a:avLst/>
          </a:prstGeom>
          <a:solidFill>
            <a:srgbClr val="06B6D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F4CDE18-D424-0040-A9FA-03C7D4AB1EBC}"/>
              </a:ext>
            </a:extLst>
          </p:cNvPr>
          <p:cNvSpPr txBox="1"/>
          <p:nvPr/>
        </p:nvSpPr>
        <p:spPr>
          <a:xfrm>
            <a:off x="8674100" y="53340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青色轮廓：预测边界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778AF6-74F9-1DF5-608B-681AF11B8561}"/>
              </a:ext>
            </a:extLst>
          </p:cNvPr>
          <p:cNvSpPr/>
          <p:nvPr/>
        </p:nvSpPr>
        <p:spPr>
          <a:xfrm>
            <a:off x="762000" y="5842000"/>
            <a:ext cx="203200" cy="203200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A8A4698-E0AB-6817-8AF0-4ABBA0119BAB}"/>
              </a:ext>
            </a:extLst>
          </p:cNvPr>
          <p:cNvSpPr txBox="1"/>
          <p:nvPr/>
        </p:nvSpPr>
        <p:spPr>
          <a:xfrm>
            <a:off x="105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，预测正确重叠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94C385-DC72-0FF7-C186-E3D48F186339}"/>
              </a:ext>
            </a:extLst>
          </p:cNvPr>
          <p:cNvSpPr/>
          <p:nvPr/>
        </p:nvSpPr>
        <p:spPr>
          <a:xfrm>
            <a:off x="4572000" y="5842000"/>
            <a:ext cx="203200" cy="203200"/>
          </a:xfrm>
          <a:prstGeom prst="rect">
            <a:avLst/>
          </a:prstGeom>
          <a:solidFill>
            <a:srgbClr val="22C55E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766F45F-006B-BDA9-5638-6D37CB1C9F12}"/>
              </a:ext>
            </a:extLst>
          </p:cNvPr>
          <p:cNvSpPr txBox="1"/>
          <p:nvPr/>
        </p:nvSpPr>
        <p:spPr>
          <a:xfrm>
            <a:off x="486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绿色：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，真实有但漏检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892454-1141-C8F1-AD74-824CA2C8C3C5}"/>
              </a:ext>
            </a:extLst>
          </p:cNvPr>
          <p:cNvSpPr/>
          <p:nvPr/>
        </p:nvSpPr>
        <p:spPr>
          <a:xfrm>
            <a:off x="8382000" y="5842000"/>
            <a:ext cx="203200" cy="203200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3D5CD0-3719-172F-6C08-0345B08ABC3B}"/>
              </a:ext>
            </a:extLst>
          </p:cNvPr>
          <p:cNvSpPr txBox="1"/>
          <p:nvPr/>
        </p:nvSpPr>
        <p:spPr>
          <a:xfrm>
            <a:off x="8674100" y="57912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蓝色：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，模型误检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B7B963-164C-9512-DC2D-70A21FCD979B}"/>
              </a:ext>
            </a:extLst>
          </p:cNvPr>
          <p:cNvSpPr txBox="1"/>
          <p:nvPr/>
        </p:nvSpPr>
        <p:spPr>
          <a:xfrm>
            <a:off x="952500" y="6375400"/>
            <a:ext cx="10287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的图像通常红色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占主导，黄色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边界和青色预测边界贴合，说明模型定位和形状都比较准确。</a:t>
            </a:r>
          </a:p>
        </p:txBody>
      </p:sp>
    </p:spTree>
    <p:extLst>
      <p:ext uri="{BB962C8B-B14F-4D97-AF65-F5344CB8AC3E}">
        <p14:creationId xmlns:p14="http://schemas.microsoft.com/office/powerpoint/2010/main" val="3470368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1EFEC9B-A85E-8B7B-A801-09E9835315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E69F0F-A49E-B1ED-712F-707D7AC64D3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B8670D7-8BC1-C90C-30F6-DDFAABB76AC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BF1ED4-CF29-6A81-7369-DB31C9476F2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样本：看漏检、误检和边界错位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762D8EB-1BDF-6B07-DA6F-F9C9F91DCF6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低分样本是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专家池和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的主要优化对象。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5E07DD2-FA7C-B7F4-D67F-E63C726536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524000"/>
            <a:ext cx="10541000" cy="3175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AAE0C552-D198-0FF5-F49F-D4858D218BCE}"/>
              </a:ext>
            </a:extLst>
          </p:cNvPr>
          <p:cNvSpPr/>
          <p:nvPr/>
        </p:nvSpPr>
        <p:spPr>
          <a:xfrm>
            <a:off x="889000" y="4978400"/>
            <a:ext cx="3175000" cy="9906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B982EF1-4980-ABA1-57A0-8C493184AF4B}"/>
              </a:ext>
            </a:extLst>
          </p:cNvPr>
          <p:cNvSpPr txBox="1"/>
          <p:nvPr/>
        </p:nvSpPr>
        <p:spPr>
          <a:xfrm>
            <a:off x="1066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绿色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A0AB1FC-3E56-C697-AC20-7C02932E1DA9}"/>
              </a:ext>
            </a:extLst>
          </p:cNvPr>
          <p:cNvSpPr txBox="1"/>
          <p:nvPr/>
        </p:nvSpPr>
        <p:spPr>
          <a:xfrm>
            <a:off x="10668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真实有感染但模型没分出来，说明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 / actual_fn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BECD9B8-3095-E665-BC7E-9764067F96C8}"/>
              </a:ext>
            </a:extLst>
          </p:cNvPr>
          <p:cNvSpPr/>
          <p:nvPr/>
        </p:nvSpPr>
        <p:spPr>
          <a:xfrm>
            <a:off x="4508500" y="4978400"/>
            <a:ext cx="3175000" cy="9906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2FACC52-8EFD-E352-0218-E45EB2F4561B}"/>
              </a:ext>
            </a:extLst>
          </p:cNvPr>
          <p:cNvSpPr txBox="1"/>
          <p:nvPr/>
        </p:nvSpPr>
        <p:spPr>
          <a:xfrm>
            <a:off x="46863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蓝色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F7D4C7-FE66-41BD-9390-0FD8802D6CDA}"/>
              </a:ext>
            </a:extLst>
          </p:cNvPr>
          <p:cNvSpPr txBox="1"/>
          <p:nvPr/>
        </p:nvSpPr>
        <p:spPr>
          <a:xfrm>
            <a:off x="4686300" y="55499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模型把背景误分为感染，说明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不足，优先考虑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 / actual_fp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3BBDFD-E5E8-A33C-6FC3-7D1336CF2358}"/>
              </a:ext>
            </a:extLst>
          </p:cNvPr>
          <p:cNvSpPr/>
          <p:nvPr/>
        </p:nvSpPr>
        <p:spPr>
          <a:xfrm>
            <a:off x="8128000" y="4978400"/>
            <a:ext cx="3175000" cy="9906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8AD2F2C-D39B-EAFB-1BF7-563506CA67CF}"/>
              </a:ext>
            </a:extLst>
          </p:cNvPr>
          <p:cNvSpPr txBox="1"/>
          <p:nvPr/>
        </p:nvSpPr>
        <p:spPr>
          <a:xfrm>
            <a:off x="8305800" y="51308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轮廓整体错位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F352BB2-7978-A311-3575-4A6A3685B1DA}"/>
              </a:ext>
            </a:extLst>
          </p:cNvPr>
          <p:cNvSpPr txBox="1"/>
          <p:nvPr/>
        </p:nvSpPr>
        <p:spPr>
          <a:xfrm>
            <a:off x="8305800" y="5549900"/>
            <a:ext cx="2819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位置大体接近但边界偏移时，优先保留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basev18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或使用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类专家。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D208F44-F498-A831-0E87-DB8EF55889D7}"/>
              </a:ext>
            </a:extLst>
          </p:cNvPr>
          <p:cNvSpPr txBox="1"/>
          <p:nvPr/>
        </p:nvSpPr>
        <p:spPr>
          <a:xfrm>
            <a:off x="952500" y="62484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颜色直接对应错误来源：红色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TP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是对的，绿色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是漏检，蓝色 </a:t>
            </a:r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是误检；最终门控就是按这些错误类型选择专家。</a:t>
            </a:r>
          </a:p>
        </p:txBody>
      </p:sp>
    </p:spTree>
    <p:extLst>
      <p:ext uri="{BB962C8B-B14F-4D97-AF65-F5344CB8AC3E}">
        <p14:creationId xmlns:p14="http://schemas.microsoft.com/office/powerpoint/2010/main" val="1373179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A9A1D63-DD84-0828-0244-D6CB6CB54A5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501F45-F7DF-6802-F7F0-37B9BFBC09B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78ECB6-25E3-37E9-953B-45B16A9370E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结果图怎么读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60F827-DD09-FF48-29C2-E9AE9723F0A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一行结果图的阅读顺序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3BA233-3BC4-FEC3-EEB5-9EFEC9C2712F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从左到右判断模型是否分对。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A5B0CCC-D1E6-829E-F17F-4E77D775283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317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49A7CCE-E454-2420-6ADC-BBD8561D95D0}"/>
              </a:ext>
            </a:extLst>
          </p:cNvPr>
          <p:cNvSpPr txBox="1"/>
          <p:nvPr/>
        </p:nvSpPr>
        <p:spPr>
          <a:xfrm>
            <a:off x="952500" y="52705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：原始胸片；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Ground Truth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：人工标注；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Prediction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：模型二值结果；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：预测叠加；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：红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、绿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、蓝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560903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858C441-2832-E4B2-64E8-6B0F9853DA1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14E8DA-3FB2-794C-6966-C5DDFC79872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390C9F-76C0-7DC3-5743-4C36369C7F86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25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CB489A-F66C-6AE6-8749-F0B03F40EEE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网页端功能怎么展示？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7F3241-F85F-6167-A2CB-A54CBCE4D84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本地服务打开后即可上传胸片查看结果。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11921C4-E9A3-B41D-F41D-D0BC6843E2AD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869FA7C-C713-89E9-76F5-55298D5E3368}"/>
              </a:ext>
            </a:extLst>
          </p:cNvPr>
          <p:cNvSpPr txBox="1"/>
          <p:nvPr/>
        </p:nvSpPr>
        <p:spPr>
          <a:xfrm>
            <a:off x="10033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1D3E5F-BBC6-DACB-B537-68D13BEFDB64}"/>
              </a:ext>
            </a:extLst>
          </p:cNvPr>
          <p:cNvSpPr txBox="1"/>
          <p:nvPr/>
        </p:nvSpPr>
        <p:spPr>
          <a:xfrm>
            <a:off x="10033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32DCE37-EB8E-A103-FE07-52325DE27314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1FD551-A047-D124-C186-A3A05D9B89C2}"/>
              </a:ext>
            </a:extLst>
          </p:cNvPr>
          <p:cNvSpPr txBox="1"/>
          <p:nvPr/>
        </p:nvSpPr>
        <p:spPr>
          <a:xfrm>
            <a:off x="47117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603EBB-A1F1-4791-50A7-CD729E2D167B}"/>
              </a:ext>
            </a:extLst>
          </p:cNvPr>
          <p:cNvSpPr txBox="1"/>
          <p:nvPr/>
        </p:nvSpPr>
        <p:spPr>
          <a:xfrm>
            <a:off x="4711700" y="2413000"/>
            <a:ext cx="27559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94C92A7-D9DB-FB84-5E7F-DBC1A2366894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6ED3580-BD59-8C79-13D1-3435DF003981}"/>
              </a:ext>
            </a:extLst>
          </p:cNvPr>
          <p:cNvSpPr txBox="1"/>
          <p:nvPr/>
        </p:nvSpPr>
        <p:spPr>
          <a:xfrm>
            <a:off x="84328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18592E-8EA9-44C3-F9C8-2FB180F8D413}"/>
              </a:ext>
            </a:extLst>
          </p:cNvPr>
          <p:cNvSpPr txBox="1"/>
          <p:nvPr/>
        </p:nvSpPr>
        <p:spPr>
          <a:xfrm>
            <a:off x="84328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76BFE4F-8BAD-EF9C-670D-F4E72896380D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728849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A85342B-8955-C06E-6C90-AFBD7F3C1E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A339C12-4FE7-E3A5-564F-C60E408DA2F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A64EF3-BBA2-28B2-F8EE-0543D45045E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ADBF24-3A71-9304-65AD-4B0A16331A3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LowDiceRefineNet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：为什么适合低分样本？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F7FEBE-951F-1122-0A24-479DE2877C7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加入边缘、局部对比和坐标先验。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7007C1-9555-9D7C-2196-788B36556C15}"/>
              </a:ext>
            </a:extLst>
          </p:cNvPr>
          <p:cNvSpPr/>
          <p:nvPr/>
        </p:nvSpPr>
        <p:spPr>
          <a:xfrm>
            <a:off x="533400" y="1676400"/>
            <a:ext cx="11112500" cy="4191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A010375-0185-1622-3AD6-9A42DE1B7582}"/>
              </a:ext>
            </a:extLst>
          </p:cNvPr>
          <p:cNvSpPr txBox="1"/>
          <p:nvPr/>
        </p:nvSpPr>
        <p:spPr>
          <a:xfrm>
            <a:off x="711200" y="1828800"/>
            <a:ext cx="107569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低分专家不是普通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U-Net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复训，而是显式加入先验通道。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class _LowDicePrior(nn.Module):
    def forward(self, x):
        gray = x[:, :1]
        low  = avg_pool(gray, kernel=9)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低频结构，保留肺野整体亮度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high = abs(gray - low)         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高频纹理，突出感染细碎纹理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edge = sqrt(sobel_x(gray)^2 + sobel_y(gray)^2)
        lap  = abs(laplace(gray))      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边界响应，辅助模糊病灶边缘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xx, yy = normalized_coord(gray.shape)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坐标先验，减少左右肺错位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return concat([gray, low, high, edge, lap, xx, yy])
class LowDiceRefineNet2D(nn.Module):
    def forward(self, x):
        prior = self.prior(x)
        x0 = self.stem(concat([x, prior]))
        feat = self.encoder(x0)
        feat = self.aspp(feat)             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多尺度上下文
    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d1 = self.decoder(feat)
        d1 = self.local_refine(concat([d1, prior]))
        return {"seg": self.seg_head(d1)}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D70008-F00B-FCCB-8691-2DFE24B89084}"/>
              </a:ext>
            </a:extLst>
          </p:cNvPr>
          <p:cNvSpPr txBox="1"/>
          <p:nvPr/>
        </p:nvSpPr>
        <p:spPr>
          <a:xfrm>
            <a:off x="952500" y="6057900"/>
            <a:ext cx="1028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NAG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批注：这一页强调创新点来自低分样本先验增强，不是简单换一个分割网络。</a:t>
            </a:r>
          </a:p>
        </p:txBody>
      </p:sp>
    </p:spTree>
    <p:extLst>
      <p:ext uri="{BB962C8B-B14F-4D97-AF65-F5344CB8AC3E}">
        <p14:creationId xmlns:p14="http://schemas.microsoft.com/office/powerpoint/2010/main" val="2522043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154169-9F4C-0BD5-CFE9-18B5D4DE04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D890FD-B8E5-FE4A-09E2-6AE4763916C6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1CE49AC-417C-5545-E111-CD36462FBC5D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02EF19E-878E-B9A8-3F93-71C21120339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门控路由代码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AF5387-274A-0F17-4793-08B185AD9AF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最终策略的核心是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gate_choice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0FDD707-1DF0-866A-115B-2F6532823556}"/>
              </a:ext>
            </a:extLst>
          </p:cNvPr>
          <p:cNvSpPr/>
          <p:nvPr/>
        </p:nvSpPr>
        <p:spPr>
          <a:xfrm>
            <a:off x="533400" y="1676400"/>
            <a:ext cx="11112500" cy="4191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DCBF2DA-552A-9E13-376F-95BAC84AAA2B}"/>
              </a:ext>
            </a:extLst>
          </p:cNvPr>
          <p:cNvSpPr txBox="1"/>
          <p:nvPr/>
        </p:nvSpPr>
        <p:spPr>
          <a:xfrm>
            <a:off x="711200" y="1828800"/>
            <a:ext cx="10756900" cy="30008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门控不是平均融合，而是按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v18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错误类型选择最合适专家。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def gate_choice(failure_type, available):
    routing = {
        "over_segmented_fp": ("actual_fp", "actual_all", "precision", "broad"),
        "wrong_location_no_overlap": ("actual_boundary", "precision", "actual_all", "broad"),
        "under_segmented_fn": ("actual_fn", "boundary", "recall", "broad"),
        "mostly_missed_fn": ("recall", "actual_fn", "boundary", "broad"),
        "missed_all": ("actual_all", "actual_fn", "broad", "recall"),
        "boundary_or_shift_error": ("basev18", "actual_all", "broad", "actual_boundary"),
    }.get(str(failure_type), ("broad",))
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同一错误类型给出候选顺序，保证专家缺失时还能回退。
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for preferred in routing:
        if preferred in available:
            return preferred
    return "basev18" if "basev18" in available else "broad"
def apply_gate(case, preds, failure_type):
    expert = gate_choice(failure_type, preds.keys())
    mask = postprocess(preds[expert])
    return expert, mask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D0456A-DE06-B9C9-424A-0CAC669DFBB2}"/>
              </a:ext>
            </a:extLst>
          </p:cNvPr>
          <p:cNvSpPr txBox="1"/>
          <p:nvPr/>
        </p:nvSpPr>
        <p:spPr>
          <a:xfrm>
            <a:off x="952500" y="60579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DC2626"/>
                </a:solidFill>
                <a:latin typeface="Microsoft YaHei" panose="020B0503020204020204" pitchFamily="34" charset="-122"/>
              </a:rPr>
              <a:t>NAG </a:t>
            </a:r>
            <a:r>
              <a:rPr lang="zh-CN" altLang="en-US" sz="1300" b="1">
                <a:solidFill>
                  <a:srgbClr val="DC2626"/>
                </a:solidFill>
                <a:latin typeface="Microsoft YaHei" panose="020B0503020204020204" pitchFamily="34" charset="-122"/>
              </a:rPr>
              <a:t>批注：论文里可写成「错误类型感知的多专家门控策略」；当前离线评估用真实错误类型，后续可接无真值门控分类器。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593669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981FD8-3C5C-3D79-FAA8-A6D38AEB95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41C964-B0CD-D7F5-0907-D44FA9BAA27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3A633F-AD37-2C0B-B2FF-E0208BC9D8E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5DFE18-7C74-5E6F-095A-C0059A8737E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推理后处理与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Overlay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C7952D-6355-B90D-F12E-69D94E9F4FB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这部分决定网页端展示出来的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Mask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和红色叠加图。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26A50D-86C0-FE2B-81DC-C501D0700941}"/>
              </a:ext>
            </a:extLst>
          </p:cNvPr>
          <p:cNvSpPr/>
          <p:nvPr/>
        </p:nvSpPr>
        <p:spPr>
          <a:xfrm>
            <a:off x="533400" y="1676400"/>
            <a:ext cx="11112500" cy="4191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AD5CEA-7CE2-D5B5-FECF-CC14D50109EB}"/>
              </a:ext>
            </a:extLst>
          </p:cNvPr>
          <p:cNvSpPr txBox="1"/>
          <p:nvPr/>
        </p:nvSpPr>
        <p:spPr>
          <a:xfrm>
            <a:off x="711200" y="1828800"/>
            <a:ext cx="10756900" cy="31393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后处理让网页端结果更稳定，过滤孤立噪声点。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def remove_small_components(mask, min_area):
    labels, stats = connectedComponentsWithStats(mask.astype(uint8))
    clean = zeros_like(mask)
    for i in range(1, labels.max() + 1):
        area = stats[i, CC_STAT_AREA]
        if area &gt;= min_area:
            clean[labels == i] = 1
    return clean
def build_overlay(image01, mask, alpha=0.35):
    image_u8 = normalize_to_uint8(image01)
    rgb = stack([image_u8, image_u8, image_u8], axis=-1)
    red = zeros_like(rgb)
    red[..., 0] = 255
    overlay = rgb * (1 - alpha * mask) + red * alpha * mask
    return overlay.astype(uint8)
# NAG: threshold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决定敏感度；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min_area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决定小噪声是否保留。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prob = model(image)
prob = tta_average(prob) if use_tta else prob
pred = remove_small_components(prob &gt; threshold, min_area)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5E489E-BFF0-CA9D-9515-7331CDC04477}"/>
              </a:ext>
            </a:extLst>
          </p:cNvPr>
          <p:cNvSpPr txBox="1"/>
          <p:nvPr/>
        </p:nvSpPr>
        <p:spPr>
          <a:xfrm>
            <a:off x="952500" y="6057900"/>
            <a:ext cx="1028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NAG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批注：这一页解释网页里 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和感染面积占比是怎么从概率图生成的。</a:t>
            </a:r>
          </a:p>
        </p:txBody>
      </p:sp>
    </p:spTree>
    <p:extLst>
      <p:ext uri="{BB962C8B-B14F-4D97-AF65-F5344CB8AC3E}">
        <p14:creationId xmlns:p14="http://schemas.microsoft.com/office/powerpoint/2010/main" val="5470331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F553AE-F63B-6AAD-E052-74CC871A86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1C8486-FBB5-7CDA-4E8F-5785C79BC29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458B23-37E1-45CF-B66E-F74AFF87548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3403CA-60F3-64C9-1739-033DC038C56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端调用流程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5644CF-19A7-BBA9-5E14-6396E9BA1F3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上传文件后，后端调用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V12Segmenter /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配置模型完成推理。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516AA0E-7306-37AB-41F9-D3F5BD39E5F1}"/>
              </a:ext>
            </a:extLst>
          </p:cNvPr>
          <p:cNvSpPr/>
          <p:nvPr/>
        </p:nvSpPr>
        <p:spPr>
          <a:xfrm>
            <a:off x="533400" y="1524000"/>
            <a:ext cx="11112500" cy="4445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A44120A-278E-647E-6944-EB22DFEEEC80}"/>
              </a:ext>
            </a:extLst>
          </p:cNvPr>
          <p:cNvSpPr txBox="1"/>
          <p:nvPr/>
        </p:nvSpPr>
        <p:spPr>
          <a:xfrm>
            <a:off x="711200" y="1676400"/>
            <a:ext cx="10756900" cy="32778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# NAG: Web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端把模型能力产品化，用户只需要上传胸片。
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@app.post("/api/predict")
async def predict(file, checkpoint, threshold=0.25, min_area=32):
    image_path = save_upload(file)
    cfg = resolve_config(checkpoint)
    result = segmenter.segment_file(
        image_path,
        checkpoint=cfg.ckpt,
        threshold=threshold,
        min_area=min_area,
        tta=cfg.tta,
    )
    # NAG: 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如果文件名能匹配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GT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，自动补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Dice/IoU/Precision/Recall</a:t>
            </a:r>
            <a:r>
              <a:rPr lang="zh-CN" altLang="en-US" sz="900">
                <a:solidFill>
                  <a:srgbClr val="E2E8F0"/>
                </a:solidFill>
                <a:latin typeface="Consolas" panose="020B0609020204030204" pitchFamily="49" charset="0"/>
              </a:rPr>
              <a:t>。
    </a:t>
            </a:r>
            <a:r>
              <a:rPr lang="en-US" altLang="zh-CN" sz="900">
                <a:solidFill>
                  <a:srgbClr val="E2E8F0"/>
                </a:solidFill>
                <a:latin typeface="Consolas" panose="020B0609020204030204" pitchFamily="49" charset="0"/>
              </a:rPr>
              <a:t>metrics = evaluate_if_gt_exists(image_path, result.mask)
    return {
        "original": url(result.original_png),
        "mask": url(result.mask_png),
        "overlay": url(result.overlay_png),
        "metrics": metrics,
        "save_dir": result.save_dir,
    }</a:t>
            </a:r>
            <a:endParaRPr lang="zh-CN" altLang="en-US" sz="9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83E65C-9F1C-F91C-73BE-5E1D7010DBA9}"/>
              </a:ext>
            </a:extLst>
          </p:cNvPr>
          <p:cNvSpPr txBox="1"/>
          <p:nvPr/>
        </p:nvSpPr>
        <p:spPr>
          <a:xfrm>
            <a:off x="952500" y="6159500"/>
            <a:ext cx="10287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NAG </a:t>
            </a:r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批注：这一页用于说明系统不仅有模型训练，还完成了可交互展示、结果保存和自动指标计算。</a:t>
            </a:r>
          </a:p>
        </p:txBody>
      </p:sp>
    </p:spTree>
    <p:extLst>
      <p:ext uri="{BB962C8B-B14F-4D97-AF65-F5344CB8AC3E}">
        <p14:creationId xmlns:p14="http://schemas.microsoft.com/office/powerpoint/2010/main" val="18914123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FF112A2-C751-4A03-AE53-714B6BFDB1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303181-D5D7-2737-17D7-DB3BE9AA48F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89AE728-E677-4CD7-B2AF-88847206BEA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2D4099C-D7FB-EDFB-0C7C-70D917136F7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项目最终结论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24CE13-A366-C78A-5B5F-E539A649F6F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从能分割，到能解释为什么提升。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A289F81-8034-8C26-10C0-A5BF7811C37F}"/>
              </a:ext>
            </a:extLst>
          </p:cNvPr>
          <p:cNvSpPr/>
          <p:nvPr/>
        </p:nvSpPr>
        <p:spPr>
          <a:xfrm>
            <a:off x="762000" y="1841500"/>
            <a:ext cx="3302000" cy="3111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124238C-7AAC-A8D1-CDBC-77CBD5600028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完成内容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1DAAD5-0FB1-3374-B366-E968ED1C6137}"/>
              </a:ext>
            </a:extLst>
          </p:cNvPr>
          <p:cNvSpPr txBox="1"/>
          <p:nvPr/>
        </p:nvSpPr>
        <p:spPr>
          <a:xfrm>
            <a:off x="939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胸片感染区域分割训练流程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可视化系统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低分样本错误分析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多专家模型池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4CACB51-2666-C9ED-3F86-D56D9720750F}"/>
              </a:ext>
            </a:extLst>
          </p:cNvPr>
          <p:cNvSpPr/>
          <p:nvPr/>
        </p:nvSpPr>
        <p:spPr>
          <a:xfrm>
            <a:off x="4445000" y="1841500"/>
            <a:ext cx="3302000" cy="3111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BE8B316-9F64-52F9-706D-B47FC9EEFBED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最终效果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3B30244-03B8-A2EB-16C8-A12C4D4BFE01}"/>
              </a:ext>
            </a:extLst>
          </p:cNvPr>
          <p:cNvSpPr txBox="1"/>
          <p:nvPr/>
        </p:nvSpPr>
        <p:spPr>
          <a:xfrm>
            <a:off x="4622800" y="2413000"/>
            <a:ext cx="2946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0.7959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低分子集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0.4033 → 0.5319
Oracle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EB36944B-541F-5B53-5D7C-80456361555A}"/>
              </a:ext>
            </a:extLst>
          </p:cNvPr>
          <p:cNvSpPr/>
          <p:nvPr/>
        </p:nvSpPr>
        <p:spPr>
          <a:xfrm>
            <a:off x="8128000" y="1841500"/>
            <a:ext cx="3302000" cy="3111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50EB9CB-1D6E-2F78-BD81-E86D1F0176F6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后续工作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076A64-2CAE-F07F-4543-B79F3D08B9F9}"/>
              </a:ext>
            </a:extLst>
          </p:cNvPr>
          <p:cNvSpPr txBox="1"/>
          <p:nvPr/>
        </p:nvSpPr>
        <p:spPr>
          <a:xfrm>
            <a:off x="8305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训练无真值门控分类器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
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增加外部数据验证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优化错位无重叠样本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350DE35-D2E0-C5D7-3D6F-D709C1E01AFA}"/>
              </a:ext>
            </a:extLst>
          </p:cNvPr>
          <p:cNvSpPr txBox="1"/>
          <p:nvPr/>
        </p:nvSpPr>
        <p:spPr>
          <a:xfrm>
            <a:off x="1270000" y="5461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</a:rPr>
              <a:t>答辩重点：不是简单堆模型，而是基于错误类型进行有针对性的专家化优化。</a:t>
            </a:r>
          </a:p>
        </p:txBody>
      </p:sp>
    </p:spTree>
    <p:extLst>
      <p:ext uri="{BB962C8B-B14F-4D97-AF65-F5344CB8AC3E}">
        <p14:creationId xmlns:p14="http://schemas.microsoft.com/office/powerpoint/2010/main" val="2779084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4346</Words>
  <Application>Microsoft Office PowerPoint</Application>
  <PresentationFormat>自定义</PresentationFormat>
  <Paragraphs>426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8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2026-05-20T09:59:52Z</dcterms:created>
  <dcterms:modified xsi:type="dcterms:W3CDTF">2026-05-20T09:59:52Z</dcterms:modified>
</cp:coreProperties>
</file>