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5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7E5BF-80F7-AA1D-7560-2936204A5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3D07F00-12CC-05C3-FD89-41E75DCDC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45949C-DFF2-6A41-FAD2-8DDC3D6DF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D843-A512-4A83-BE82-D399EEF318E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A1F043-75AA-CBEB-0882-5741A36D4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16B653-8BA7-3DEF-AD84-14009704B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82A-A9B6-4549-914C-ADE744503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2429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27F78A-46BC-A1E8-2FC9-84EA33C2B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A407ED-5F68-6903-614D-72A70F284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B59353-F6B4-0DF3-14A2-9FD30D094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D843-A512-4A83-BE82-D399EEF318E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8F7B3E-16D3-17C0-5916-4D937E96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C3BB3A-E6B8-55A6-CB45-A36B7F97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82A-A9B6-4549-914C-ADE744503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8D42DC-8AE8-6964-2CB8-112EE1C73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120CFB-1061-2B6B-1587-4B749E735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593459-4672-73E4-275C-2805AA72D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D843-A512-4A83-BE82-D399EEF318E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0F7908-4AA6-53F5-568C-E098131C8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517315-43D1-50BC-786E-E0F8E86AE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82A-A9B6-4549-914C-ADE744503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52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5526F-8289-E8A4-B459-E0AC44F60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2C6C93-9C93-4348-1B0D-4C3F642E1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12ADD3-45F5-9AF3-002E-2AF902D15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354799-C50C-EEE7-3FAB-008395CB6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D843-A512-4A83-BE82-D399EEF318E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F182EE-9352-F90B-C9E1-74EF24A24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396037-3D97-53EA-530B-4C89B4D89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82A-A9B6-4549-914C-ADE744503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065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178E46-1A7A-0284-B77C-C1F23BEF3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915415-9307-EC39-1455-DE7C8E4FF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197679-1175-FD97-6B1C-67356F444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93E72A4-95FE-DC02-7012-EC3C257B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3201D3-EDFB-C023-7684-BF95F3C41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95DE3DD-446C-6DB7-6696-843131682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D843-A512-4A83-BE82-D399EEF318E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148A912-F935-D024-D312-4E3D3346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EFF364-22FE-1DA0-6AD6-ED26F2889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82A-A9B6-4549-914C-ADE744503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39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854AC8-994C-0C04-B5DF-521305256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09D9E1-9BBA-E112-A112-94B42A810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D843-A512-4A83-BE82-D399EEF318E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BDDA23-75F5-E263-EF44-949DD51D8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BF8188-27F9-3197-0311-FB84EF4D6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82A-A9B6-4549-914C-ADE744503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44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A7C93C-1782-38CE-7FCA-8FB79A32B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D843-A512-4A83-BE82-D399EEF318E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BFDBF2C-B1D2-5A89-10DA-37A121540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A510E00-0C1E-E15A-A623-3416702E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82A-A9B6-4549-914C-ADE744503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633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D17C6-1FCC-6FCD-65FC-13081AA81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FEC044-88F0-DA67-0B3F-C57D3A189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0F0A45-C96D-729E-EBCE-28C0C4E398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C157BC-E406-324F-5075-9D67AC1FF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D843-A512-4A83-BE82-D399EEF318E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CE913A-BE99-775C-A3D0-F3A643183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EE3FE4-4790-93B4-134C-C72F6BDDB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82A-A9B6-4549-914C-ADE744503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134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C49614-B31A-2560-4392-641FBD005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D0681C1-59E5-4F52-8A02-8F0FCB2B1A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6E6D98-BDAF-F5E2-DFB4-86FC702A5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926C39-0E16-5042-5633-DA5E89324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D843-A512-4A83-BE82-D399EEF318E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255F24-AFF4-F28D-8223-D1676964A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4BBB9E-20CE-6468-6C49-AA843DD6A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82A-A9B6-4549-914C-ADE744503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129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7FBE47-0C9A-FB44-122F-508F0160F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CA1D87-0C95-39DA-A8EE-5D0B6E07A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0C3E62-4DF3-69FF-3380-04ABF71F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D843-A512-4A83-BE82-D399EEF318E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908C92-BE6D-A722-CF62-993941F2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EE3EF3-B32C-9435-5B2A-D35CAF142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82A-A9B6-4549-914C-ADE744503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705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758CEDD-04C9-B6DA-A157-C1082DC95B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68811C-D698-C9CA-C81B-2CC862BBF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2034FB-E0E9-E1C7-99B7-06FF45ED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D843-A512-4A83-BE82-D399EEF318E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0E9E18-D7B0-D95C-19E2-B1B0BB874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0452D4-0A7A-48BD-6569-233499189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4782A-A9B6-4549-914C-ADE744503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440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D3C39F6-8343-B364-E248-94A36B2FE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3181CE4-B192-8B34-744E-635704253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F030A5-304C-BA3F-6B1A-EEB3B6E427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DFD843-A512-4A83-BE82-D399EEF318EC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631673-3D5C-2452-9FB6-097338F75C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92504E-EF27-D0F8-02DD-2AAE199D17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54782A-A9B6-4549-914C-ADE7445038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863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26CE45D-C819-46AC-9332-4D2EE300EA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417C36-3F7D-6D99-FE52-B23BB6C4B3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E37CDD-9589-8355-240C-B28FCFC8C92A}"/>
              </a:ext>
            </a:extLst>
          </p:cNvPr>
          <p:cNvSpPr/>
          <p:nvPr/>
        </p:nvSpPr>
        <p:spPr>
          <a:xfrm>
            <a:off x="0" y="5308600"/>
            <a:ext cx="12192000" cy="1549400"/>
          </a:xfrm>
          <a:prstGeom prst="rect">
            <a:avLst/>
          </a:prstGeom>
          <a:solidFill>
            <a:srgbClr val="EF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139B4B-5AA4-46F5-DF8E-E432C6DCEA5B}"/>
              </a:ext>
            </a:extLst>
          </p:cNvPr>
          <p:cNvSpPr txBox="1"/>
          <p:nvPr/>
        </p:nvSpPr>
        <p:spPr>
          <a:xfrm>
            <a:off x="787400" y="1117600"/>
            <a:ext cx="10541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400" b="1">
                <a:solidFill>
                  <a:srgbClr val="F8FAFC"/>
                </a:solidFill>
                <a:latin typeface="Microsoft YaHei" panose="020B0503020204020204" pitchFamily="34" charset="-122"/>
              </a:rPr>
              <a:t>COVID-19 </a:t>
            </a:r>
            <a:r>
              <a:rPr lang="zh-CN" altLang="en-US" sz="3400" b="1">
                <a:solidFill>
                  <a:srgbClr val="F8FAFC"/>
                </a:solidFill>
                <a:latin typeface="Microsoft YaHei" panose="020B0503020204020204" pitchFamily="34" charset="-122"/>
              </a:rPr>
              <a:t>胸片感染区域分割系统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F0D4369-FF6A-5D20-B0D9-D346629F2F43}"/>
              </a:ext>
            </a:extLst>
          </p:cNvPr>
          <p:cNvSpPr txBox="1"/>
          <p:nvPr/>
        </p:nvSpPr>
        <p:spPr>
          <a:xfrm>
            <a:off x="838200" y="1930400"/>
            <a:ext cx="1041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>
                <a:solidFill>
                  <a:srgbClr val="CBD5E1"/>
                </a:solidFill>
                <a:latin typeface="Microsoft YaHei" panose="020B0503020204020204" pitchFamily="34" charset="-122"/>
              </a:rPr>
              <a:t>TransUNet2D v18 + LowDice </a:t>
            </a:r>
            <a:r>
              <a:rPr lang="zh-CN" altLang="en-US" sz="2000">
                <a:solidFill>
                  <a:srgbClr val="CBD5E1"/>
                </a:solidFill>
                <a:latin typeface="Microsoft YaHei" panose="020B0503020204020204" pitchFamily="34" charset="-122"/>
              </a:rPr>
              <a:t>多专家门控优化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034A6E0-6161-9B11-FE61-0C1B69817F02}"/>
              </a:ext>
            </a:extLst>
          </p:cNvPr>
          <p:cNvSpPr txBox="1"/>
          <p:nvPr/>
        </p:nvSpPr>
        <p:spPr>
          <a:xfrm>
            <a:off x="838200" y="5715000"/>
            <a:ext cx="965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项目展示详版 </a:t>
            </a: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</a:rPr>
              <a:t>PPT  |  QaTa-COV19  |  Web </a:t>
            </a: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</a:rPr>
              <a:t>可视化系统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514ED18-A142-7C4C-C737-7A2CAD0231A5}"/>
              </a:ext>
            </a:extLst>
          </p:cNvPr>
          <p:cNvSpPr txBox="1"/>
          <p:nvPr/>
        </p:nvSpPr>
        <p:spPr>
          <a:xfrm>
            <a:off x="8890000" y="1066800"/>
            <a:ext cx="2667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FCD34D"/>
                </a:solidFill>
                <a:latin typeface="Microsoft YaHei" panose="020B0503020204020204" pitchFamily="34" charset="-122"/>
              </a:rPr>
              <a:t>Final Dice 0.7959</a:t>
            </a:r>
            <a:endParaRPr lang="zh-CN" altLang="en-US" sz="2000" b="1">
              <a:solidFill>
                <a:srgbClr val="FCD34D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557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7BE36D7-D2A8-9084-D3F2-C11D583A92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99F4CA-9D15-60D0-E639-92FBC5F6504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ED30F6-E7A6-7A2A-E769-B54EB096BCB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00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展示目录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473BC9-01B9-0E4D-2C85-58E6268F098E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这份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PPT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怎么讲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4A39FF-B4A7-91B3-6C65-B27BE9879B4E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按系统、模型、公式、可视化、代码五条线展开。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3904EBF-DAAB-450F-8B36-6660D0C9101D}"/>
              </a:ext>
            </a:extLst>
          </p:cNvPr>
          <p:cNvSpPr/>
          <p:nvPr/>
        </p:nvSpPr>
        <p:spPr>
          <a:xfrm>
            <a:off x="762000" y="1841500"/>
            <a:ext cx="3302000" cy="13335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4F7600-B372-F647-C829-CAFD01E5915A}"/>
              </a:ext>
            </a:extLst>
          </p:cNvPr>
          <p:cNvSpPr txBox="1"/>
          <p:nvPr/>
        </p:nvSpPr>
        <p:spPr>
          <a:xfrm>
            <a:off x="939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系统与数据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E3FBFB0-43E1-83D7-770D-3909A7D91C9A}"/>
              </a:ext>
            </a:extLst>
          </p:cNvPr>
          <p:cNvSpPr txBox="1"/>
          <p:nvPr/>
        </p:nvSpPr>
        <p:spPr>
          <a:xfrm>
            <a:off x="939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任务目标、数据集、预处理、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系统入口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CF8DBFD-3329-2FF9-73EF-0E938348A0B7}"/>
              </a:ext>
            </a:extLst>
          </p:cNvPr>
          <p:cNvSpPr/>
          <p:nvPr/>
        </p:nvSpPr>
        <p:spPr>
          <a:xfrm>
            <a:off x="4445000" y="1841500"/>
            <a:ext cx="3302000" cy="1333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CE941B-A9FB-7D5A-D37E-17C95CCE8346}"/>
              </a:ext>
            </a:extLst>
          </p:cNvPr>
          <p:cNvSpPr txBox="1"/>
          <p:nvPr/>
        </p:nvSpPr>
        <p:spPr>
          <a:xfrm>
            <a:off x="4622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分割流程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734524-6522-335D-FE0E-EAD8BB46FE0B}"/>
              </a:ext>
            </a:extLst>
          </p:cNvPr>
          <p:cNvSpPr txBox="1"/>
          <p:nvPr/>
        </p:nvSpPr>
        <p:spPr>
          <a:xfrm>
            <a:off x="4622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输入图像 → 模型概率图 → 阈值化 → 后处理 → 可视化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2DF24CF-A81C-C5AF-086B-CA681E3C16AA}"/>
              </a:ext>
            </a:extLst>
          </p:cNvPr>
          <p:cNvSpPr/>
          <p:nvPr/>
        </p:nvSpPr>
        <p:spPr>
          <a:xfrm>
            <a:off x="8128000" y="1841500"/>
            <a:ext cx="3302000" cy="13335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EEE8768-0D21-6BF0-C9C2-3064F6EBB8A4}"/>
              </a:ext>
            </a:extLst>
          </p:cNvPr>
          <p:cNvSpPr txBox="1"/>
          <p:nvPr/>
        </p:nvSpPr>
        <p:spPr>
          <a:xfrm>
            <a:off x="8305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模型优化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C11B68-9596-4CDF-4B60-10E70A3E4FF3}"/>
              </a:ext>
            </a:extLst>
          </p:cNvPr>
          <p:cNvSpPr txBox="1"/>
          <p:nvPr/>
        </p:nvSpPr>
        <p:spPr>
          <a:xfrm>
            <a:off x="8305800" y="24130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基线、低分样本分析、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v18-aware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门控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D76A1210-4DFD-5273-2ED8-9F052B82D78D}"/>
              </a:ext>
            </a:extLst>
          </p:cNvPr>
          <p:cNvSpPr/>
          <p:nvPr/>
        </p:nvSpPr>
        <p:spPr>
          <a:xfrm>
            <a:off x="762000" y="3683000"/>
            <a:ext cx="3302000" cy="13335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E067F72-DFFD-B054-3E4A-D20D3D310748}"/>
              </a:ext>
            </a:extLst>
          </p:cNvPr>
          <p:cNvSpPr txBox="1"/>
          <p:nvPr/>
        </p:nvSpPr>
        <p:spPr>
          <a:xfrm>
            <a:off x="939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评价公式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F220F5-BB04-46A7-510C-CD14D2696892}"/>
              </a:ext>
            </a:extLst>
          </p:cNvPr>
          <p:cNvSpPr txBox="1"/>
          <p:nvPr/>
        </p:nvSpPr>
        <p:spPr>
          <a:xfrm>
            <a:off x="939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IoU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Precision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Recall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、损失函数和字母含义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014BDA6-C92E-9C46-1B02-D25F45EA764C}"/>
              </a:ext>
            </a:extLst>
          </p:cNvPr>
          <p:cNvSpPr/>
          <p:nvPr/>
        </p:nvSpPr>
        <p:spPr>
          <a:xfrm>
            <a:off x="4445000" y="3683000"/>
            <a:ext cx="3302000" cy="13335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305DA97-3203-D905-90E6-1418A091DFD7}"/>
              </a:ext>
            </a:extLst>
          </p:cNvPr>
          <p:cNvSpPr txBox="1"/>
          <p:nvPr/>
        </p:nvSpPr>
        <p:spPr>
          <a:xfrm>
            <a:off x="4622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实验展示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85F9EEC-36D2-24E5-5032-E7E7B147F23F}"/>
              </a:ext>
            </a:extLst>
          </p:cNvPr>
          <p:cNvSpPr txBox="1"/>
          <p:nvPr/>
        </p:nvSpPr>
        <p:spPr>
          <a:xfrm>
            <a:off x="4622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定量对比、低分样本提升、颜色图例、误差图说明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A1506B3-27F7-FEE2-95B1-F57BF6F1E640}"/>
              </a:ext>
            </a:extLst>
          </p:cNvPr>
          <p:cNvSpPr/>
          <p:nvPr/>
        </p:nvSpPr>
        <p:spPr>
          <a:xfrm>
            <a:off x="8128000" y="3683000"/>
            <a:ext cx="3302000" cy="13335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4E5171C-6D86-2611-09DD-4462BD2F5757}"/>
              </a:ext>
            </a:extLst>
          </p:cNvPr>
          <p:cNvSpPr txBox="1"/>
          <p:nvPr/>
        </p:nvSpPr>
        <p:spPr>
          <a:xfrm>
            <a:off x="8305800" y="38354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6.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关键代码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CEC592C-3887-CB94-DD8F-D81D1E5F72D5}"/>
              </a:ext>
            </a:extLst>
          </p:cNvPr>
          <p:cNvSpPr txBox="1"/>
          <p:nvPr/>
        </p:nvSpPr>
        <p:spPr>
          <a:xfrm>
            <a:off x="8305800" y="4254500"/>
            <a:ext cx="294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模型先验、门控路由、推理后处理、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调用</a:t>
            </a:r>
          </a:p>
        </p:txBody>
      </p:sp>
    </p:spTree>
    <p:extLst>
      <p:ext uri="{BB962C8B-B14F-4D97-AF65-F5344CB8AC3E}">
        <p14:creationId xmlns:p14="http://schemas.microsoft.com/office/powerpoint/2010/main" val="3986089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7170AF5-49FC-3E05-F450-FA750AFB37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38DD3A-CE29-DC47-1DFE-673C52AF445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5916FD-7BED-9497-D683-BA315846EF1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项目目标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0F4E3D-C79F-8E32-74BD-EAA09E2E6BE7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要解决的问题是什么？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6B738C-B370-FE8B-458F-627DA5F06429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给定一张胸片，自动找出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COVID-19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感染区域。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D0B7817-85F9-1F57-0991-D1745A0CB3AA}"/>
              </a:ext>
            </a:extLst>
          </p:cNvPr>
          <p:cNvSpPr/>
          <p:nvPr/>
        </p:nvSpPr>
        <p:spPr>
          <a:xfrm>
            <a:off x="825500" y="1905000"/>
            <a:ext cx="3175000" cy="2921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DA6E33F-7AB2-DF29-A33F-7E042A395606}"/>
              </a:ext>
            </a:extLst>
          </p:cNvPr>
          <p:cNvSpPr txBox="1"/>
          <p:nvPr/>
        </p:nvSpPr>
        <p:spPr>
          <a:xfrm>
            <a:off x="1003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E8CA18-06C4-DB92-EECA-7C0CAF703F98}"/>
              </a:ext>
            </a:extLst>
          </p:cNvPr>
          <p:cNvSpPr txBox="1"/>
          <p:nvPr/>
        </p:nvSpPr>
        <p:spPr>
          <a:xfrm>
            <a:off x="1003300" y="24765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胸部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光图像
格式：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PNG / JPG / DICOM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来源：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QaTa-COV19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2724D34-A912-7528-AD87-7C43BF64D548}"/>
              </a:ext>
            </a:extLst>
          </p:cNvPr>
          <p:cNvSpPr/>
          <p:nvPr/>
        </p:nvSpPr>
        <p:spPr>
          <a:xfrm>
            <a:off x="4508500" y="1905000"/>
            <a:ext cx="3175000" cy="2921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82C56C-3139-AF8A-17C6-F863D96F35E0}"/>
              </a:ext>
            </a:extLst>
          </p:cNvPr>
          <p:cNvSpPr txBox="1"/>
          <p:nvPr/>
        </p:nvSpPr>
        <p:spPr>
          <a:xfrm>
            <a:off x="4686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算法输出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E7346F-577E-4C28-8F1E-DB2440D35B4F}"/>
              </a:ext>
            </a:extLst>
          </p:cNvPr>
          <p:cNvSpPr txBox="1"/>
          <p:nvPr/>
        </p:nvSpPr>
        <p:spPr>
          <a:xfrm>
            <a:off x="4686300" y="2476500"/>
            <a:ext cx="2819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像素级感染概率图
二值感染掩码
病灶面积占比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1932B7E7-CF7B-FA3C-5E2B-55D9062CD2C8}"/>
              </a:ext>
            </a:extLst>
          </p:cNvPr>
          <p:cNvSpPr/>
          <p:nvPr/>
        </p:nvSpPr>
        <p:spPr>
          <a:xfrm>
            <a:off x="8191500" y="1905000"/>
            <a:ext cx="3175000" cy="2921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D07703E-B6A1-AC05-DD35-87F2D1F5DAAD}"/>
              </a:ext>
            </a:extLst>
          </p:cNvPr>
          <p:cNvSpPr txBox="1"/>
          <p:nvPr/>
        </p:nvSpPr>
        <p:spPr>
          <a:xfrm>
            <a:off x="8369300" y="2057400"/>
            <a:ext cx="2819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展示输出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6E3101-F7A6-6A4C-78E8-67312C687C88}"/>
              </a:ext>
            </a:extLst>
          </p:cNvPr>
          <p:cNvSpPr txBox="1"/>
          <p:nvPr/>
        </p:nvSpPr>
        <p:spPr>
          <a:xfrm>
            <a:off x="8369300" y="2476500"/>
            <a:ext cx="28194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Original
Mask
Overlay
Error Map
Dice / IoU / Precision / Recall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307199A-87AB-CE89-55B9-30F526626495}"/>
              </a:ext>
            </a:extLst>
          </p:cNvPr>
          <p:cNvCxnSpPr/>
          <p:nvPr/>
        </p:nvCxnSpPr>
        <p:spPr>
          <a:xfrm>
            <a:off x="4000500" y="33655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192D2C0-6BD6-30E1-17AC-6ECF856B3062}"/>
              </a:ext>
            </a:extLst>
          </p:cNvPr>
          <p:cNvCxnSpPr/>
          <p:nvPr/>
        </p:nvCxnSpPr>
        <p:spPr>
          <a:xfrm>
            <a:off x="7683500" y="33655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51D778C6-D0F9-7DE8-EC1C-A983431F1C6F}"/>
              </a:ext>
            </a:extLst>
          </p:cNvPr>
          <p:cNvSpPr txBox="1"/>
          <p:nvPr/>
        </p:nvSpPr>
        <p:spPr>
          <a:xfrm>
            <a:off x="952500" y="5461000"/>
            <a:ext cx="10287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DC2626"/>
                </a:solidFill>
                <a:latin typeface="Microsoft YaHei" panose="020B0503020204020204" pitchFamily="34" charset="-122"/>
              </a:rPr>
              <a:t>核心难点：病灶区域小、边界模糊、灰度与肺纹理接近，容易误检或漏检。</a:t>
            </a:r>
          </a:p>
        </p:txBody>
      </p:sp>
    </p:spTree>
    <p:extLst>
      <p:ext uri="{BB962C8B-B14F-4D97-AF65-F5344CB8AC3E}">
        <p14:creationId xmlns:p14="http://schemas.microsoft.com/office/powerpoint/2010/main" val="384849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E87767F-712E-5E8E-E1D1-1AD76D826C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6AB003-E469-C55C-90AA-C41256D8DA09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919670-F600-6C6D-D5BE-77749FC10B0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系统架构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BE5A78-D3A2-B27B-BEB7-4AC81DE44CFA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系统由四层组成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64AEC7-3B9F-CE03-8254-9BB40D2A0929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数据层、模型层、评估层、展示层。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E64C739-AF1B-FFA3-284C-5D54255206AF}"/>
              </a:ext>
            </a:extLst>
          </p:cNvPr>
          <p:cNvSpPr/>
          <p:nvPr/>
        </p:nvSpPr>
        <p:spPr>
          <a:xfrm>
            <a:off x="825500" y="1714500"/>
            <a:ext cx="2286000" cy="3175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9566078-3650-63C9-0A08-CFD773C595F5}"/>
              </a:ext>
            </a:extLst>
          </p:cNvPr>
          <p:cNvSpPr txBox="1"/>
          <p:nvPr/>
        </p:nvSpPr>
        <p:spPr>
          <a:xfrm>
            <a:off x="1003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数据层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03CB63A-EFFD-63D4-8CA7-8CCB1D0D4F21}"/>
              </a:ext>
            </a:extLst>
          </p:cNvPr>
          <p:cNvSpPr txBox="1"/>
          <p:nvPr/>
        </p:nvSpPr>
        <p:spPr>
          <a:xfrm>
            <a:off x="1003300" y="2286000"/>
            <a:ext cx="1930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raw images
GT masks
NPZ cache
manifest.csv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076DF4C-B776-DB8F-6DE5-E7464B3816C6}"/>
              </a:ext>
            </a:extLst>
          </p:cNvPr>
          <p:cNvSpPr/>
          <p:nvPr/>
        </p:nvSpPr>
        <p:spPr>
          <a:xfrm>
            <a:off x="3492500" y="1714500"/>
            <a:ext cx="2286000" cy="3175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3E2F9E4-7B66-A555-9BF7-6BEC4CCAC6D2}"/>
              </a:ext>
            </a:extLst>
          </p:cNvPr>
          <p:cNvSpPr txBox="1"/>
          <p:nvPr/>
        </p:nvSpPr>
        <p:spPr>
          <a:xfrm>
            <a:off x="3670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4E8980A-02CC-A837-E9C3-FA1D218FCB4F}"/>
              </a:ext>
            </a:extLst>
          </p:cNvPr>
          <p:cNvSpPr txBox="1"/>
          <p:nvPr/>
        </p:nvSpPr>
        <p:spPr>
          <a:xfrm>
            <a:off x="3670300" y="22860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TransUNet2D v18
LowDice experts
threshold / min_area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4EE4C6D-147C-2826-6557-033C0779E6E7}"/>
              </a:ext>
            </a:extLst>
          </p:cNvPr>
          <p:cNvSpPr/>
          <p:nvPr/>
        </p:nvSpPr>
        <p:spPr>
          <a:xfrm>
            <a:off x="6159500" y="1714500"/>
            <a:ext cx="2286000" cy="3175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89B35E8-AD9D-F5CB-B2DA-AF486F911E00}"/>
              </a:ext>
            </a:extLst>
          </p:cNvPr>
          <p:cNvSpPr txBox="1"/>
          <p:nvPr/>
        </p:nvSpPr>
        <p:spPr>
          <a:xfrm>
            <a:off x="6337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评估层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5C6C8D-7F22-336E-7D31-D31090028471}"/>
              </a:ext>
            </a:extLst>
          </p:cNvPr>
          <p:cNvSpPr txBox="1"/>
          <p:nvPr/>
        </p:nvSpPr>
        <p:spPr>
          <a:xfrm>
            <a:off x="6337300" y="2286000"/>
            <a:ext cx="1930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 / IoU
Precision / Recall
low-dice analysis
expert gate eval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18DF39E-9EBE-67E7-3BFB-22C83A5B3280}"/>
              </a:ext>
            </a:extLst>
          </p:cNvPr>
          <p:cNvSpPr/>
          <p:nvPr/>
        </p:nvSpPr>
        <p:spPr>
          <a:xfrm>
            <a:off x="8826500" y="1714500"/>
            <a:ext cx="2286000" cy="3175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F2D9D12-FCFE-8D39-39C5-C580DD9C82A9}"/>
              </a:ext>
            </a:extLst>
          </p:cNvPr>
          <p:cNvSpPr txBox="1"/>
          <p:nvPr/>
        </p:nvSpPr>
        <p:spPr>
          <a:xfrm>
            <a:off x="9004300" y="1866900"/>
            <a:ext cx="1930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展示层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13D441C-0BC3-1A4B-EFD9-447B17918900}"/>
              </a:ext>
            </a:extLst>
          </p:cNvPr>
          <p:cNvSpPr txBox="1"/>
          <p:nvPr/>
        </p:nvSpPr>
        <p:spPr>
          <a:xfrm>
            <a:off x="9004300" y="2286000"/>
            <a:ext cx="19304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web/index.html
app_v12_web.py
Original / Mask / Overlay
Download outputs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D6D1C6C-F323-402D-BB4F-DAE65F637613}"/>
              </a:ext>
            </a:extLst>
          </p:cNvPr>
          <p:cNvCxnSpPr/>
          <p:nvPr/>
        </p:nvCxnSpPr>
        <p:spPr>
          <a:xfrm>
            <a:off x="3111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835446D-5B70-C82F-4852-03381892792C}"/>
              </a:ext>
            </a:extLst>
          </p:cNvPr>
          <p:cNvCxnSpPr/>
          <p:nvPr/>
        </p:nvCxnSpPr>
        <p:spPr>
          <a:xfrm>
            <a:off x="5778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57C1B24-E09C-2E84-9DF5-F34EE7F6DC76}"/>
              </a:ext>
            </a:extLst>
          </p:cNvPr>
          <p:cNvCxnSpPr/>
          <p:nvPr/>
        </p:nvCxnSpPr>
        <p:spPr>
          <a:xfrm>
            <a:off x="8445500" y="3302000"/>
            <a:ext cx="381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75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042D069-53B2-575F-DF88-EF10CDA2B6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9CC393-E878-34AC-B3E4-24E4FAAF0E0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321BD6-8BC8-02AB-280B-7A1D580D7CCC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数据集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C388FA-1EBA-94BF-07F3-9882561DF170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QaTa-COV19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数据与划分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1C0540A-3132-FE3C-333C-5987B150EEA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以胸片图像和人工感染区域标注为监督信号。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A241F52-9C79-5880-8B2E-3589361FFD32}"/>
              </a:ext>
            </a:extLst>
          </p:cNvPr>
          <p:cNvSpPr/>
          <p:nvPr/>
        </p:nvSpPr>
        <p:spPr>
          <a:xfrm>
            <a:off x="762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C40DA6-A8B0-04DC-9CD5-1DEADF36471B}"/>
              </a:ext>
            </a:extLst>
          </p:cNvPr>
          <p:cNvSpPr txBox="1"/>
          <p:nvPr/>
        </p:nvSpPr>
        <p:spPr>
          <a:xfrm>
            <a:off x="939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总样本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9553B50-2B5A-C203-EB75-811C0B822D42}"/>
              </a:ext>
            </a:extLst>
          </p:cNvPr>
          <p:cNvSpPr txBox="1"/>
          <p:nvPr/>
        </p:nvSpPr>
        <p:spPr>
          <a:xfrm>
            <a:off x="939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9258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A2EEB2A-3BE4-D64C-942C-4E55ABFEFA77}"/>
              </a:ext>
            </a:extLst>
          </p:cNvPr>
          <p:cNvSpPr txBox="1"/>
          <p:nvPr/>
        </p:nvSpPr>
        <p:spPr>
          <a:xfrm>
            <a:off x="939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全部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manifest </a:t>
            </a:r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记录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931F8E6-4D54-5C8D-CAB1-4CB49F8C8FE7}"/>
              </a:ext>
            </a:extLst>
          </p:cNvPr>
          <p:cNvSpPr/>
          <p:nvPr/>
        </p:nvSpPr>
        <p:spPr>
          <a:xfrm>
            <a:off x="3556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130B971-7DE0-8EDB-1F94-64928C1D2442}"/>
              </a:ext>
            </a:extLst>
          </p:cNvPr>
          <p:cNvSpPr txBox="1"/>
          <p:nvPr/>
        </p:nvSpPr>
        <p:spPr>
          <a:xfrm>
            <a:off x="3733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训练集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6E7ABE7-B3D8-4BF3-E28E-F83E3ACAFC3A}"/>
              </a:ext>
            </a:extLst>
          </p:cNvPr>
          <p:cNvSpPr txBox="1"/>
          <p:nvPr/>
        </p:nvSpPr>
        <p:spPr>
          <a:xfrm>
            <a:off x="3733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059669"/>
                </a:solidFill>
                <a:latin typeface="Microsoft YaHei" panose="020B0503020204020204" pitchFamily="34" charset="-122"/>
              </a:rPr>
              <a:t>7406</a:t>
            </a:r>
            <a:endParaRPr lang="zh-CN" altLang="en-US" sz="2400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3762DA-7C74-AD97-1B3E-DD497FD15325}"/>
              </a:ext>
            </a:extLst>
          </p:cNvPr>
          <p:cNvSpPr txBox="1"/>
          <p:nvPr/>
        </p:nvSpPr>
        <p:spPr>
          <a:xfrm>
            <a:off x="3733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用于模型拟合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11B5B39-ABE5-1261-D650-53B3DFB985C7}"/>
              </a:ext>
            </a:extLst>
          </p:cNvPr>
          <p:cNvSpPr/>
          <p:nvPr/>
        </p:nvSpPr>
        <p:spPr>
          <a:xfrm>
            <a:off x="6350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E395447-FADC-82D2-765F-9067B292829E}"/>
              </a:ext>
            </a:extLst>
          </p:cNvPr>
          <p:cNvSpPr txBox="1"/>
          <p:nvPr/>
        </p:nvSpPr>
        <p:spPr>
          <a:xfrm>
            <a:off x="6527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验证集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10093D4-F586-0379-20A1-FA1182286192}"/>
              </a:ext>
            </a:extLst>
          </p:cNvPr>
          <p:cNvSpPr txBox="1"/>
          <p:nvPr/>
        </p:nvSpPr>
        <p:spPr>
          <a:xfrm>
            <a:off x="6527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97706"/>
                </a:solidFill>
                <a:latin typeface="Microsoft YaHei" panose="020B0503020204020204" pitchFamily="34" charset="-122"/>
              </a:rPr>
              <a:t>925</a:t>
            </a:r>
            <a:endParaRPr lang="zh-CN" altLang="en-US" sz="24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A99B9A2-4F83-BD52-A845-5D22E254425E}"/>
              </a:ext>
            </a:extLst>
          </p:cNvPr>
          <p:cNvSpPr txBox="1"/>
          <p:nvPr/>
        </p:nvSpPr>
        <p:spPr>
          <a:xfrm>
            <a:off x="6527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用于阈值和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checkpoint </a:t>
            </a:r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选择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72549018-8CB2-6FD2-0094-DF5D48365DDD}"/>
              </a:ext>
            </a:extLst>
          </p:cNvPr>
          <p:cNvSpPr/>
          <p:nvPr/>
        </p:nvSpPr>
        <p:spPr>
          <a:xfrm>
            <a:off x="9144000" y="1905000"/>
            <a:ext cx="2286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6D69CAC-0E5D-3125-8733-2A702CEE897F}"/>
              </a:ext>
            </a:extLst>
          </p:cNvPr>
          <p:cNvSpPr txBox="1"/>
          <p:nvPr/>
        </p:nvSpPr>
        <p:spPr>
          <a:xfrm>
            <a:off x="9321800" y="2044700"/>
            <a:ext cx="1930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测试集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24015A-1080-C6D2-BCFB-12E8BEAEEA96}"/>
              </a:ext>
            </a:extLst>
          </p:cNvPr>
          <p:cNvSpPr txBox="1"/>
          <p:nvPr/>
        </p:nvSpPr>
        <p:spPr>
          <a:xfrm>
            <a:off x="9321800" y="22987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7C3AED"/>
                </a:solidFill>
                <a:latin typeface="Microsoft YaHei" panose="020B0503020204020204" pitchFamily="34" charset="-122"/>
              </a:rPr>
              <a:t>927</a:t>
            </a:r>
            <a:endParaRPr lang="zh-CN" altLang="en-US" sz="2400" b="1">
              <a:solidFill>
                <a:srgbClr val="7C3AE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11C4399-BB50-05C0-4963-B588D7C786ED}"/>
              </a:ext>
            </a:extLst>
          </p:cNvPr>
          <p:cNvSpPr txBox="1"/>
          <p:nvPr/>
        </p:nvSpPr>
        <p:spPr>
          <a:xfrm>
            <a:off x="9321800" y="2768600"/>
            <a:ext cx="1930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最终评估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5DFB47-EECB-917A-B936-6A40D0E24F08}"/>
              </a:ext>
            </a:extLst>
          </p:cNvPr>
          <p:cNvSpPr txBox="1"/>
          <p:nvPr/>
        </p:nvSpPr>
        <p:spPr>
          <a:xfrm>
            <a:off x="914400" y="3810000"/>
            <a:ext cx="10414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每条数据包含：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id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img_path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mask_path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npz_path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split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。训练时读取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NPZ 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中的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img 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600" b="1">
                <a:solidFill>
                  <a:srgbClr val="1E293B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0BD6A51-C54C-8DF5-0334-752A8EBE4904}"/>
              </a:ext>
            </a:extLst>
          </p:cNvPr>
          <p:cNvSpPr txBox="1"/>
          <p:nvPr/>
        </p:nvSpPr>
        <p:spPr>
          <a:xfrm>
            <a:off x="914400" y="4572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为什么要单独保留测试集：避免用测试样本调参，保证最终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具有对比意义。</a:t>
            </a:r>
          </a:p>
        </p:txBody>
      </p:sp>
    </p:spTree>
    <p:extLst>
      <p:ext uri="{BB962C8B-B14F-4D97-AF65-F5344CB8AC3E}">
        <p14:creationId xmlns:p14="http://schemas.microsoft.com/office/powerpoint/2010/main" val="677095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B4A2794-7B03-5000-01CA-1AFFC02595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2A88D1-3F1E-FE64-40CA-E3DF279ACD67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EF877F-25D5-53E4-484B-96535B370A45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预处理流程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630C07-55C2-C016-7B1B-0E673B270620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图像进入模型前做了什么？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A72E90-F895-BC97-1F3E-33465FB95FA2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统一输入尺度和数值范围，保证模型训练稳定。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B3F2CF7-5C8B-D9F8-2B0E-8601B450FE8B}"/>
              </a:ext>
            </a:extLst>
          </p:cNvPr>
          <p:cNvSpPr/>
          <p:nvPr/>
        </p:nvSpPr>
        <p:spPr>
          <a:xfrm>
            <a:off x="571500" y="1905000"/>
            <a:ext cx="2095500" cy="24765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983C86-3AB8-57E1-EA92-5614985AB1A0}"/>
              </a:ext>
            </a:extLst>
          </p:cNvPr>
          <p:cNvSpPr txBox="1"/>
          <p:nvPr/>
        </p:nvSpPr>
        <p:spPr>
          <a:xfrm>
            <a:off x="749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读取图像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106DE1-33C7-A64C-C6C2-1E367CDC0589}"/>
              </a:ext>
            </a:extLst>
          </p:cNvPr>
          <p:cNvSpPr txBox="1"/>
          <p:nvPr/>
        </p:nvSpPr>
        <p:spPr>
          <a:xfrm>
            <a:off x="749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PIL/OpenCV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读取
转灰度图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F669F5B-134C-1E47-AEF2-EC4124AD2E21}"/>
              </a:ext>
            </a:extLst>
          </p:cNvPr>
          <p:cNvSpPr/>
          <p:nvPr/>
        </p:nvSpPr>
        <p:spPr>
          <a:xfrm>
            <a:off x="2984500" y="1905000"/>
            <a:ext cx="2095500" cy="2476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0B51A6-63E9-2C88-EA4F-3042DFD18413}"/>
              </a:ext>
            </a:extLst>
          </p:cNvPr>
          <p:cNvSpPr txBox="1"/>
          <p:nvPr/>
        </p:nvSpPr>
        <p:spPr>
          <a:xfrm>
            <a:off x="3162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归一化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6C7D32-59BE-5DA9-ADA0-0FFC77013CB7}"/>
              </a:ext>
            </a:extLst>
          </p:cNvPr>
          <p:cNvSpPr txBox="1"/>
          <p:nvPr/>
        </p:nvSpPr>
        <p:spPr>
          <a:xfrm>
            <a:off x="3162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像素缩放到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[0,1]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减少曝光差异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79B9313-D192-3122-BE89-4305E96C2E42}"/>
              </a:ext>
            </a:extLst>
          </p:cNvPr>
          <p:cNvSpPr/>
          <p:nvPr/>
        </p:nvSpPr>
        <p:spPr>
          <a:xfrm>
            <a:off x="5397500" y="1905000"/>
            <a:ext cx="2095500" cy="24765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84851B0-2793-39DD-6B33-8F57C5FAB95D}"/>
              </a:ext>
            </a:extLst>
          </p:cNvPr>
          <p:cNvSpPr txBox="1"/>
          <p:nvPr/>
        </p:nvSpPr>
        <p:spPr>
          <a:xfrm>
            <a:off x="5575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尺寸统一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BC281EB-630A-D245-CF8F-B58DAFF38D96}"/>
              </a:ext>
            </a:extLst>
          </p:cNvPr>
          <p:cNvSpPr txBox="1"/>
          <p:nvPr/>
        </p:nvSpPr>
        <p:spPr>
          <a:xfrm>
            <a:off x="5575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Resize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224×224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形成固定输入张量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6309960-CC09-7F52-F00C-EE4D8EB05F5F}"/>
              </a:ext>
            </a:extLst>
          </p:cNvPr>
          <p:cNvSpPr/>
          <p:nvPr/>
        </p:nvSpPr>
        <p:spPr>
          <a:xfrm>
            <a:off x="7810500" y="1905000"/>
            <a:ext cx="2095500" cy="24765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974F43C-9851-6AA4-2E93-529502FEA97F}"/>
              </a:ext>
            </a:extLst>
          </p:cNvPr>
          <p:cNvSpPr txBox="1"/>
          <p:nvPr/>
        </p:nvSpPr>
        <p:spPr>
          <a:xfrm>
            <a:off x="7988300" y="2057400"/>
            <a:ext cx="1739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Mask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二值化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A7294B-2EFF-9DF5-FDF5-5E342388DA8C}"/>
              </a:ext>
            </a:extLst>
          </p:cNvPr>
          <p:cNvSpPr txBox="1"/>
          <p:nvPr/>
        </p:nvSpPr>
        <p:spPr>
          <a:xfrm>
            <a:off x="7988300" y="2476500"/>
            <a:ext cx="17399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感染区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=1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背景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=0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CA5462F-3A70-2EAE-2E37-FAA2008B7ED4}"/>
              </a:ext>
            </a:extLst>
          </p:cNvPr>
          <p:cNvSpPr/>
          <p:nvPr/>
        </p:nvSpPr>
        <p:spPr>
          <a:xfrm>
            <a:off x="10223500" y="1905000"/>
            <a:ext cx="1397000" cy="24765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8F53A64-59EB-374C-2FDB-67DF13617092}"/>
              </a:ext>
            </a:extLst>
          </p:cNvPr>
          <p:cNvSpPr txBox="1"/>
          <p:nvPr/>
        </p:nvSpPr>
        <p:spPr>
          <a:xfrm>
            <a:off x="10401300" y="2057400"/>
            <a:ext cx="1041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存储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6D16E0E-4DC3-6003-F5DB-41AE0527AF31}"/>
              </a:ext>
            </a:extLst>
          </p:cNvPr>
          <p:cNvSpPr txBox="1"/>
          <p:nvPr/>
        </p:nvSpPr>
        <p:spPr>
          <a:xfrm>
            <a:off x="10401300" y="2476500"/>
            <a:ext cx="1041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NPZ
manifest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80F8920-7B98-CF1D-A25D-EB360899BDAF}"/>
              </a:ext>
            </a:extLst>
          </p:cNvPr>
          <p:cNvCxnSpPr/>
          <p:nvPr/>
        </p:nvCxnSpPr>
        <p:spPr>
          <a:xfrm>
            <a:off x="2667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A0CDD5B-39A0-E5A1-B9E2-41304F3E8C6F}"/>
              </a:ext>
            </a:extLst>
          </p:cNvPr>
          <p:cNvCxnSpPr/>
          <p:nvPr/>
        </p:nvCxnSpPr>
        <p:spPr>
          <a:xfrm>
            <a:off x="5080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E4B220BA-9C9E-529D-2679-5B82492A8357}"/>
              </a:ext>
            </a:extLst>
          </p:cNvPr>
          <p:cNvCxnSpPr/>
          <p:nvPr/>
        </p:nvCxnSpPr>
        <p:spPr>
          <a:xfrm>
            <a:off x="7493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C8ECE703-A81E-7CDD-C184-B53B786527C1}"/>
              </a:ext>
            </a:extLst>
          </p:cNvPr>
          <p:cNvCxnSpPr/>
          <p:nvPr/>
        </p:nvCxnSpPr>
        <p:spPr>
          <a:xfrm>
            <a:off x="9906000" y="3175000"/>
            <a:ext cx="3175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F0D1D3E6-4B9E-1D11-0F70-CFED6BE7B2A6}"/>
              </a:ext>
            </a:extLst>
          </p:cNvPr>
          <p:cNvSpPr txBox="1"/>
          <p:nvPr/>
        </p:nvSpPr>
        <p:spPr>
          <a:xfrm>
            <a:off x="889000" y="5143500"/>
            <a:ext cx="10541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训练增强：水平翻转、亮度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对比度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/Gamma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、轻微噪声；避免垂直翻转破坏胸片上下结构。</a:t>
            </a:r>
          </a:p>
        </p:txBody>
      </p:sp>
    </p:spTree>
    <p:extLst>
      <p:ext uri="{BB962C8B-B14F-4D97-AF65-F5344CB8AC3E}">
        <p14:creationId xmlns:p14="http://schemas.microsoft.com/office/powerpoint/2010/main" val="3534047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B96CC48-01BF-1E45-661F-D5E140A38A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5F15EF-DB82-1300-AEF5-39D35A2D8FB2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1BAD1B6-D822-AB5D-93C4-F4F8E449CB0F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05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分割流程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B319622-87D0-93C7-D268-A3802F1610C0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从概率图到最终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Mask</a:t>
            </a:r>
            <a:endParaRPr lang="zh-CN" altLang="en-US" sz="2900" b="1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5B6D7B-9CE3-FEA7-7EA9-556BB71A2C3C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模型输出不是直接结果，还需要阈值化和后处理。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D5EB307-8D5E-AA42-CC88-CA0D83A3DA7E}"/>
              </a:ext>
            </a:extLst>
          </p:cNvPr>
          <p:cNvSpPr/>
          <p:nvPr/>
        </p:nvSpPr>
        <p:spPr>
          <a:xfrm>
            <a:off x="698500" y="1905000"/>
            <a:ext cx="2286000" cy="2794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940993-5CBF-6B3F-F8A2-CF81B1610408}"/>
              </a:ext>
            </a:extLst>
          </p:cNvPr>
          <p:cNvSpPr txBox="1"/>
          <p:nvPr/>
        </p:nvSpPr>
        <p:spPr>
          <a:xfrm>
            <a:off x="876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1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模型前向传播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4920E1-DBBE-A3E4-0A39-D4A922A56265}"/>
              </a:ext>
            </a:extLst>
          </p:cNvPr>
          <p:cNvSpPr txBox="1"/>
          <p:nvPr/>
        </p:nvSpPr>
        <p:spPr>
          <a:xfrm>
            <a:off x="876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输入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X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输出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logits Z
Sigmoid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得概率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2DC31FF-EF00-5C6D-4321-23300EDB3BCB}"/>
              </a:ext>
            </a:extLst>
          </p:cNvPr>
          <p:cNvSpPr/>
          <p:nvPr/>
        </p:nvSpPr>
        <p:spPr>
          <a:xfrm>
            <a:off x="3492500" y="1905000"/>
            <a:ext cx="2286000" cy="2794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F890751-3345-DD8F-033F-4AB453EC4EEC}"/>
              </a:ext>
            </a:extLst>
          </p:cNvPr>
          <p:cNvSpPr txBox="1"/>
          <p:nvPr/>
        </p:nvSpPr>
        <p:spPr>
          <a:xfrm>
            <a:off x="3670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2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阈值化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20ED83A-8E5E-34BB-1855-C056DF989C86}"/>
              </a:ext>
            </a:extLst>
          </p:cNvPr>
          <p:cNvSpPr txBox="1"/>
          <p:nvPr/>
        </p:nvSpPr>
        <p:spPr>
          <a:xfrm>
            <a:off x="3670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P(x,y) &gt; τ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则预测为感染区域
否则为背景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F7F08FF-49A8-7DE3-6204-062A91AD457C}"/>
              </a:ext>
            </a:extLst>
          </p:cNvPr>
          <p:cNvSpPr/>
          <p:nvPr/>
        </p:nvSpPr>
        <p:spPr>
          <a:xfrm>
            <a:off x="6286500" y="1905000"/>
            <a:ext cx="2286000" cy="2794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900180E-E45B-560B-27C2-920E88F618A4}"/>
              </a:ext>
            </a:extLst>
          </p:cNvPr>
          <p:cNvSpPr txBox="1"/>
          <p:nvPr/>
        </p:nvSpPr>
        <p:spPr>
          <a:xfrm>
            <a:off x="6464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3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连通域过滤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7D33B0B-3295-1B7F-56C8-5B918BDACAA1}"/>
              </a:ext>
            </a:extLst>
          </p:cNvPr>
          <p:cNvSpPr txBox="1"/>
          <p:nvPr/>
        </p:nvSpPr>
        <p:spPr>
          <a:xfrm>
            <a:off x="6464300" y="2476500"/>
            <a:ext cx="1930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删除面积小于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min_area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的小碎片，降低噪声误检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30CC1AF-EDF8-F4BE-299B-CCD0CAF03701}"/>
              </a:ext>
            </a:extLst>
          </p:cNvPr>
          <p:cNvSpPr/>
          <p:nvPr/>
        </p:nvSpPr>
        <p:spPr>
          <a:xfrm>
            <a:off x="9080500" y="1905000"/>
            <a:ext cx="2286000" cy="2794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3F84ED7-9EE5-48C5-8BBC-A4A9B8A772A4}"/>
              </a:ext>
            </a:extLst>
          </p:cNvPr>
          <p:cNvSpPr txBox="1"/>
          <p:nvPr/>
        </p:nvSpPr>
        <p:spPr>
          <a:xfrm>
            <a:off x="9258300" y="2057400"/>
            <a:ext cx="19304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Step 4
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可视化与评估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7B1CB4B-C9CC-6DAE-B9CF-D46D6437B776}"/>
              </a:ext>
            </a:extLst>
          </p:cNvPr>
          <p:cNvSpPr txBox="1"/>
          <p:nvPr/>
        </p:nvSpPr>
        <p:spPr>
          <a:xfrm>
            <a:off x="9258300" y="2476500"/>
            <a:ext cx="1930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Mask / Overlay / Error Map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计算四个指标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EBA3713-CDB5-8FFE-BA3B-EFB16EEF3844}"/>
              </a:ext>
            </a:extLst>
          </p:cNvPr>
          <p:cNvCxnSpPr/>
          <p:nvPr/>
        </p:nvCxnSpPr>
        <p:spPr>
          <a:xfrm>
            <a:off x="2984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513CA84F-4B0F-AF56-6DBC-02E88E199E13}"/>
              </a:ext>
            </a:extLst>
          </p:cNvPr>
          <p:cNvCxnSpPr/>
          <p:nvPr/>
        </p:nvCxnSpPr>
        <p:spPr>
          <a:xfrm>
            <a:off x="5778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FD57692-E3B2-B5F6-1EE4-C31122883649}"/>
              </a:ext>
            </a:extLst>
          </p:cNvPr>
          <p:cNvCxnSpPr/>
          <p:nvPr/>
        </p:nvCxnSpPr>
        <p:spPr>
          <a:xfrm>
            <a:off x="8572500" y="3302000"/>
            <a:ext cx="508000" cy="0"/>
          </a:xfrm>
          <a:prstGeom prst="line">
            <a:avLst/>
          </a:prstGeom>
          <a:ln w="25400">
            <a:solidFill>
              <a:srgbClr val="475569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83C73571-D1EA-8997-1149-C0C3A91627F1}"/>
              </a:ext>
            </a:extLst>
          </p:cNvPr>
          <p:cNvSpPr txBox="1"/>
          <p:nvPr/>
        </p:nvSpPr>
        <p:spPr>
          <a:xfrm>
            <a:off x="889000" y="5334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本项目最终阈值不是固定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0.5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，而是在验证集上搜索；不同专家模型有各自最优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threshold 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min_area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69360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E259059-E12E-1CA1-C478-36DA7DA1BB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871E02-021D-E414-A1BA-697E81BAAC87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1F448F-D04C-1F3F-17EC-78D37EB580C8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06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后处理公式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1EB12D-FB9D-273F-98CF-D06FAFFA0BE5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二值化和连通域过滤怎么算？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02D32A8-C4E5-509B-C494-7D99F13337F1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这一步决定最终感染面积和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结果。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20BB81-B9A8-52C5-1CD5-A8F45FE44840}"/>
              </a:ext>
            </a:extLst>
          </p:cNvPr>
          <p:cNvSpPr txBox="1"/>
          <p:nvPr/>
        </p:nvSpPr>
        <p:spPr>
          <a:xfrm>
            <a:off x="889000" y="1841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概率图：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34ED61-383F-7D69-7372-05A8ACC02D5F}"/>
              </a:ext>
            </a:extLst>
          </p:cNvPr>
          <p:cNvSpPr txBox="1"/>
          <p:nvPr/>
        </p:nvSpPr>
        <p:spPr>
          <a:xfrm>
            <a:off x="2794000" y="1841500"/>
            <a:ext cx="7874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altLang="zh-CN" sz="2000" b="1">
                <a:solidFill>
                  <a:srgbClr val="2563EB"/>
                </a:solidFill>
                <a:latin typeface="Microsoft YaHei" panose="020B0503020204020204" pitchFamily="34" charset="-122"/>
              </a:rPr>
              <a:t>P(x,y) = sigmoid(Z(x,y))</a:t>
            </a:r>
            <a:endParaRPr lang="zh-CN" altLang="en-US" sz="20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A8FDEA4-D998-5FC5-6D4D-AC6C53517FFE}"/>
              </a:ext>
            </a:extLst>
          </p:cNvPr>
          <p:cNvSpPr txBox="1"/>
          <p:nvPr/>
        </p:nvSpPr>
        <p:spPr>
          <a:xfrm>
            <a:off x="889000" y="2603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二值 </a:t>
            </a:r>
            <a:r>
              <a:rPr lang="en-US" altLang="zh-CN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C7C8450-A8AD-D623-C6AC-4DDC322B809B}"/>
              </a:ext>
            </a:extLst>
          </p:cNvPr>
          <p:cNvSpPr txBox="1"/>
          <p:nvPr/>
        </p:nvSpPr>
        <p:spPr>
          <a:xfrm>
            <a:off x="2794000" y="2603500"/>
            <a:ext cx="838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b="1">
                <a:solidFill>
                  <a:srgbClr val="DC2626"/>
                </a:solidFill>
                <a:latin typeface="Microsoft YaHei" panose="020B0503020204020204" pitchFamily="34" charset="-122"/>
              </a:rPr>
              <a:t>M_hat(x,y) = 1, if P(x,y) &gt; tau;  otherwise 0</a:t>
            </a:r>
            <a:endParaRPr lang="zh-CN" altLang="en-US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AF9D5B-09A0-2993-3F68-668F6C0F21E9}"/>
              </a:ext>
            </a:extLst>
          </p:cNvPr>
          <p:cNvSpPr txBox="1"/>
          <p:nvPr/>
        </p:nvSpPr>
        <p:spPr>
          <a:xfrm>
            <a:off x="889000" y="3365500"/>
            <a:ext cx="190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 b="1">
                <a:solidFill>
                  <a:srgbClr val="0F172A"/>
                </a:solidFill>
                <a:latin typeface="Microsoft YaHei" panose="020B0503020204020204" pitchFamily="34" charset="-122"/>
              </a:rPr>
              <a:t>连通域过滤：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16C8D6D-9E33-AC98-A9DC-C0B3C393755F}"/>
              </a:ext>
            </a:extLst>
          </p:cNvPr>
          <p:cNvSpPr txBox="1"/>
          <p:nvPr/>
        </p:nvSpPr>
        <p:spPr>
          <a:xfrm>
            <a:off x="2794000" y="3365500"/>
            <a:ext cx="838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b="1">
                <a:solidFill>
                  <a:srgbClr val="059669"/>
                </a:solidFill>
                <a:latin typeface="Microsoft YaHei" panose="020B0503020204020204" pitchFamily="34" charset="-122"/>
              </a:rPr>
              <a:t>删除面积 </a:t>
            </a:r>
            <a:r>
              <a:rPr lang="en-US" altLang="zh-CN" b="1">
                <a:solidFill>
                  <a:srgbClr val="059669"/>
                </a:solidFill>
                <a:latin typeface="Microsoft YaHei" panose="020B0503020204020204" pitchFamily="34" charset="-122"/>
              </a:rPr>
              <a:t>Area(C_i) &lt; min_area </a:t>
            </a:r>
            <a:r>
              <a:rPr lang="zh-CN" altLang="en-US" b="1">
                <a:solidFill>
                  <a:srgbClr val="059669"/>
                </a:solidFill>
                <a:latin typeface="Microsoft YaHei" panose="020B0503020204020204" pitchFamily="34" charset="-122"/>
              </a:rPr>
              <a:t>的预测连通块 </a:t>
            </a:r>
            <a:r>
              <a:rPr lang="en-US" altLang="zh-CN" b="1">
                <a:solidFill>
                  <a:srgbClr val="059669"/>
                </a:solidFill>
                <a:latin typeface="Microsoft YaHei" panose="020B0503020204020204" pitchFamily="34" charset="-122"/>
              </a:rPr>
              <a:t>C_i</a:t>
            </a:r>
            <a:endParaRPr lang="zh-CN" altLang="en-US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4484497-5DA9-70FA-5EEF-95CA845A1E83}"/>
              </a:ext>
            </a:extLst>
          </p:cNvPr>
          <p:cNvSpPr/>
          <p:nvPr/>
        </p:nvSpPr>
        <p:spPr>
          <a:xfrm>
            <a:off x="1143000" y="4381500"/>
            <a:ext cx="2921000" cy="12065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9E45327-3BB5-9787-A52D-F92235B1DEA6}"/>
              </a:ext>
            </a:extLst>
          </p:cNvPr>
          <p:cNvSpPr txBox="1"/>
          <p:nvPr/>
        </p:nvSpPr>
        <p:spPr>
          <a:xfrm>
            <a:off x="13208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P(x,y)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6D1E1C1-C5D5-4772-7350-E5A94630AE86}"/>
              </a:ext>
            </a:extLst>
          </p:cNvPr>
          <p:cNvSpPr txBox="1"/>
          <p:nvPr/>
        </p:nvSpPr>
        <p:spPr>
          <a:xfrm>
            <a:off x="1320800" y="4953000"/>
            <a:ext cx="2565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像素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(x,y)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属于感染区域的概率。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80F98BB-50F3-4C81-6D71-80C713B7EF58}"/>
              </a:ext>
            </a:extLst>
          </p:cNvPr>
          <p:cNvSpPr/>
          <p:nvPr/>
        </p:nvSpPr>
        <p:spPr>
          <a:xfrm>
            <a:off x="4635500" y="4381500"/>
            <a:ext cx="2921000" cy="12065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05E80DC-F3D5-9AE9-D73A-BC82674464AA}"/>
              </a:ext>
            </a:extLst>
          </p:cNvPr>
          <p:cNvSpPr txBox="1"/>
          <p:nvPr/>
        </p:nvSpPr>
        <p:spPr>
          <a:xfrm>
            <a:off x="48133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tau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5FDE147-7FDD-B476-DC15-D641A1991DB0}"/>
              </a:ext>
            </a:extLst>
          </p:cNvPr>
          <p:cNvSpPr txBox="1"/>
          <p:nvPr/>
        </p:nvSpPr>
        <p:spPr>
          <a:xfrm>
            <a:off x="4813300" y="49530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阈值。越高越保守，误检减少但漏检可能增加。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E057580-C527-B8A9-7CC0-BDC364C65C5E}"/>
              </a:ext>
            </a:extLst>
          </p:cNvPr>
          <p:cNvSpPr/>
          <p:nvPr/>
        </p:nvSpPr>
        <p:spPr>
          <a:xfrm>
            <a:off x="8128000" y="4381500"/>
            <a:ext cx="2921000" cy="1206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A16C01A-9FE8-6F08-4DA1-0ED64D78F156}"/>
              </a:ext>
            </a:extLst>
          </p:cNvPr>
          <p:cNvSpPr txBox="1"/>
          <p:nvPr/>
        </p:nvSpPr>
        <p:spPr>
          <a:xfrm>
            <a:off x="8305800" y="4533900"/>
            <a:ext cx="2565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min_area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7DB61E6-0035-05A4-F806-552EADE7DBF0}"/>
              </a:ext>
            </a:extLst>
          </p:cNvPr>
          <p:cNvSpPr txBox="1"/>
          <p:nvPr/>
        </p:nvSpPr>
        <p:spPr>
          <a:xfrm>
            <a:off x="8305800" y="4953000"/>
            <a:ext cx="2565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最小连通域面积。用于过滤小噪声点。</a:t>
            </a:r>
          </a:p>
        </p:txBody>
      </p:sp>
    </p:spTree>
    <p:extLst>
      <p:ext uri="{BB962C8B-B14F-4D97-AF65-F5344CB8AC3E}">
        <p14:creationId xmlns:p14="http://schemas.microsoft.com/office/powerpoint/2010/main" val="2126365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F6582D4-FCDB-653A-AE12-FAC17A4A6F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D6BF52C-BCF2-503E-6333-0F99987DDFB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138067-A474-D816-96D6-6D3BFFA0CFEA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07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模型迭代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77084E-53A0-2C92-9C8E-260F3ADA802F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模型路线为什么从单模型转向多专家？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6A4CCFB-77D4-F90F-E799-3A65BD6B2DE2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单一结构改进提升有限，错误类型拆解更有效。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8B9993B7-86C3-4157-18C6-63D951740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970224"/>
              </p:ext>
            </p:extLst>
          </p:nvPr>
        </p:nvGraphicFramePr>
        <p:xfrm>
          <a:off x="698500" y="1905000"/>
          <a:ext cx="10795000" cy="311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750">
                  <a:extLst>
                    <a:ext uri="{9D8B030D-6E8A-4147-A177-3AD203B41FA5}">
                      <a16:colId xmlns:a16="http://schemas.microsoft.com/office/drawing/2014/main" val="3719446607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2705002229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621442700"/>
                    </a:ext>
                  </a:extLst>
                </a:gridCol>
                <a:gridCol w="2698750">
                  <a:extLst>
                    <a:ext uri="{9D8B030D-6E8A-4147-A177-3AD203B41FA5}">
                      <a16:colId xmlns:a16="http://schemas.microsoft.com/office/drawing/2014/main" val="2071847189"/>
                    </a:ext>
                  </a:extLst>
                </a:gridCol>
              </a:tblGrid>
              <a:tr h="6223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阶段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代表方案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结论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4868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基础模型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U-Net / DynUNet / Attention U-Net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建立分割基线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可用但性能有限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874223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系列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v11-v20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窗口注意力、边界、频域、先验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部分提升不稳定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4240951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传统融合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v15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利用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与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UCTRansNet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互补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0.7879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92867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最终优化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多专家门控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按低分错误类型选择专家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0.7959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90929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663551D2-6C52-6745-FDDA-D0CD5EFC3C48}"/>
              </a:ext>
            </a:extLst>
          </p:cNvPr>
          <p:cNvSpPr txBox="1"/>
          <p:nvPr/>
        </p:nvSpPr>
        <p:spPr>
          <a:xfrm>
            <a:off x="889000" y="5461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工程判断：如果某类错误反复出现，就针对这类错误训练专家，而不是继续把所有问题塞给一个模型。</a:t>
            </a:r>
          </a:p>
        </p:txBody>
      </p:sp>
    </p:spTree>
    <p:extLst>
      <p:ext uri="{BB962C8B-B14F-4D97-AF65-F5344CB8AC3E}">
        <p14:creationId xmlns:p14="http://schemas.microsoft.com/office/powerpoint/2010/main" val="3358549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941E5AC-F0B4-E765-9902-C3432F931F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C92058-716D-A721-183B-4D8373C48EDD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D98C453-1169-729E-7261-41DC7A7B95F0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主要模型改动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CC9F73-B100-D94A-9070-0C0FE65FECB2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主要模型到底改在哪里？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ABA674-FC61-3263-D621-91962458299C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最终版不是只改一个网络文件，而是模型结构、训练损失、低分数据划分和门控策略一起改。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C4F7F3C-B1AE-E956-AF73-870357814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630258"/>
              </p:ext>
            </p:extLst>
          </p:nvPr>
        </p:nvGraphicFramePr>
        <p:xfrm>
          <a:off x="482600" y="1778000"/>
          <a:ext cx="11226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2267">
                  <a:extLst>
                    <a:ext uri="{9D8B030D-6E8A-4147-A177-3AD203B41FA5}">
                      <a16:colId xmlns:a16="http://schemas.microsoft.com/office/drawing/2014/main" val="2083763201"/>
                    </a:ext>
                  </a:extLst>
                </a:gridCol>
                <a:gridCol w="3742267">
                  <a:extLst>
                    <a:ext uri="{9D8B030D-6E8A-4147-A177-3AD203B41FA5}">
                      <a16:colId xmlns:a16="http://schemas.microsoft.com/office/drawing/2014/main" val="2806874308"/>
                    </a:ext>
                  </a:extLst>
                </a:gridCol>
                <a:gridCol w="3742267">
                  <a:extLst>
                    <a:ext uri="{9D8B030D-6E8A-4147-A177-3AD203B41FA5}">
                      <a16:colId xmlns:a16="http://schemas.microsoft.com/office/drawing/2014/main" val="3109139919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改动位置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具体内容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解决的问题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459586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src/models/lowdice_refinenet2d.py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LowDiceRefineNet2D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：边缘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频域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坐标先验，高分辨率解码，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SE/ASPP/AttentionMerge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给低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Dice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样本单独建专家模型。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67447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src/train_unet2d_qata.py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hard_case_combo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precision_hard_case_combo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recall_hard_case_combo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boundary_shift_combo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不同专家使用不同损失倾向。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85491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scripts/build_qata_v18_error_expert_manifests.py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的实际错误把低分样本拆成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actual_fp / actual_fn / actual_boundary / actual_all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让训练集和错误类型对应起来。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299694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scripts/eval_lowdice_expert_gate.py</a:t>
                      </a:r>
                      <a:endParaRPr lang="zh-CN" altLang="en-US" sz="9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gate_choice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实现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路由，按错误类型选择 </a:t>
                      </a:r>
                      <a:r>
                        <a:rPr lang="en-US" altLang="zh-CN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 </a:t>
                      </a:r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或对应专家。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避免平均融合，把每个样本交给更合适的模型。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5805171"/>
                  </a:ext>
                </a:extLst>
              </a:tr>
            </a:tbl>
          </a:graphicData>
        </a:graphic>
      </p:graphicFrame>
      <p:sp>
        <p:nvSpPr>
          <p:cNvPr id="8" name="矩形: 圆角 7">
            <a:extLst>
              <a:ext uri="{FF2B5EF4-FFF2-40B4-BE49-F238E27FC236}">
                <a16:creationId xmlns:a16="http://schemas.microsoft.com/office/drawing/2014/main" id="{8F6FE030-8E75-A203-4DF5-B85271392A1A}"/>
              </a:ext>
            </a:extLst>
          </p:cNvPr>
          <p:cNvSpPr/>
          <p:nvPr/>
        </p:nvSpPr>
        <p:spPr>
          <a:xfrm>
            <a:off x="1397000" y="5715000"/>
            <a:ext cx="9398000" cy="6858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B2F30C-1DA7-F766-F21E-8834D2C547C3}"/>
              </a:ext>
            </a:extLst>
          </p:cNvPr>
          <p:cNvSpPr txBox="1"/>
          <p:nvPr/>
        </p:nvSpPr>
        <p:spPr>
          <a:xfrm>
            <a:off x="1574800" y="5867400"/>
            <a:ext cx="9042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一句话总结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EB10F5A-393E-B6A2-76A8-CAB4532CC4A8}"/>
              </a:ext>
            </a:extLst>
          </p:cNvPr>
          <p:cNvSpPr txBox="1"/>
          <p:nvPr/>
        </p:nvSpPr>
        <p:spPr>
          <a:xfrm>
            <a:off x="1574800" y="6286500"/>
            <a:ext cx="9042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最终模型改动点是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LowDice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专家池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+ v18-aware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门控路由，不是单纯把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换成一个新模型。</a:t>
            </a:r>
          </a:p>
        </p:txBody>
      </p:sp>
    </p:spTree>
    <p:extLst>
      <p:ext uri="{BB962C8B-B14F-4D97-AF65-F5344CB8AC3E}">
        <p14:creationId xmlns:p14="http://schemas.microsoft.com/office/powerpoint/2010/main" val="3353279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1E3BE37-7F5E-8C8F-224F-312A5590A8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FB655A-0FF1-40EB-CAA8-D5FC3805455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59DBEF-51A4-FD01-FEB3-9D9F9849EEC2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08 v18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基线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8E0D43-4AB7-69B7-6F84-D39756A2BF95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TransUNet2D v18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扮演什么角色？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24765C-5F3D-B719-3FC1-4B164B4D2115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它是最终门控策略的基准模型和常规样本默认输出。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C6D51E9-4DC9-4C2E-6E3E-64045A0056D5}"/>
              </a:ext>
            </a:extLst>
          </p:cNvPr>
          <p:cNvSpPr/>
          <p:nvPr/>
        </p:nvSpPr>
        <p:spPr>
          <a:xfrm>
            <a:off x="9525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AD30986-FCF4-372A-7F57-D8F9DC56D809}"/>
              </a:ext>
            </a:extLst>
          </p:cNvPr>
          <p:cNvSpPr txBox="1"/>
          <p:nvPr/>
        </p:nvSpPr>
        <p:spPr>
          <a:xfrm>
            <a:off x="11303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AA30DB-2097-60B3-B3CA-0D0E4F572CB0}"/>
              </a:ext>
            </a:extLst>
          </p:cNvPr>
          <p:cNvSpPr txBox="1"/>
          <p:nvPr/>
        </p:nvSpPr>
        <p:spPr>
          <a:xfrm>
            <a:off x="11303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0.7740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25FE74-9E46-20C6-2163-2D4C6B80D705}"/>
              </a:ext>
            </a:extLst>
          </p:cNvPr>
          <p:cNvSpPr txBox="1"/>
          <p:nvPr/>
        </p:nvSpPr>
        <p:spPr>
          <a:xfrm>
            <a:off x="11303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v18 baseline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2F94DE7-4A04-4CD4-FEE2-9178B9520A79}"/>
              </a:ext>
            </a:extLst>
          </p:cNvPr>
          <p:cNvSpPr/>
          <p:nvPr/>
        </p:nvSpPr>
        <p:spPr>
          <a:xfrm>
            <a:off x="46990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E12899-F1BD-CE60-AEBC-5D2EF4AF7C8C}"/>
              </a:ext>
            </a:extLst>
          </p:cNvPr>
          <p:cNvSpPr txBox="1"/>
          <p:nvPr/>
        </p:nvSpPr>
        <p:spPr>
          <a:xfrm>
            <a:off x="48768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低分样本数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EDAE6F3-C07E-6CCB-DFE3-DF9740E30854}"/>
              </a:ext>
            </a:extLst>
          </p:cNvPr>
          <p:cNvSpPr txBox="1"/>
          <p:nvPr/>
        </p:nvSpPr>
        <p:spPr>
          <a:xfrm>
            <a:off x="48768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C2626"/>
                </a:solidFill>
                <a:latin typeface="Microsoft YaHei" panose="020B0503020204020204" pitchFamily="34" charset="-122"/>
              </a:rPr>
              <a:t>158</a:t>
            </a:r>
            <a:endParaRPr lang="zh-CN" altLang="en-US" sz="24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6024546-0FA3-84A6-3BD4-ED0EBAA064A5}"/>
              </a:ext>
            </a:extLst>
          </p:cNvPr>
          <p:cNvSpPr txBox="1"/>
          <p:nvPr/>
        </p:nvSpPr>
        <p:spPr>
          <a:xfrm>
            <a:off x="48768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 &lt; 0.60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88B3C8A-F153-0D33-3B3F-88056E16CEC0}"/>
              </a:ext>
            </a:extLst>
          </p:cNvPr>
          <p:cNvSpPr/>
          <p:nvPr/>
        </p:nvSpPr>
        <p:spPr>
          <a:xfrm>
            <a:off x="8445500" y="1905000"/>
            <a:ext cx="2794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5210019-6C4A-FBA4-DEA6-DDACA047CCD8}"/>
              </a:ext>
            </a:extLst>
          </p:cNvPr>
          <p:cNvSpPr txBox="1"/>
          <p:nvPr/>
        </p:nvSpPr>
        <p:spPr>
          <a:xfrm>
            <a:off x="8623300" y="2044700"/>
            <a:ext cx="2438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低分均值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8EBDCD2-FF77-8C73-E9B9-F639339151ED}"/>
              </a:ext>
            </a:extLst>
          </p:cNvPr>
          <p:cNvSpPr txBox="1"/>
          <p:nvPr/>
        </p:nvSpPr>
        <p:spPr>
          <a:xfrm>
            <a:off x="8623300" y="2298700"/>
            <a:ext cx="2438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97706"/>
                </a:solidFill>
                <a:latin typeface="Microsoft YaHei" panose="020B0503020204020204" pitchFamily="34" charset="-122"/>
              </a:rPr>
              <a:t>0.4033</a:t>
            </a:r>
            <a:endParaRPr lang="zh-CN" altLang="en-US" sz="24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04651C0-459E-6CDC-A601-AED2A168295E}"/>
              </a:ext>
            </a:extLst>
          </p:cNvPr>
          <p:cNvSpPr txBox="1"/>
          <p:nvPr/>
        </p:nvSpPr>
        <p:spPr>
          <a:xfrm>
            <a:off x="8623300" y="2768600"/>
            <a:ext cx="2438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困难样本平均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9E51391-7D7A-2110-027F-D2D52D4F08BF}"/>
              </a:ext>
            </a:extLst>
          </p:cNvPr>
          <p:cNvSpPr/>
          <p:nvPr/>
        </p:nvSpPr>
        <p:spPr>
          <a:xfrm>
            <a:off x="1270000" y="3937000"/>
            <a:ext cx="9652000" cy="1270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3FF2264-DEEE-C6AA-936F-69459830F81D}"/>
              </a:ext>
            </a:extLst>
          </p:cNvPr>
          <p:cNvSpPr txBox="1"/>
          <p:nvPr/>
        </p:nvSpPr>
        <p:spPr>
          <a:xfrm>
            <a:off x="1447800" y="4089400"/>
            <a:ext cx="929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为什么还保留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v18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？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E97F950-0B25-C2E7-52ED-35C4E4E623AF}"/>
              </a:ext>
            </a:extLst>
          </p:cNvPr>
          <p:cNvSpPr txBox="1"/>
          <p:nvPr/>
        </p:nvSpPr>
        <p:spPr>
          <a:xfrm>
            <a:off x="1447800" y="4508500"/>
            <a:ext cx="9296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虽然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在低分样本上不够好，但它在部分边界偏移样本上比专家更稳。因此最终策略不是完全替换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，而是让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成为可回退的专家之一。</a:t>
            </a:r>
          </a:p>
        </p:txBody>
      </p:sp>
    </p:spTree>
    <p:extLst>
      <p:ext uri="{BB962C8B-B14F-4D97-AF65-F5344CB8AC3E}">
        <p14:creationId xmlns:p14="http://schemas.microsoft.com/office/powerpoint/2010/main" val="2487065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D2E8C88-F402-EBAF-DEA9-2D2664CF79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660F53-1C88-2959-14B1-14EA4CB809A7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9D276E-797C-1E18-6B1B-372C5D75921A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09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低分样本分析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5E8AC5-93F0-DCE4-E3A1-9CA6DAE2DA6D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158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个低分样本错在哪里？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C52471-175F-498B-1F86-611FD07B4EDB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用错误类型决定训练哪些专家。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C64A566-F764-5623-E019-A57F038AB72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51000"/>
            <a:ext cx="6096000" cy="342900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4C809E10-3107-9FDE-7F5D-258C49FA8BF6}"/>
              </a:ext>
            </a:extLst>
          </p:cNvPr>
          <p:cNvSpPr/>
          <p:nvPr/>
        </p:nvSpPr>
        <p:spPr>
          <a:xfrm>
            <a:off x="7493000" y="1714500"/>
            <a:ext cx="3810000" cy="8255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D88755-F5B4-C811-C64F-9BC731183B33}"/>
              </a:ext>
            </a:extLst>
          </p:cNvPr>
          <p:cNvSpPr txBox="1"/>
          <p:nvPr/>
        </p:nvSpPr>
        <p:spPr>
          <a:xfrm>
            <a:off x="7670800" y="1866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boundary_or_shift_error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8A915B-2738-FF65-6C95-D540B4D68256}"/>
              </a:ext>
            </a:extLst>
          </p:cNvPr>
          <p:cNvSpPr txBox="1"/>
          <p:nvPr/>
        </p:nvSpPr>
        <p:spPr>
          <a:xfrm>
            <a:off x="7670800" y="2286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49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例：大体位置对，但边界偏移。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30A67C6-D480-CED5-F45C-9782F10E2F65}"/>
              </a:ext>
            </a:extLst>
          </p:cNvPr>
          <p:cNvSpPr/>
          <p:nvPr/>
        </p:nvSpPr>
        <p:spPr>
          <a:xfrm>
            <a:off x="7493000" y="2730500"/>
            <a:ext cx="3810000" cy="8255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6038420-96E5-6090-C3E9-C42940974189}"/>
              </a:ext>
            </a:extLst>
          </p:cNvPr>
          <p:cNvSpPr txBox="1"/>
          <p:nvPr/>
        </p:nvSpPr>
        <p:spPr>
          <a:xfrm>
            <a:off x="7670800" y="2882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over_segmented_fp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2CCD9A2-AB7A-3371-E41F-7244816E9DB3}"/>
              </a:ext>
            </a:extLst>
          </p:cNvPr>
          <p:cNvSpPr txBox="1"/>
          <p:nvPr/>
        </p:nvSpPr>
        <p:spPr>
          <a:xfrm>
            <a:off x="7670800" y="3302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42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例：预测过大，假阳性多。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B4E1084-C752-1C44-15BC-9EAAD0595119}"/>
              </a:ext>
            </a:extLst>
          </p:cNvPr>
          <p:cNvSpPr/>
          <p:nvPr/>
        </p:nvSpPr>
        <p:spPr>
          <a:xfrm>
            <a:off x="7493000" y="3746500"/>
            <a:ext cx="3810000" cy="8255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9CF8D2D-99E5-C2FC-D46B-99701CF8063C}"/>
              </a:ext>
            </a:extLst>
          </p:cNvPr>
          <p:cNvSpPr txBox="1"/>
          <p:nvPr/>
        </p:nvSpPr>
        <p:spPr>
          <a:xfrm>
            <a:off x="7670800" y="3898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under / missed FN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EA39F94-0D30-FCF8-D63E-A900600B4A5E}"/>
              </a:ext>
            </a:extLst>
          </p:cNvPr>
          <p:cNvSpPr txBox="1"/>
          <p:nvPr/>
        </p:nvSpPr>
        <p:spPr>
          <a:xfrm>
            <a:off x="7670800" y="4318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54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例：病灶覆盖不足或完全漏掉。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F4DD877-B2D6-CF25-5AC9-BA3161013848}"/>
              </a:ext>
            </a:extLst>
          </p:cNvPr>
          <p:cNvSpPr/>
          <p:nvPr/>
        </p:nvSpPr>
        <p:spPr>
          <a:xfrm>
            <a:off x="7493000" y="4762500"/>
            <a:ext cx="3810000" cy="825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67395FF-3B43-71AB-CD33-4BEF9018F600}"/>
              </a:ext>
            </a:extLst>
          </p:cNvPr>
          <p:cNvSpPr txBox="1"/>
          <p:nvPr/>
        </p:nvSpPr>
        <p:spPr>
          <a:xfrm>
            <a:off x="7670800" y="4914900"/>
            <a:ext cx="3454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wrong_location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D50A3FA-F886-F7CE-18A8-9C705CDB9B28}"/>
              </a:ext>
            </a:extLst>
          </p:cNvPr>
          <p:cNvSpPr txBox="1"/>
          <p:nvPr/>
        </p:nvSpPr>
        <p:spPr>
          <a:xfrm>
            <a:off x="7670800" y="5334000"/>
            <a:ext cx="34544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例：预测区域与真值几乎无重叠。</a:t>
            </a:r>
          </a:p>
        </p:txBody>
      </p:sp>
    </p:spTree>
    <p:extLst>
      <p:ext uri="{BB962C8B-B14F-4D97-AF65-F5344CB8AC3E}">
        <p14:creationId xmlns:p14="http://schemas.microsoft.com/office/powerpoint/2010/main" val="2663283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855067D-3D66-93B6-2F2E-0A17CCE53C5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A95743E-3576-CB02-5864-867A3315CB2F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0D6E59-C41B-B3BD-8395-75AEBCAB9E0A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10 LowDice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专家池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F10893-3EA5-8B32-21A6-D5D71797135E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每个专家具体解决什么问题？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D62ADE8-A6F7-51EF-4F55-4E990670CB21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不同专家不是分数都高，而是在特定错误类型上更合适。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39C547F-9CDB-4C20-95C6-BD06EEF2F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329387"/>
              </p:ext>
            </p:extLst>
          </p:nvPr>
        </p:nvGraphicFramePr>
        <p:xfrm>
          <a:off x="571500" y="1714500"/>
          <a:ext cx="11049000" cy="419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2250">
                  <a:extLst>
                    <a:ext uri="{9D8B030D-6E8A-4147-A177-3AD203B41FA5}">
                      <a16:colId xmlns:a16="http://schemas.microsoft.com/office/drawing/2014/main" val="1254742453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306627229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4050343314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93364683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专家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训练目标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适合错误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作用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851446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broad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低分样本通用纠错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多数困难样本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稳健替换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95876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precision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减少假阳性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过分割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让预测更保守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7495127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提高召回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明显漏检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扩大病灶覆盖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647888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边界与质心约束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边界偏移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细化边缘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54635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actual-fp/fn/boundary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按 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实际错误划分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极端低分样本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针对性更强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6361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2829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A4ACBCE-B254-2AEB-D83F-8155513936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8AE06F-6567-148C-1628-B7EEB92E1E9A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4285FA3-FCD7-4141-D2D0-213DA2A144A2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最终优化策略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FFCF58D-80C1-00AE-6CEB-5352D5C3E3F6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是什么意思？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AD210B1-5680-C7D4-C055-0D7FC276AD33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不是平均融合，而是按错误类型选择模型。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3DA39E8-4BB6-322C-6A73-2FFE7475B0D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587500"/>
            <a:ext cx="11049000" cy="3937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8B1053E-0428-3E70-A697-88FB567CE5D6}"/>
              </a:ext>
            </a:extLst>
          </p:cNvPr>
          <p:cNvSpPr txBox="1"/>
          <p:nvPr/>
        </p:nvSpPr>
        <p:spPr>
          <a:xfrm>
            <a:off x="787400" y="5842000"/>
            <a:ext cx="10795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核心思想：先让 </a:t>
            </a:r>
            <a:r>
              <a:rPr lang="en-US" altLang="zh-CN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v18 </a:t>
            </a:r>
            <a:r>
              <a:rPr lang="zh-CN" altLang="en-US" sz="1500" b="1">
                <a:solidFill>
                  <a:srgbClr val="334155"/>
                </a:solidFill>
                <a:latin typeface="Microsoft YaHei" panose="020B0503020204020204" pitchFamily="34" charset="-122"/>
              </a:rPr>
              <a:t>给出基线，再对低分困难样本按错误类型选择更合适的专家输出。</a:t>
            </a:r>
          </a:p>
        </p:txBody>
      </p:sp>
    </p:spTree>
    <p:extLst>
      <p:ext uri="{BB962C8B-B14F-4D97-AF65-F5344CB8AC3E}">
        <p14:creationId xmlns:p14="http://schemas.microsoft.com/office/powerpoint/2010/main" val="247946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39ABB2E-B353-1FDB-89FE-3C484C73C3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D62424-F71D-9102-7E43-95C532E21C84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7359E3-0E3D-4DB0-6180-CA99BADAB7DF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门控规则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B4F56BC-BAC8-B580-E052-22A240929ED2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每种错误路由到哪个专家？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87092A-9BA0-5A5B-9EF9-54672BA7C060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这张表就是最终优化策略的含义。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341D15C-C107-8760-2905-FA50351CB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5334105"/>
              </p:ext>
            </p:extLst>
          </p:nvPr>
        </p:nvGraphicFramePr>
        <p:xfrm>
          <a:off x="571500" y="1651000"/>
          <a:ext cx="11049000" cy="425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3000">
                  <a:extLst>
                    <a:ext uri="{9D8B030D-6E8A-4147-A177-3AD203B41FA5}">
                      <a16:colId xmlns:a16="http://schemas.microsoft.com/office/drawing/2014/main" val="4041240935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1911262038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3913273139"/>
                    </a:ext>
                  </a:extLst>
                </a:gridCol>
              </a:tblGrid>
              <a:tr h="607786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错误类型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优先模型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为什么这样选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836575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boundary_or_shift_error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这类样本位置基本对，</a:t>
                      </a:r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边界更稳，避免专家过修正。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0182667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over_segmented_fp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预测区域过大，需要更强的误检抑制。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2469955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under_segmented_fn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actual_fn / boundary / 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真实病灶没覆盖够，需要提高召回或补边界。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148465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mostly_missed_fn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大面积漏检时优先用召回专家。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130053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wrong_location_no_overlap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actual_boundary / precision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预测错位，优先用实际错位样本训练出的专家。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551254"/>
                  </a:ext>
                </a:extLst>
              </a:tr>
              <a:tr h="607786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missed_all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actual_all / actual_fn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完全漏掉时用整体低分专家或漏检专家。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3876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6338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A413298-FA1A-AEBD-6263-0789DBC610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B3B0EC-CCAA-5686-50A4-A8FA08373445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BF7B18-74B8-C1FF-0C67-30454C0DD9C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13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评价指标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76738E2-861D-FDCF-1E22-F4938C34159C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为什么要用四个指标？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84DF41-49FF-3317-D994-B4A1C97548FA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单看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不够，需要同时看误检和漏检。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5739CB4-20BB-EEC0-B57C-69B8C316888E}"/>
              </a:ext>
            </a:extLst>
          </p:cNvPr>
          <p:cNvSpPr/>
          <p:nvPr/>
        </p:nvSpPr>
        <p:spPr>
          <a:xfrm>
            <a:off x="889000" y="1905000"/>
            <a:ext cx="2413000" cy="2413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3D14D0-C8A5-BE22-9914-6E59E207BAD4}"/>
              </a:ext>
            </a:extLst>
          </p:cNvPr>
          <p:cNvSpPr txBox="1"/>
          <p:nvPr/>
        </p:nvSpPr>
        <p:spPr>
          <a:xfrm>
            <a:off x="10668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71A6A6-82C6-5031-CFAA-1F9D6CCE4F37}"/>
              </a:ext>
            </a:extLst>
          </p:cNvPr>
          <p:cNvSpPr txBox="1"/>
          <p:nvPr/>
        </p:nvSpPr>
        <p:spPr>
          <a:xfrm>
            <a:off x="10668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衡量预测区域与真实区域的重叠程度。医学分割最常用。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49159FF-3A22-76F7-08EA-42A1A0116FE7}"/>
              </a:ext>
            </a:extLst>
          </p:cNvPr>
          <p:cNvSpPr/>
          <p:nvPr/>
        </p:nvSpPr>
        <p:spPr>
          <a:xfrm>
            <a:off x="3619500" y="1905000"/>
            <a:ext cx="2413000" cy="2413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084F839-33DE-638E-9287-CCBD2167712A}"/>
              </a:ext>
            </a:extLst>
          </p:cNvPr>
          <p:cNvSpPr txBox="1"/>
          <p:nvPr/>
        </p:nvSpPr>
        <p:spPr>
          <a:xfrm>
            <a:off x="37973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IoU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41CC5B-FC04-0587-DDB1-A09DB6AB24E7}"/>
              </a:ext>
            </a:extLst>
          </p:cNvPr>
          <p:cNvSpPr txBox="1"/>
          <p:nvPr/>
        </p:nvSpPr>
        <p:spPr>
          <a:xfrm>
            <a:off x="37973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交并比，比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更严格，对边界偏移更敏感。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D43C800-C823-A571-DFF9-6F5028810603}"/>
              </a:ext>
            </a:extLst>
          </p:cNvPr>
          <p:cNvSpPr/>
          <p:nvPr/>
        </p:nvSpPr>
        <p:spPr>
          <a:xfrm>
            <a:off x="6350000" y="1905000"/>
            <a:ext cx="2413000" cy="2413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F775CC6-DC76-9904-5199-993B8DA312A1}"/>
              </a:ext>
            </a:extLst>
          </p:cNvPr>
          <p:cNvSpPr txBox="1"/>
          <p:nvPr/>
        </p:nvSpPr>
        <p:spPr>
          <a:xfrm>
            <a:off x="65278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D5F5C5-3E41-9E92-0528-D2AEACC8092A}"/>
              </a:ext>
            </a:extLst>
          </p:cNvPr>
          <p:cNvSpPr txBox="1"/>
          <p:nvPr/>
        </p:nvSpPr>
        <p:spPr>
          <a:xfrm>
            <a:off x="65278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预测为病灶的像素中，有多少是真的。低则误检多。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2CF176A-E972-7965-A5F5-C2E5AAB03B40}"/>
              </a:ext>
            </a:extLst>
          </p:cNvPr>
          <p:cNvSpPr/>
          <p:nvPr/>
        </p:nvSpPr>
        <p:spPr>
          <a:xfrm>
            <a:off x="9080500" y="1905000"/>
            <a:ext cx="2413000" cy="2413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93CC6A7-E640-D14A-24DD-FD54CC9C9EC1}"/>
              </a:ext>
            </a:extLst>
          </p:cNvPr>
          <p:cNvSpPr txBox="1"/>
          <p:nvPr/>
        </p:nvSpPr>
        <p:spPr>
          <a:xfrm>
            <a:off x="9258300" y="2057400"/>
            <a:ext cx="2057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</a:t>
            </a:r>
            <a:endParaRPr lang="zh-CN" altLang="en-US" sz="15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6FE0204-C125-833C-97B0-E1E9778F4215}"/>
              </a:ext>
            </a:extLst>
          </p:cNvPr>
          <p:cNvSpPr txBox="1"/>
          <p:nvPr/>
        </p:nvSpPr>
        <p:spPr>
          <a:xfrm>
            <a:off x="9258300" y="2476500"/>
            <a:ext cx="2057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真实病灶像素中，有多少被找出来。低则漏检多。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1C074D4-1B62-06EC-570A-544CBCDAB839}"/>
              </a:ext>
            </a:extLst>
          </p:cNvPr>
          <p:cNvSpPr txBox="1"/>
          <p:nvPr/>
        </p:nvSpPr>
        <p:spPr>
          <a:xfrm>
            <a:off x="889000" y="5207000"/>
            <a:ext cx="10414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四者关系：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Dice/IoU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看整体重叠；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关注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关注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。最终模型要在误检和漏检之间折中。</a:t>
            </a:r>
          </a:p>
        </p:txBody>
      </p:sp>
    </p:spTree>
    <p:extLst>
      <p:ext uri="{BB962C8B-B14F-4D97-AF65-F5344CB8AC3E}">
        <p14:creationId xmlns:p14="http://schemas.microsoft.com/office/powerpoint/2010/main" val="768311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536402-13DD-BAF6-782F-7BD830359CD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78FDC0-C9E3-4868-AD0B-C2BB489E5494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DF855A3-6376-4798-4C64-D30C35E418A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公式符号说明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A139A6-B2D3-60AE-6CED-7C847362AE5C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公式里的字母分别代表什么？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8561A4-E0DC-85DC-17BC-F9C03BC7743A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先统一符号，再看每个公式。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167BE5A-C40F-4483-70E4-0B948E5C47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217585"/>
              </p:ext>
            </p:extLst>
          </p:nvPr>
        </p:nvGraphicFramePr>
        <p:xfrm>
          <a:off x="1206500" y="1651000"/>
          <a:ext cx="9779000" cy="425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9500">
                  <a:extLst>
                    <a:ext uri="{9D8B030D-6E8A-4147-A177-3AD203B41FA5}">
                      <a16:colId xmlns:a16="http://schemas.microsoft.com/office/drawing/2014/main" val="3285645130"/>
                    </a:ext>
                  </a:extLst>
                </a:gridCol>
                <a:gridCol w="4889500">
                  <a:extLst>
                    <a:ext uri="{9D8B030D-6E8A-4147-A177-3AD203B41FA5}">
                      <a16:colId xmlns:a16="http://schemas.microsoft.com/office/drawing/2014/main" val="768068628"/>
                    </a:ext>
                  </a:extLst>
                </a:gridCol>
              </a:tblGrid>
              <a:tr h="531813"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符号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含义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244924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真实二值掩码。感染区域为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，背景为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979897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M_hat(x,y)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模型预测二值掩码。阈值化后感染区域为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317674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P(x,y)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模型预测的感染概率，范围为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 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到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1007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TP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True Positive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，预测为感染且真实也是感染的像素数。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4491509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FP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False Positive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，预测为感染但真实是背景的像素数。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482566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FN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False Negative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，真实是感染但模型预测为背景的像素数。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7187427"/>
                  </a:ext>
                </a:extLst>
              </a:tr>
              <a:tr h="531813">
                <a:tc>
                  <a:txBody>
                    <a:bodyPr/>
                    <a:lstStyle/>
                    <a:p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epsilon</a:t>
                      </a:r>
                      <a:endParaRPr lang="zh-CN" altLang="en-US" sz="12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很小的平滑项，防止分母为 </a:t>
                      </a:r>
                      <a:r>
                        <a:rPr lang="en-US" altLang="zh-CN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</a:t>
                      </a:r>
                      <a:r>
                        <a:rPr lang="zh-CN" altLang="en-US" sz="12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159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890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96F7DCA-C9C3-AFA0-59C1-8B21B3066A6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68BDB9-EAA3-564F-107A-C1784BD2B849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FD7428-60CA-5D97-A7C4-1D653B1430CF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15 Dice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IoU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6B8C79-D616-774B-7CF1-8ACE95D2285A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重叠类指标怎么算？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366670-B80C-CCBC-9C4D-2B802FF34B19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越接近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，预测和真实区域越一致。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4FACD9-0AFB-BD8B-4062-8AD579B7F8FB}"/>
              </a:ext>
            </a:extLst>
          </p:cNvPr>
          <p:cNvSpPr txBox="1"/>
          <p:nvPr/>
        </p:nvSpPr>
        <p:spPr>
          <a:xfrm>
            <a:off x="889000" y="1905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2563EB"/>
                </a:solidFill>
                <a:latin typeface="Microsoft YaHei" panose="020B0503020204020204" pitchFamily="34" charset="-122"/>
              </a:rPr>
              <a:t>Dice = (2 × TP + epsilon) / (2 × TP + FP + FN + epsilon)</a:t>
            </a:r>
            <a:endParaRPr lang="zh-CN" altLang="en-US" sz="20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2461DA-F0B6-7107-F9E9-90665A4A3C2A}"/>
              </a:ext>
            </a:extLst>
          </p:cNvPr>
          <p:cNvSpPr txBox="1"/>
          <p:nvPr/>
        </p:nvSpPr>
        <p:spPr>
          <a:xfrm>
            <a:off x="889000" y="2540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2563EB"/>
                </a:solidFill>
                <a:latin typeface="Microsoft YaHei" panose="020B0503020204020204" pitchFamily="34" charset="-122"/>
              </a:rPr>
              <a:t>等价写法：</a:t>
            </a:r>
            <a:r>
              <a:rPr lang="en-US" altLang="zh-CN">
                <a:solidFill>
                  <a:srgbClr val="2563EB"/>
                </a:solidFill>
                <a:latin typeface="Microsoft YaHei" panose="020B0503020204020204" pitchFamily="34" charset="-122"/>
              </a:rPr>
              <a:t>Dice = 2 × |M_hat ∩ M| / (|M_hat| + |M|)</a:t>
            </a:r>
            <a:endParaRPr lang="zh-CN" altLang="en-US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33D1F7E-6F2D-D4CC-573B-D34BDA1E1B4A}"/>
              </a:ext>
            </a:extLst>
          </p:cNvPr>
          <p:cNvSpPr txBox="1"/>
          <p:nvPr/>
        </p:nvSpPr>
        <p:spPr>
          <a:xfrm>
            <a:off x="889000" y="3556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059669"/>
                </a:solidFill>
                <a:latin typeface="Microsoft YaHei" panose="020B0503020204020204" pitchFamily="34" charset="-122"/>
              </a:rPr>
              <a:t>IoU = (TP + epsilon) / (TP + FP + FN + epsilon)</a:t>
            </a:r>
            <a:endParaRPr lang="zh-CN" altLang="en-US" sz="2000" b="1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49AA418-7A77-E040-6FE1-94C797F960C7}"/>
              </a:ext>
            </a:extLst>
          </p:cNvPr>
          <p:cNvSpPr txBox="1"/>
          <p:nvPr/>
        </p:nvSpPr>
        <p:spPr>
          <a:xfrm>
            <a:off x="889000" y="4191000"/>
            <a:ext cx="10541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>
                <a:solidFill>
                  <a:srgbClr val="059669"/>
                </a:solidFill>
                <a:latin typeface="Microsoft YaHei" panose="020B0503020204020204" pitchFamily="34" charset="-122"/>
              </a:rPr>
              <a:t>等价写法：</a:t>
            </a:r>
            <a:r>
              <a:rPr lang="en-US" altLang="zh-CN">
                <a:solidFill>
                  <a:srgbClr val="059669"/>
                </a:solidFill>
                <a:latin typeface="Microsoft YaHei" panose="020B0503020204020204" pitchFamily="34" charset="-122"/>
              </a:rPr>
              <a:t>IoU = |M_hat ∩ M| / |M_hat ∪ M|</a:t>
            </a:r>
            <a:endParaRPr lang="zh-CN" altLang="en-US">
              <a:solidFill>
                <a:srgbClr val="0596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5FEF417-5E97-A56B-087B-B748850092D4}"/>
              </a:ext>
            </a:extLst>
          </p:cNvPr>
          <p:cNvSpPr txBox="1"/>
          <p:nvPr/>
        </p:nvSpPr>
        <p:spPr>
          <a:xfrm>
            <a:off x="1016000" y="53340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解释：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对重叠比较友好；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IoU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分母是并集，因此同样错误下通常比 </a:t>
            </a:r>
            <a:r>
              <a:rPr lang="en-US" altLang="zh-CN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500" b="1">
                <a:solidFill>
                  <a:srgbClr val="475569"/>
                </a:solidFill>
                <a:latin typeface="Microsoft YaHei" panose="020B0503020204020204" pitchFamily="34" charset="-122"/>
              </a:rPr>
              <a:t>更低、更严格。</a:t>
            </a:r>
          </a:p>
        </p:txBody>
      </p:sp>
    </p:spTree>
    <p:extLst>
      <p:ext uri="{BB962C8B-B14F-4D97-AF65-F5344CB8AC3E}">
        <p14:creationId xmlns:p14="http://schemas.microsoft.com/office/powerpoint/2010/main" val="23801856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DE42374-9359-9C2E-1022-CCCD290B56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6705BA-B3AC-EDF5-F19F-AEB931BF1665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7BE620-AD9E-CD30-E9F3-FC009FB7DFB4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16 Precision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Recall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2691EC-345D-6010-77CF-DFFAC359FC1D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误检和漏检怎么算？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77829C-62D1-5843-2360-D4B8AF975C41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这两个指标对应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两类错误。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149AE1-E903-5133-719C-2CA0270058FC}"/>
              </a:ext>
            </a:extLst>
          </p:cNvPr>
          <p:cNvSpPr txBox="1"/>
          <p:nvPr/>
        </p:nvSpPr>
        <p:spPr>
          <a:xfrm>
            <a:off x="889000" y="2032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D97706"/>
                </a:solidFill>
                <a:latin typeface="Microsoft YaHei" panose="020B0503020204020204" pitchFamily="34" charset="-122"/>
              </a:rPr>
              <a:t>Precision = (TP + epsilon) / (TP + FP + epsilon)</a:t>
            </a:r>
            <a:endParaRPr lang="zh-CN" altLang="en-US" sz="2000" b="1">
              <a:solidFill>
                <a:srgbClr val="D9770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AC490F2-ABE9-D44C-3C0E-873E023FEC97}"/>
              </a:ext>
            </a:extLst>
          </p:cNvPr>
          <p:cNvSpPr txBox="1"/>
          <p:nvPr/>
        </p:nvSpPr>
        <p:spPr>
          <a:xfrm>
            <a:off x="1079500" y="26924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含义：模型说是感染的像素中，有多少是真的感染。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低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误检多。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66ED1D-C87F-7ADD-6C5A-19DA21CE5035}"/>
              </a:ext>
            </a:extLst>
          </p:cNvPr>
          <p:cNvSpPr txBox="1"/>
          <p:nvPr/>
        </p:nvSpPr>
        <p:spPr>
          <a:xfrm>
            <a:off x="889000" y="3810000"/>
            <a:ext cx="1054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>
                <a:solidFill>
                  <a:srgbClr val="DC2626"/>
                </a:solidFill>
                <a:latin typeface="Microsoft YaHei" panose="020B0503020204020204" pitchFamily="34" charset="-122"/>
              </a:rPr>
              <a:t>Recall = (TP + epsilon) / (TP + FN + epsilon)</a:t>
            </a:r>
            <a:endParaRPr lang="zh-CN" altLang="en-US" sz="20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E5FA6F-87DC-15C2-2075-3F75D5C2FBB7}"/>
              </a:ext>
            </a:extLst>
          </p:cNvPr>
          <p:cNvSpPr txBox="1"/>
          <p:nvPr/>
        </p:nvSpPr>
        <p:spPr>
          <a:xfrm>
            <a:off x="1079500" y="44704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含义：真实感染像素中，有多少被模型找出来。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低 </a:t>
            </a:r>
            <a:r>
              <a:rPr lang="en-US" altLang="zh-CN" sz="1500">
                <a:solidFill>
                  <a:srgbClr val="475569"/>
                </a:solidFill>
                <a:latin typeface="Microsoft YaHei" panose="020B0503020204020204" pitchFamily="34" charset="-122"/>
              </a:rPr>
              <a:t>-&gt; </a:t>
            </a:r>
            <a:r>
              <a:rPr lang="zh-CN" altLang="en-US" sz="1500">
                <a:solidFill>
                  <a:srgbClr val="475569"/>
                </a:solidFill>
                <a:latin typeface="Microsoft YaHei" panose="020B0503020204020204" pitchFamily="34" charset="-122"/>
              </a:rPr>
              <a:t>漏检多。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E31A2CD-F010-0CF5-6C47-05EE849A5C50}"/>
              </a:ext>
            </a:extLst>
          </p:cNvPr>
          <p:cNvSpPr txBox="1"/>
          <p:nvPr/>
        </p:nvSpPr>
        <p:spPr>
          <a:xfrm>
            <a:off x="1016000" y="5461000"/>
            <a:ext cx="10160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为什么低分专家要分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/ recall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：过分割主要看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，漏分割主要看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，优化方向相反。</a:t>
            </a:r>
          </a:p>
        </p:txBody>
      </p:sp>
    </p:spTree>
    <p:extLst>
      <p:ext uri="{BB962C8B-B14F-4D97-AF65-F5344CB8AC3E}">
        <p14:creationId xmlns:p14="http://schemas.microsoft.com/office/powerpoint/2010/main" val="929293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6FDF7C7-209F-1DB5-BF24-A662BCA3ED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8146A7-4985-07B5-FF84-9E6515465A87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5DD6FBD-3501-F669-9C8D-7ED255A400D5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17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损失函数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B211DE-880A-8238-3341-EBE8F68ECC09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训练时模型靠什么学习？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A562911-601E-EEA5-0A1E-51A5C090575D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用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Dice/Focal/Tversky/Boundary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等损失组合处理类别不平衡和困难边界。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BB22A51-8D01-9F1D-57FD-100375BE1DCF}"/>
              </a:ext>
            </a:extLst>
          </p:cNvPr>
          <p:cNvSpPr txBox="1"/>
          <p:nvPr/>
        </p:nvSpPr>
        <p:spPr>
          <a:xfrm>
            <a:off x="762000" y="1841500"/>
            <a:ext cx="10795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Soft Dice Loss = 1 - (2 × 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Σ(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P × M) + epsilon) / (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P + </a:t>
            </a:r>
            <a:r>
              <a:rPr lang="el-GR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Σ</a:t>
            </a:r>
            <a:r>
              <a:rPr lang="en-US" altLang="zh-CN" sz="1700" b="1">
                <a:solidFill>
                  <a:srgbClr val="2563EB"/>
                </a:solidFill>
                <a:latin typeface="Microsoft YaHei" panose="020B0503020204020204" pitchFamily="34" charset="-122"/>
              </a:rPr>
              <a:t>M + epsilon)</a:t>
            </a:r>
            <a:endParaRPr lang="zh-CN" altLang="en-US" sz="17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B9E683-B216-1B12-B28D-65097384C7B7}"/>
              </a:ext>
            </a:extLst>
          </p:cNvPr>
          <p:cNvSpPr txBox="1"/>
          <p:nvPr/>
        </p:nvSpPr>
        <p:spPr>
          <a:xfrm>
            <a:off x="762000" y="2603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D97706"/>
                </a:solidFill>
                <a:latin typeface="Microsoft YaHei" panose="020B0503020204020204" pitchFamily="34" charset="-122"/>
              </a:rPr>
              <a:t>Focal Loss</a:t>
            </a:r>
            <a:r>
              <a:rPr lang="zh-CN" altLang="en-US" sz="1600" b="1">
                <a:solidFill>
                  <a:srgbClr val="D97706"/>
                </a:solidFill>
                <a:latin typeface="Microsoft YaHei" panose="020B0503020204020204" pitchFamily="34" charset="-122"/>
              </a:rPr>
              <a:t>：降低易分类背景像素权重，让模型更关注难分像素。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15FF9F-E6B5-95AF-1EAB-00AD4736E74F}"/>
              </a:ext>
            </a:extLst>
          </p:cNvPr>
          <p:cNvSpPr txBox="1"/>
          <p:nvPr/>
        </p:nvSpPr>
        <p:spPr>
          <a:xfrm>
            <a:off x="762000" y="3365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Tversky Loss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：通过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alpha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beta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调整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FP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FN </a:t>
            </a:r>
            <a:r>
              <a:rPr lang="zh-CN" altLang="en-US" sz="1600" b="1">
                <a:solidFill>
                  <a:srgbClr val="7C3AED"/>
                </a:solidFill>
                <a:latin typeface="Microsoft YaHei" panose="020B0503020204020204" pitchFamily="34" charset="-122"/>
              </a:rPr>
              <a:t>的惩罚强度。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2B3D6B2-4B58-8514-3EE1-CCE7F7B2FE97}"/>
              </a:ext>
            </a:extLst>
          </p:cNvPr>
          <p:cNvSpPr txBox="1"/>
          <p:nvPr/>
        </p:nvSpPr>
        <p:spPr>
          <a:xfrm>
            <a:off x="762000" y="41275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 b="1">
                <a:solidFill>
                  <a:srgbClr val="059669"/>
                </a:solidFill>
                <a:latin typeface="Microsoft YaHei" panose="020B0503020204020204" pitchFamily="34" charset="-122"/>
              </a:rPr>
              <a:t>Boundary Loss</a:t>
            </a:r>
            <a:r>
              <a:rPr lang="zh-CN" altLang="en-US" sz="1600" b="1">
                <a:solidFill>
                  <a:srgbClr val="059669"/>
                </a:solidFill>
                <a:latin typeface="Microsoft YaHei" panose="020B0503020204020204" pitchFamily="34" charset="-122"/>
              </a:rPr>
              <a:t>：对边界带区域加权，缓解病灶边缘模糊导致的偏移。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88B84C4-8547-0189-14D8-FB45CB8C3ABF}"/>
              </a:ext>
            </a:extLst>
          </p:cNvPr>
          <p:cNvSpPr txBox="1"/>
          <p:nvPr/>
        </p:nvSpPr>
        <p:spPr>
          <a:xfrm>
            <a:off x="952500" y="5334000"/>
            <a:ext cx="10287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本项目不同专家使用不同损失倾向：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专家更抑制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专家更抑制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boundary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专家更重视边界。</a:t>
            </a:r>
          </a:p>
        </p:txBody>
      </p:sp>
    </p:spTree>
    <p:extLst>
      <p:ext uri="{BB962C8B-B14F-4D97-AF65-F5344CB8AC3E}">
        <p14:creationId xmlns:p14="http://schemas.microsoft.com/office/powerpoint/2010/main" val="25233227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8C9882-A9EB-4CBB-028C-81B893B7C5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B7C1BB-70BA-3733-7033-6374F907D87B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8BF48C-E988-4883-D299-7B814758D5F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论文结果表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80C79C-5CA1-9353-343A-4CBC15D21D7A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论文里的最终结果表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6CFC1C4-5E4E-6947-245C-D3141B3604C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公式讲完后再看结果表，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IoU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Precision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的含义更清楚。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CEE8EF0-C2EC-FB5C-2312-59C07E46C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887156"/>
              </p:ext>
            </p:extLst>
          </p:nvPr>
        </p:nvGraphicFramePr>
        <p:xfrm>
          <a:off x="698500" y="1714500"/>
          <a:ext cx="10795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000">
                  <a:extLst>
                    <a:ext uri="{9D8B030D-6E8A-4147-A177-3AD203B41FA5}">
                      <a16:colId xmlns:a16="http://schemas.microsoft.com/office/drawing/2014/main" val="2785163349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336269187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318103101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2440623557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391762353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方法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IoU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Precision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Recall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255465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TransUNet2D v14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0.7755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0.6708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0.7771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0.8344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73953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UCTRansNet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0.7777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0.6722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0.7640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0.8542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31949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v15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概率级融合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0.7879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0.6851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0.7831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0.8482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60634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TransUNet2D v18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0.7740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0.6691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0.7894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0.8177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645253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 broad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专家替换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0.7850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0.6792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0.7948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0.8250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83903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多专家门控（最终）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0.7959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0.6893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0.7988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0.8303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21298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Oracle </a:t>
                      </a:r>
                      <a:r>
                        <a:rPr lang="zh-CN" altLang="en-US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上限（分析）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0.8129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-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-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-</a:t>
                      </a:r>
                      <a:endParaRPr lang="zh-CN" altLang="en-US" sz="10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0753416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454C0E6-1DA9-6077-A973-75153EB1A0BF}"/>
              </a:ext>
            </a:extLst>
          </p:cNvPr>
          <p:cNvSpPr txBox="1"/>
          <p:nvPr/>
        </p:nvSpPr>
        <p:spPr>
          <a:xfrm>
            <a:off x="889000" y="5816600"/>
            <a:ext cx="1041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写论文和答辩时：最终可部署结果写 </a:t>
            </a:r>
            <a:r>
              <a:rPr lang="en-US" altLang="zh-CN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v18-aware </a:t>
            </a:r>
            <a:r>
              <a:rPr lang="zh-CN" altLang="en-US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多专家门控；</a:t>
            </a:r>
            <a:r>
              <a:rPr lang="en-US" altLang="zh-CN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Oracle </a:t>
            </a:r>
            <a:r>
              <a:rPr lang="zh-CN" altLang="en-US" sz="1400" b="1">
                <a:solidFill>
                  <a:srgbClr val="DC2626"/>
                </a:solidFill>
                <a:latin typeface="Microsoft YaHei" panose="020B0503020204020204" pitchFamily="34" charset="-122"/>
              </a:rPr>
              <a:t>只作为专家池潜力分析，不当作真实部署成绩。</a:t>
            </a:r>
          </a:p>
        </p:txBody>
      </p:sp>
    </p:spTree>
    <p:extLst>
      <p:ext uri="{BB962C8B-B14F-4D97-AF65-F5344CB8AC3E}">
        <p14:creationId xmlns:p14="http://schemas.microsoft.com/office/powerpoint/2010/main" val="1363625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976B09D-F8B4-0438-AC67-ECF86DD5FE3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13649E-0D10-E387-0AF4-344948EAD127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A8B56A-A558-331A-E869-E3F489F3BEEB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全测试集结果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100F1F9-79FB-9B7B-27BB-393B181CA593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最终结果提升多少？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8E0149A-D34B-D41F-0D6A-4E6F38151846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是当前最终版。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33998AB-2CBE-C075-DA27-459D29FF447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587500"/>
            <a:ext cx="6731000" cy="387350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A09B4933-89C3-469A-37D9-C7080A2F6328}"/>
              </a:ext>
            </a:extLst>
          </p:cNvPr>
          <p:cNvSpPr/>
          <p:nvPr/>
        </p:nvSpPr>
        <p:spPr>
          <a:xfrm>
            <a:off x="7874000" y="1752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A9C44E8-3D88-22F5-1341-4D341D9D6CFA}"/>
              </a:ext>
            </a:extLst>
          </p:cNvPr>
          <p:cNvSpPr txBox="1"/>
          <p:nvPr/>
        </p:nvSpPr>
        <p:spPr>
          <a:xfrm>
            <a:off x="8051800" y="1892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v18 Baseline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646D5F3-AD82-A383-4D82-0E0A4E1BC7CA}"/>
              </a:ext>
            </a:extLst>
          </p:cNvPr>
          <p:cNvSpPr txBox="1"/>
          <p:nvPr/>
        </p:nvSpPr>
        <p:spPr>
          <a:xfrm>
            <a:off x="8051800" y="2146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2563EB"/>
                </a:solidFill>
                <a:latin typeface="Microsoft YaHei" panose="020B0503020204020204" pitchFamily="34" charset="-122"/>
              </a:rPr>
              <a:t>0.7740</a:t>
            </a:r>
            <a:endParaRPr lang="zh-CN" altLang="en-US" sz="2400" b="1">
              <a:solidFill>
                <a:srgbClr val="2563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5CD205A-995E-6764-0760-588CFD869044}"/>
              </a:ext>
            </a:extLst>
          </p:cNvPr>
          <p:cNvSpPr txBox="1"/>
          <p:nvPr/>
        </p:nvSpPr>
        <p:spPr>
          <a:xfrm>
            <a:off x="8051800" y="2616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Dice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D2ABF47-2876-D954-F26E-47FAEBAB291C}"/>
              </a:ext>
            </a:extLst>
          </p:cNvPr>
          <p:cNvSpPr/>
          <p:nvPr/>
        </p:nvSpPr>
        <p:spPr>
          <a:xfrm>
            <a:off x="7874000" y="3276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D7EFB1C-BB78-7898-2D05-CFFAAAF15E18}"/>
              </a:ext>
            </a:extLst>
          </p:cNvPr>
          <p:cNvSpPr txBox="1"/>
          <p:nvPr/>
        </p:nvSpPr>
        <p:spPr>
          <a:xfrm>
            <a:off x="8051800" y="3416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v18-aware Gate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74DCD29-1905-526C-304B-318E1F3CBD4B}"/>
              </a:ext>
            </a:extLst>
          </p:cNvPr>
          <p:cNvSpPr txBox="1"/>
          <p:nvPr/>
        </p:nvSpPr>
        <p:spPr>
          <a:xfrm>
            <a:off x="8051800" y="3670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DC2626"/>
                </a:solidFill>
                <a:latin typeface="Microsoft YaHei" panose="020B0503020204020204" pitchFamily="34" charset="-122"/>
              </a:rPr>
              <a:t>0.7959</a:t>
            </a:r>
            <a:endParaRPr lang="zh-CN" altLang="en-US" sz="24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1CDBD18-ACE0-0524-B8FC-EEC0EB762483}"/>
              </a:ext>
            </a:extLst>
          </p:cNvPr>
          <p:cNvSpPr txBox="1"/>
          <p:nvPr/>
        </p:nvSpPr>
        <p:spPr>
          <a:xfrm>
            <a:off x="8051800" y="4140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64748B"/>
                </a:solidFill>
                <a:latin typeface="Microsoft YaHei" panose="020B0503020204020204" pitchFamily="34" charset="-122"/>
              </a:rPr>
              <a:t>+0.0219 vs v18</a:t>
            </a:r>
            <a:endParaRPr lang="zh-CN" altLang="en-US" sz="10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5A5BFD2-7B2A-200E-7F8D-B64F1289BA93}"/>
              </a:ext>
            </a:extLst>
          </p:cNvPr>
          <p:cNvSpPr/>
          <p:nvPr/>
        </p:nvSpPr>
        <p:spPr>
          <a:xfrm>
            <a:off x="7874000" y="4800600"/>
            <a:ext cx="3048000" cy="1193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C2C4A1B-67B8-3612-9B74-4F34C7452FAB}"/>
              </a:ext>
            </a:extLst>
          </p:cNvPr>
          <p:cNvSpPr txBox="1"/>
          <p:nvPr/>
        </p:nvSpPr>
        <p:spPr>
          <a:xfrm>
            <a:off x="8051800" y="4940300"/>
            <a:ext cx="2692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 b="1">
                <a:solidFill>
                  <a:srgbClr val="475569"/>
                </a:solidFill>
                <a:latin typeface="Microsoft YaHei" panose="020B0503020204020204" pitchFamily="34" charset="-122"/>
              </a:rPr>
              <a:t>Oracle Upper</a:t>
            </a:r>
            <a:endParaRPr lang="zh-CN" altLang="en-US" sz="1100" b="1">
              <a:solidFill>
                <a:srgbClr val="475569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B9E03AC-00DC-3EA1-8CF7-D89B794BEECD}"/>
              </a:ext>
            </a:extLst>
          </p:cNvPr>
          <p:cNvSpPr txBox="1"/>
          <p:nvPr/>
        </p:nvSpPr>
        <p:spPr>
          <a:xfrm>
            <a:off x="8051800" y="5194300"/>
            <a:ext cx="26924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400" b="1">
                <a:solidFill>
                  <a:srgbClr val="7C3AED"/>
                </a:solidFill>
                <a:latin typeface="Microsoft YaHei" panose="020B0503020204020204" pitchFamily="34" charset="-122"/>
              </a:rPr>
              <a:t>0.8129</a:t>
            </a:r>
            <a:endParaRPr lang="zh-CN" altLang="en-US" sz="2400" b="1">
              <a:solidFill>
                <a:srgbClr val="7C3AE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715A6D-2847-62EA-16F5-F31D40F76075}"/>
              </a:ext>
            </a:extLst>
          </p:cNvPr>
          <p:cNvSpPr txBox="1"/>
          <p:nvPr/>
        </p:nvSpPr>
        <p:spPr>
          <a:xfrm>
            <a:off x="8051800" y="5664200"/>
            <a:ext cx="26924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64748B"/>
                </a:solidFill>
                <a:latin typeface="Microsoft YaHei" panose="020B0503020204020204" pitchFamily="34" charset="-122"/>
              </a:rPr>
              <a:t>专家池上限分析</a:t>
            </a:r>
          </a:p>
        </p:txBody>
      </p:sp>
    </p:spTree>
    <p:extLst>
      <p:ext uri="{BB962C8B-B14F-4D97-AF65-F5344CB8AC3E}">
        <p14:creationId xmlns:p14="http://schemas.microsoft.com/office/powerpoint/2010/main" val="7040289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AAD63C1-BDBB-0DD5-986E-5F3D547D58C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2CF659-983B-3BDD-B197-D867E2E788FC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E12E4BA-F9CC-98AA-13C3-3E0497A738E3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19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低分样本结果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1D49188-9A3B-809E-B065-0E050A755EC9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低分样本是本轮优化重点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C01223-7EB8-418F-73FB-01FCEB53188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平均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从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0.4033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提升到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0.5319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FD46D73-D25B-DB31-FC24-06D1D430F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866609"/>
              </p:ext>
            </p:extLst>
          </p:nvPr>
        </p:nvGraphicFramePr>
        <p:xfrm>
          <a:off x="825500" y="1714500"/>
          <a:ext cx="105410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5250">
                  <a:extLst>
                    <a:ext uri="{9D8B030D-6E8A-4147-A177-3AD203B41FA5}">
                      <a16:colId xmlns:a16="http://schemas.microsoft.com/office/drawing/2014/main" val="1207361647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1683802946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2955021505"/>
                    </a:ext>
                  </a:extLst>
                </a:gridCol>
                <a:gridCol w="2635250">
                  <a:extLst>
                    <a:ext uri="{9D8B030D-6E8A-4147-A177-3AD203B41FA5}">
                      <a16:colId xmlns:a16="http://schemas.microsoft.com/office/drawing/2014/main" val="25697065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策略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低分子集 </a:t>
                      </a:r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Dice&lt;0.60 </a:t>
                      </a:r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数量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1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680756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 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0.4033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158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原始低分集合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84478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LowDice broad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0.4683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118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通用困难样本专家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89792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Expanded gate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0.5276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91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多专家错误类型门控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80536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v18-aware gate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0.5319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97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边界偏移回退到 </a:t>
                      </a:r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basev18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51223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Oracle </a:t>
                      </a:r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上限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0.6315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61</a:t>
                      </a:r>
                      <a:endParaRPr lang="zh-CN" altLang="en-US" sz="1100">
                        <a:solidFill>
                          <a:srgbClr val="1E293B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>
                          <a:solidFill>
                            <a:srgbClr val="1E293B"/>
                          </a:solidFill>
                          <a:latin typeface="Microsoft YaHei" panose="020B0503020204020204" pitchFamily="34" charset="-122"/>
                        </a:rPr>
                        <a:t>每例选最优专家，仅作上限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704987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5FE235BA-CEB4-5361-EFC5-8B895CEBBA4F}"/>
              </a:ext>
            </a:extLst>
          </p:cNvPr>
          <p:cNvSpPr txBox="1"/>
          <p:nvPr/>
        </p:nvSpPr>
        <p:spPr>
          <a:xfrm>
            <a:off x="952500" y="5524500"/>
            <a:ext cx="102870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注意：</a:t>
            </a:r>
            <a:r>
              <a:rPr lang="en-US" altLang="zh-CN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Oracle </a:t>
            </a:r>
            <a:r>
              <a:rPr lang="zh-CN" altLang="en-US" sz="1500" b="1">
                <a:solidFill>
                  <a:srgbClr val="DC2626"/>
                </a:solidFill>
                <a:latin typeface="Microsoft YaHei" panose="020B0503020204020204" pitchFamily="34" charset="-122"/>
              </a:rPr>
              <a:t>上限不是可部署策略，只用于说明专家池还有潜力；真实部署还需要无真值门控分类器。</a:t>
            </a:r>
          </a:p>
        </p:txBody>
      </p:sp>
    </p:spTree>
    <p:extLst>
      <p:ext uri="{BB962C8B-B14F-4D97-AF65-F5344CB8AC3E}">
        <p14:creationId xmlns:p14="http://schemas.microsoft.com/office/powerpoint/2010/main" val="13938064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5C38B64-4FD8-5217-419C-7C47AB14DE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A2403B-F8A3-A6CF-8D41-8C5AD10E4DEE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A47CC4-1890-160F-292C-9677AF32CDA6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21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可视化样例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07C2BD-E0BD-9B34-C93C-A314332191E1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高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和低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样本对比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BBD417-3920-BD70-943D-E6409C2D4C18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Original / Ground Truth / Prediction / Overlay / Error Map</a:t>
            </a:r>
            <a:endParaRPr lang="zh-CN" altLang="en-US" sz="1400">
              <a:solidFill>
                <a:srgbClr val="64748B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2C4291B-F394-3D76-CAEB-142F72E11F5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524000"/>
            <a:ext cx="5334000" cy="28575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8662D3E-DDF4-F4F5-3AC5-EBFED565C03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1524000"/>
            <a:ext cx="5334000" cy="28575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CC2E4CC-450E-C9C4-92C8-4F17C973BB6C}"/>
              </a:ext>
            </a:extLst>
          </p:cNvPr>
          <p:cNvSpPr txBox="1"/>
          <p:nvPr/>
        </p:nvSpPr>
        <p:spPr>
          <a:xfrm>
            <a:off x="736600" y="4699000"/>
            <a:ext cx="2540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300" b="1">
                <a:solidFill>
                  <a:srgbClr val="0F172A"/>
                </a:solidFill>
                <a:latin typeface="Microsoft YaHei" panose="020B0503020204020204" pitchFamily="34" charset="-122"/>
              </a:rPr>
              <a:t>颜色含义直接按图理解：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0C6371-6631-F0BD-3086-0312CE8DE9E4}"/>
              </a:ext>
            </a:extLst>
          </p:cNvPr>
          <p:cNvSpPr/>
          <p:nvPr/>
        </p:nvSpPr>
        <p:spPr>
          <a:xfrm>
            <a:off x="762000" y="5156200"/>
            <a:ext cx="203200" cy="203200"/>
          </a:xfrm>
          <a:prstGeom prst="rect">
            <a:avLst/>
          </a:prstGeom>
          <a:solidFill>
            <a:srgbClr val="EF4444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7369451-D87A-0455-6079-A6E0A0A3EAD6}"/>
              </a:ext>
            </a:extLst>
          </p:cNvPr>
          <p:cNvSpPr txBox="1"/>
          <p:nvPr/>
        </p:nvSpPr>
        <p:spPr>
          <a:xfrm>
            <a:off x="1054100" y="51054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红色填充：预测感染区域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EEC206D-0068-F820-D2A7-F82C9DF5E065}"/>
              </a:ext>
            </a:extLst>
          </p:cNvPr>
          <p:cNvSpPr/>
          <p:nvPr/>
        </p:nvSpPr>
        <p:spPr>
          <a:xfrm>
            <a:off x="4572000" y="5156200"/>
            <a:ext cx="203200" cy="203200"/>
          </a:xfrm>
          <a:prstGeom prst="rect">
            <a:avLst/>
          </a:prstGeom>
          <a:solidFill>
            <a:srgbClr val="EAB308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9AB22D0-DC93-E7D8-4F38-47AED938E171}"/>
              </a:ext>
            </a:extLst>
          </p:cNvPr>
          <p:cNvSpPr txBox="1"/>
          <p:nvPr/>
        </p:nvSpPr>
        <p:spPr>
          <a:xfrm>
            <a:off x="4864100" y="51054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黄色轮廓：真实标注 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GT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边界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971BB9-1250-E266-2477-11CF34AE7DE7}"/>
              </a:ext>
            </a:extLst>
          </p:cNvPr>
          <p:cNvSpPr/>
          <p:nvPr/>
        </p:nvSpPr>
        <p:spPr>
          <a:xfrm>
            <a:off x="8382000" y="5156200"/>
            <a:ext cx="203200" cy="203200"/>
          </a:xfrm>
          <a:prstGeom prst="rect">
            <a:avLst/>
          </a:prstGeom>
          <a:solidFill>
            <a:srgbClr val="06B6D4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6CEA188-5D56-3069-99EC-EE291126D2A0}"/>
              </a:ext>
            </a:extLst>
          </p:cNvPr>
          <p:cNvSpPr txBox="1"/>
          <p:nvPr/>
        </p:nvSpPr>
        <p:spPr>
          <a:xfrm>
            <a:off x="8674100" y="51054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青色轮廓：预测边界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F21709C-5E4B-0987-57C1-279CFEDE2C50}"/>
              </a:ext>
            </a:extLst>
          </p:cNvPr>
          <p:cNvSpPr/>
          <p:nvPr/>
        </p:nvSpPr>
        <p:spPr>
          <a:xfrm>
            <a:off x="762000" y="5613400"/>
            <a:ext cx="203200" cy="203200"/>
          </a:xfrm>
          <a:prstGeom prst="rect">
            <a:avLst/>
          </a:prstGeom>
          <a:solidFill>
            <a:srgbClr val="DC2626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B9FA597-F553-8DCB-02BE-4A6DD2191DA4}"/>
              </a:ext>
            </a:extLst>
          </p:cNvPr>
          <p:cNvSpPr txBox="1"/>
          <p:nvPr/>
        </p:nvSpPr>
        <p:spPr>
          <a:xfrm>
            <a:off x="1054100" y="55626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红色：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TP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，预测正确重叠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1278419-0D23-7A53-04C7-A2DEB2DFFFCC}"/>
              </a:ext>
            </a:extLst>
          </p:cNvPr>
          <p:cNvSpPr/>
          <p:nvPr/>
        </p:nvSpPr>
        <p:spPr>
          <a:xfrm>
            <a:off x="4572000" y="5613400"/>
            <a:ext cx="203200" cy="203200"/>
          </a:xfrm>
          <a:prstGeom prst="rect">
            <a:avLst/>
          </a:prstGeom>
          <a:solidFill>
            <a:srgbClr val="22C55E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AA1607B-6B63-B42C-027A-A65F8B655765}"/>
              </a:ext>
            </a:extLst>
          </p:cNvPr>
          <p:cNvSpPr txBox="1"/>
          <p:nvPr/>
        </p:nvSpPr>
        <p:spPr>
          <a:xfrm>
            <a:off x="4864100" y="55626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绿色：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，真实有但漏检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0D9885-7A49-730A-3518-75E5B4DC717A}"/>
              </a:ext>
            </a:extLst>
          </p:cNvPr>
          <p:cNvSpPr/>
          <p:nvPr/>
        </p:nvSpPr>
        <p:spPr>
          <a:xfrm>
            <a:off x="8382000" y="5613400"/>
            <a:ext cx="203200" cy="203200"/>
          </a:xfrm>
          <a:prstGeom prst="rect">
            <a:avLst/>
          </a:prstGeom>
          <a:solidFill>
            <a:srgbClr val="2563EB"/>
          </a:solidFill>
          <a:ln>
            <a:solidFill>
              <a:srgbClr val="94A3B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D3A8F68-837E-050D-407B-5AE0BC6D8EF8}"/>
              </a:ext>
            </a:extLst>
          </p:cNvPr>
          <p:cNvSpPr txBox="1"/>
          <p:nvPr/>
        </p:nvSpPr>
        <p:spPr>
          <a:xfrm>
            <a:off x="8674100" y="5562600"/>
            <a:ext cx="3429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Error Map 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蓝色：</a:t>
            </a:r>
            <a:r>
              <a:rPr lang="en-US" altLang="zh-CN" sz="1000">
                <a:solidFill>
                  <a:srgbClr val="1E293B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000">
                <a:solidFill>
                  <a:srgbClr val="1E293B"/>
                </a:solidFill>
                <a:latin typeface="Microsoft YaHei" panose="020B0503020204020204" pitchFamily="34" charset="-122"/>
              </a:rPr>
              <a:t>，模型误检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7EC9C4B-2BD2-8B6F-DB74-71737B2803D9}"/>
              </a:ext>
            </a:extLst>
          </p:cNvPr>
          <p:cNvSpPr txBox="1"/>
          <p:nvPr/>
        </p:nvSpPr>
        <p:spPr>
          <a:xfrm>
            <a:off x="889000" y="6223000"/>
            <a:ext cx="10414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判断方法：绿色多说明 </a:t>
            </a:r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不足；蓝色多说明 </a:t>
            </a:r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Precision </a:t>
            </a:r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不足；轮廓整体错位会拉低 </a:t>
            </a:r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Dice </a:t>
            </a:r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IoU</a:t>
            </a:r>
            <a:r>
              <a:rPr lang="zh-CN" altLang="en-US" sz="1200" b="1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138080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0757608-8A8B-24E5-2C43-5F451B3787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0A07BA-A815-974A-EED4-6699BCD3E252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C28A32-C35E-3EB5-7D23-DBEA4D9FC6D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22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结果图怎么读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6E47DD-0C6C-7F08-03EE-BBA4BE5253B9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一行结果图的阅读顺序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3AFF74-73C9-8C44-D26D-A4E121EA020D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从左到右判断模型是否分对。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C9A0BC0-52BD-827F-E0D6-6B69B9FE99C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651000"/>
            <a:ext cx="10414000" cy="31750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2999D5C-C17E-B24C-0ADB-254F2C7CE73B}"/>
              </a:ext>
            </a:extLst>
          </p:cNvPr>
          <p:cNvSpPr txBox="1"/>
          <p:nvPr/>
        </p:nvSpPr>
        <p:spPr>
          <a:xfrm>
            <a:off x="952500" y="5270500"/>
            <a:ext cx="10287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1. Original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：原始胸片；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2. Ground Truth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：人工标注；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3. Prediction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：模型二值结果；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4. Overlay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：预测叠加；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5. Error Map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：红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TP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、绿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、蓝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FP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15062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D361D9A-67EF-DCCB-1835-0F4EFED941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D9AF1B-7F25-391A-208E-468CDD2F7C73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7E4E011-86B5-C8E8-6ADF-EA8F284A8B87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23 Web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304611-A992-CD80-53AD-579A2157033F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网页端功能怎么展示？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F07C26-6CD4-2D94-74E2-3BCAB42E6747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本地服务打开后即可上传胸片查看结果。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6D2ACD5-4C25-E87C-7341-F311A554C7B1}"/>
              </a:ext>
            </a:extLst>
          </p:cNvPr>
          <p:cNvSpPr/>
          <p:nvPr/>
        </p:nvSpPr>
        <p:spPr>
          <a:xfrm>
            <a:off x="825500" y="1841500"/>
            <a:ext cx="3111500" cy="2921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461AF5-55B9-3E26-D891-660E391E7D79}"/>
              </a:ext>
            </a:extLst>
          </p:cNvPr>
          <p:cNvSpPr txBox="1"/>
          <p:nvPr/>
        </p:nvSpPr>
        <p:spPr>
          <a:xfrm>
            <a:off x="10033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输入与参数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4A580F-A9B1-C65F-3E43-EECF2336CAE0}"/>
              </a:ext>
            </a:extLst>
          </p:cNvPr>
          <p:cNvSpPr txBox="1"/>
          <p:nvPr/>
        </p:nvSpPr>
        <p:spPr>
          <a:xfrm>
            <a:off x="1003300" y="2413000"/>
            <a:ext cx="27559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上传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PNG/JPG/DICOM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选择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checkpoint/config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设置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threshold / min_area / TTA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2B30AAC-5F46-F841-CECA-EEDFE5FB966A}"/>
              </a:ext>
            </a:extLst>
          </p:cNvPr>
          <p:cNvSpPr/>
          <p:nvPr/>
        </p:nvSpPr>
        <p:spPr>
          <a:xfrm>
            <a:off x="4533900" y="1841500"/>
            <a:ext cx="3111500" cy="2921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A86153-E65C-5E7A-F159-4390678C05DB}"/>
              </a:ext>
            </a:extLst>
          </p:cNvPr>
          <p:cNvSpPr txBox="1"/>
          <p:nvPr/>
        </p:nvSpPr>
        <p:spPr>
          <a:xfrm>
            <a:off x="47117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结果预览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CC292FE-BC5B-65CF-4519-CBB0830E0D90}"/>
              </a:ext>
            </a:extLst>
          </p:cNvPr>
          <p:cNvSpPr txBox="1"/>
          <p:nvPr/>
        </p:nvSpPr>
        <p:spPr>
          <a:xfrm>
            <a:off x="4711700" y="2413000"/>
            <a:ext cx="27559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Original
Mask
Overlay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感染面积占比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D65453A-959A-5314-9E9E-436392D58C59}"/>
              </a:ext>
            </a:extLst>
          </p:cNvPr>
          <p:cNvSpPr/>
          <p:nvPr/>
        </p:nvSpPr>
        <p:spPr>
          <a:xfrm>
            <a:off x="8255000" y="1841500"/>
            <a:ext cx="3111500" cy="2921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7AD0B74-04B9-0EAC-562F-926690C5C387}"/>
              </a:ext>
            </a:extLst>
          </p:cNvPr>
          <p:cNvSpPr txBox="1"/>
          <p:nvPr/>
        </p:nvSpPr>
        <p:spPr>
          <a:xfrm>
            <a:off x="8432800" y="1993900"/>
            <a:ext cx="27559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评估与保存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467C0DA-F5B4-B01E-F5BA-AB7A49A0F4F5}"/>
              </a:ext>
            </a:extLst>
          </p:cNvPr>
          <p:cNvSpPr txBox="1"/>
          <p:nvPr/>
        </p:nvSpPr>
        <p:spPr>
          <a:xfrm>
            <a:off x="8432800" y="2413000"/>
            <a:ext cx="27559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自动匹配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GT mask
Dice / IoU / Precision / Recall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保存到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outputs/web_infer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2B33A04-DD84-CD8D-3A69-BBDFF13D3853}"/>
              </a:ext>
            </a:extLst>
          </p:cNvPr>
          <p:cNvSpPr txBox="1"/>
          <p:nvPr/>
        </p:nvSpPr>
        <p:spPr>
          <a:xfrm>
            <a:off x="952500" y="5397500"/>
            <a:ext cx="10541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启动命令：</a:t>
            </a:r>
            <a:r>
              <a:rPr lang="en-US" altLang="zh-CN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python app_v12_web.py    </a:t>
            </a:r>
            <a:r>
              <a:rPr lang="zh-CN" altLang="en-US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访问地址：</a:t>
            </a:r>
            <a:r>
              <a:rPr lang="en-US" altLang="zh-CN" sz="1700" b="1">
                <a:solidFill>
                  <a:srgbClr val="DC2626"/>
                </a:solidFill>
                <a:latin typeface="Microsoft YaHei" panose="020B0503020204020204" pitchFamily="34" charset="-122"/>
              </a:rPr>
              <a:t>http://127.0.0.1:8000</a:t>
            </a:r>
            <a:endParaRPr lang="zh-CN" altLang="en-US" sz="17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82251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B89AA4A-5BE3-D5DD-AEB8-08FC9D0F55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EE7575-017B-BC63-658F-DE996A72BC8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2701DB7-02D3-09FA-5F29-D7ECD109FFD9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24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1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6113C7-9E53-AA2C-C6B4-EB02471E7E39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LowDiceRefineNet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：为什么适合低分样本？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146179-91A5-0D6C-0BDF-C22BF5582CF6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加入边缘、局部对比和坐标先验。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E409BF4-4B24-770E-5F0E-D4E730616A16}"/>
              </a:ext>
            </a:extLst>
          </p:cNvPr>
          <p:cNvSpPr/>
          <p:nvPr/>
        </p:nvSpPr>
        <p:spPr>
          <a:xfrm>
            <a:off x="698500" y="1905000"/>
            <a:ext cx="10795000" cy="381000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2F64CDE-F581-E0F5-0465-485189F148DC}"/>
              </a:ext>
            </a:extLst>
          </p:cNvPr>
          <p:cNvSpPr txBox="1"/>
          <p:nvPr/>
        </p:nvSpPr>
        <p:spPr>
          <a:xfrm>
            <a:off x="876300" y="2057400"/>
            <a:ext cx="10439400" cy="30469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E2E8F0"/>
                </a:solidFill>
                <a:latin typeface="Consolas" panose="020B0609020204030204" pitchFamily="49" charset="0"/>
              </a:rPr>
              <a:t>class _LowDicePrior(nn.Module):
    def forward(self, x):
        gray = x[:, :1]
        low = avg_pool(gray)
        high = abs(gray - low)
        edge = sqrt(sobel_x(gray)^2 + sobel_y(gray)^2)
        lap = abs(laplace(gray))
        return concat([gray, low, high, edge, lap, xx, yy])
class LowDiceRefineNet2D(nn.Module):
    def forward(self, x):
        prior = self.prior(x)
        x0 = self.stem(concat([x, prior]))
        ...
        d1 = self.local_refine(concat([d1, prior]))
        return {"seg": self.seg_head(d1)}</a:t>
            </a:r>
            <a:endParaRPr lang="zh-CN" altLang="en-US" sz="12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BFBCA89-6A58-BF51-55C3-B319B9A8BB98}"/>
              </a:ext>
            </a:extLst>
          </p:cNvPr>
          <p:cNvSpPr txBox="1"/>
          <p:nvPr/>
        </p:nvSpPr>
        <p:spPr>
          <a:xfrm>
            <a:off x="889000" y="5969000"/>
            <a:ext cx="10414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解释：低分样本常见小病灶、边界复杂和位置偏移；</a:t>
            </a:r>
            <a:r>
              <a:rPr lang="en-US" altLang="zh-CN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edge/lap/</a:t>
            </a:r>
            <a:r>
              <a:rPr lang="zh-CN" altLang="en-US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坐标先验给模型额外空间和边界信息。</a:t>
            </a:r>
          </a:p>
        </p:txBody>
      </p:sp>
    </p:spTree>
    <p:extLst>
      <p:ext uri="{BB962C8B-B14F-4D97-AF65-F5344CB8AC3E}">
        <p14:creationId xmlns:p14="http://schemas.microsoft.com/office/powerpoint/2010/main" val="2335329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302DD47-0DD1-C636-B748-28C98C6051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A1A57D-68AB-EE14-438C-EF565766403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0A199B-440C-F809-41D8-29B3179B7FBF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25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58BC8B-A309-6F0C-A295-24863A0DAFBE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v18-aware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门控路由代码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72616D-B67C-B183-5E6D-BDBE54DF4C22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最终策略的核心是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gate_choice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ED27B54-5399-4333-3E87-922B77424EC7}"/>
              </a:ext>
            </a:extLst>
          </p:cNvPr>
          <p:cNvSpPr/>
          <p:nvPr/>
        </p:nvSpPr>
        <p:spPr>
          <a:xfrm>
            <a:off x="698500" y="1841500"/>
            <a:ext cx="10795000" cy="412750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FEF19E-088B-BAD1-A982-6D4A2CCD6F6C}"/>
              </a:ext>
            </a:extLst>
          </p:cNvPr>
          <p:cNvSpPr txBox="1"/>
          <p:nvPr/>
        </p:nvSpPr>
        <p:spPr>
          <a:xfrm>
            <a:off x="876300" y="1993900"/>
            <a:ext cx="10439400" cy="212365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E2E8F0"/>
                </a:solidFill>
                <a:latin typeface="Consolas" panose="020B0609020204030204" pitchFamily="49" charset="0"/>
              </a:rPr>
              <a:t>def gate_choice(failure_type, available):
    routing = {
        "over_segmented_fp": ("actual_fp", "actual_all", "precision", "broad"),
        "wrong_location_no_overlap": ("actual_boundary", "precision", "actual_all", "broad"),
        "under_segmented_fn": ("actual_fn", "boundary", "recall", "broad"),
        "mostly_missed_fn": ("recall", "actual_fn", "boundary", "broad"),
        "missed_all": ("actual_all", "actual_fn", "broad", "recall"),
        "boundary_or_shift_error": ("basev18", "actual_all", "broad", "actual_boundary"),
    }.get(str(failure_type), ("broad",))
    for preferred in routing:
        if preferred in available:
            return preferred</a:t>
            </a:r>
            <a:endParaRPr lang="zh-CN" altLang="en-US" sz="11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5202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1A94FB8-E677-CC43-7E7E-21E027F1D09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5581BD-AF32-51B5-B034-7BCC03C51FA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DB0289-1A01-BFE7-C14C-0E4D57388C19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26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3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52D6481-B755-2A06-46AD-7D05BEB80E5A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推理后处理与 </a:t>
            </a:r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Overlay</a:t>
            </a:r>
            <a:endParaRPr lang="zh-CN" altLang="en-US" sz="2900" b="1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BDEC534-C543-5101-B8B6-CF641145F7C2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这部分决定网页端展示出来的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Mask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和红色叠加图。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714CF4-E1B0-0EF5-0243-0F08897694B8}"/>
              </a:ext>
            </a:extLst>
          </p:cNvPr>
          <p:cNvSpPr/>
          <p:nvPr/>
        </p:nvSpPr>
        <p:spPr>
          <a:xfrm>
            <a:off x="889000" y="1905000"/>
            <a:ext cx="10414000" cy="355600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B0D47D4-5065-3D52-1566-FE1ADF149707}"/>
              </a:ext>
            </a:extLst>
          </p:cNvPr>
          <p:cNvSpPr txBox="1"/>
          <p:nvPr/>
        </p:nvSpPr>
        <p:spPr>
          <a:xfrm>
            <a:off x="1066800" y="2057400"/>
            <a:ext cx="10058400" cy="229293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300">
                <a:solidFill>
                  <a:srgbClr val="E2E8F0"/>
                </a:solidFill>
                <a:latin typeface="Consolas" panose="020B0609020204030204" pitchFamily="49" charset="0"/>
              </a:rPr>
              <a:t>def remove_small_components(mask, min_area):
    labels, stats = connectedComponentsWithStats(mask)
    keep component if area &gt;= min_area
def build_overlay(image01, mask, alpha=0.35):
    rgb = stack([image_u8, image_u8, image_u8])
    red[..., 0] = 255
    overlay = rgb * (1 - alpha * mask) + red * alpha * mask
pred = (prob &gt; threshold)
pred = remove_small_components(pred, min_area)</a:t>
            </a:r>
            <a:endParaRPr lang="zh-CN" altLang="en-US" sz="13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7E4C87-F2D4-0C13-ECB1-1EDFB7A64471}"/>
              </a:ext>
            </a:extLst>
          </p:cNvPr>
          <p:cNvSpPr txBox="1"/>
          <p:nvPr/>
        </p:nvSpPr>
        <p:spPr>
          <a:xfrm>
            <a:off x="952500" y="5778500"/>
            <a:ext cx="10287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threshold </a:t>
            </a:r>
            <a:r>
              <a:rPr lang="zh-CN" altLang="en-US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控制是否预测为病灶；</a:t>
            </a:r>
            <a:r>
              <a:rPr lang="en-US" altLang="zh-CN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min_area </a:t>
            </a:r>
            <a:r>
              <a:rPr lang="zh-CN" altLang="en-US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控制是否过滤小碎片；</a:t>
            </a:r>
            <a:r>
              <a:rPr lang="en-US" altLang="zh-CN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alpha </a:t>
            </a:r>
            <a:r>
              <a:rPr lang="zh-CN" altLang="en-US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控制红色 </a:t>
            </a:r>
            <a:r>
              <a:rPr lang="en-US" altLang="zh-CN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Overlay </a:t>
            </a:r>
            <a:r>
              <a:rPr lang="zh-CN" altLang="en-US" sz="1400" b="1">
                <a:solidFill>
                  <a:srgbClr val="475569"/>
                </a:solidFill>
                <a:latin typeface="Microsoft YaHei" panose="020B0503020204020204" pitchFamily="34" charset="-122"/>
              </a:rPr>
              <a:t>的透明度。</a:t>
            </a:r>
          </a:p>
        </p:txBody>
      </p:sp>
    </p:spTree>
    <p:extLst>
      <p:ext uri="{BB962C8B-B14F-4D97-AF65-F5344CB8AC3E}">
        <p14:creationId xmlns:p14="http://schemas.microsoft.com/office/powerpoint/2010/main" val="7833715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3DDC417-2462-A50B-1FC6-36E8951A62A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E50DCB-2604-05CF-B9FA-365BFE4F92A1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C5B7293-E545-25AC-F07F-DAB66B435953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27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关键代码 </a:t>
            </a:r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4</a:t>
            </a:r>
            <a:endParaRPr lang="zh-CN" altLang="en-US" sz="1000">
              <a:solidFill>
                <a:srgbClr val="E5E7E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016769-CD0D-A2CF-0240-2EFACA0EA368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Web </a:t>
            </a:r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端调用流程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8949883-F506-C142-A5B0-44A1AA9A2A99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上传文件后，后端调用 </a:t>
            </a:r>
            <a:r>
              <a:rPr lang="en-US" altLang="zh-CN" sz="1400">
                <a:solidFill>
                  <a:srgbClr val="64748B"/>
                </a:solidFill>
                <a:latin typeface="Microsoft YaHei" panose="020B0503020204020204" pitchFamily="34" charset="-122"/>
              </a:rPr>
              <a:t>V12Segmenter / </a:t>
            </a:r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配置模型完成推理。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9BE319-B6A5-219B-B7FE-E3A3AE2A6E0E}"/>
              </a:ext>
            </a:extLst>
          </p:cNvPr>
          <p:cNvSpPr/>
          <p:nvPr/>
        </p:nvSpPr>
        <p:spPr>
          <a:xfrm>
            <a:off x="1270000" y="2032000"/>
            <a:ext cx="9652000" cy="2921000"/>
          </a:xfrm>
          <a:prstGeom prst="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BF73B67-1D32-6C82-71F6-2B69C6BAE353}"/>
              </a:ext>
            </a:extLst>
          </p:cNvPr>
          <p:cNvSpPr txBox="1"/>
          <p:nvPr/>
        </p:nvSpPr>
        <p:spPr>
          <a:xfrm>
            <a:off x="1447800" y="2184400"/>
            <a:ext cx="9296400" cy="17081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500">
                <a:solidFill>
                  <a:srgbClr val="E2E8F0"/>
                </a:solidFill>
                <a:latin typeface="Consolas" panose="020B0609020204030204" pitchFamily="49" charset="0"/>
              </a:rPr>
              <a:t>POST /api/predict
  1. parse multipart form
  2. resolve checkpoint/config path
  3. save uploaded image to temp path
  4. segmenter.segment_file(...)
  5. save original / mask / overlay / meta
  6. return JSON with preview images and metrics</a:t>
            </a:r>
            <a:endParaRPr lang="zh-CN" altLang="en-US" sz="1500">
              <a:solidFill>
                <a:srgbClr val="E2E8F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92C676-69DA-E65D-B5D9-91891B7D8AF7}"/>
              </a:ext>
            </a:extLst>
          </p:cNvPr>
          <p:cNvSpPr txBox="1"/>
          <p:nvPr/>
        </p:nvSpPr>
        <p:spPr>
          <a:xfrm>
            <a:off x="952500" y="5334000"/>
            <a:ext cx="10287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实际页面展示三张核心图：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Original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Overlay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；如果能匹配真值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Mask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，还会显示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IoU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Precision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Recall 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Error Map</a:t>
            </a:r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198244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7158DE0-6EC2-BA7D-89D1-76511955917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E662C3-5475-4EB4-8BBE-A3CA2AC2957F}"/>
              </a:ext>
            </a:extLst>
          </p:cNvPr>
          <p:cNvSpPr/>
          <p:nvPr/>
        </p:nvSpPr>
        <p:spPr>
          <a:xfrm>
            <a:off x="0" y="0"/>
            <a:ext cx="12192000" cy="431800"/>
          </a:xfrm>
          <a:prstGeom prst="rect">
            <a:avLst/>
          </a:prstGeom>
          <a:solidFill>
            <a:srgbClr val="11182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B71ADD0-11A2-8927-A506-EAC69056EBA1}"/>
              </a:ext>
            </a:extLst>
          </p:cNvPr>
          <p:cNvSpPr txBox="1"/>
          <p:nvPr/>
        </p:nvSpPr>
        <p:spPr>
          <a:xfrm>
            <a:off x="355600" y="88900"/>
            <a:ext cx="9144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000">
                <a:solidFill>
                  <a:srgbClr val="E5E7EB"/>
                </a:solidFill>
                <a:latin typeface="Microsoft YaHei" panose="020B0503020204020204" pitchFamily="34" charset="-122"/>
              </a:rPr>
              <a:t>28 </a:t>
            </a:r>
            <a:r>
              <a:rPr lang="zh-CN" altLang="en-US" sz="1000">
                <a:solidFill>
                  <a:srgbClr val="E5E7EB"/>
                </a:solidFill>
                <a:latin typeface="Microsoft YaHei" panose="020B0503020204020204" pitchFamily="34" charset="-122"/>
              </a:rPr>
              <a:t>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793682-9273-D10A-0634-351E96B923DB}"/>
              </a:ext>
            </a:extLst>
          </p:cNvPr>
          <p:cNvSpPr txBox="1"/>
          <p:nvPr/>
        </p:nvSpPr>
        <p:spPr>
          <a:xfrm>
            <a:off x="584200" y="660400"/>
            <a:ext cx="10795000" cy="5386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900" b="1">
                <a:solidFill>
                  <a:srgbClr val="1F2937"/>
                </a:solidFill>
                <a:latin typeface="Microsoft YaHei" panose="020B0503020204020204" pitchFamily="34" charset="-122"/>
              </a:rPr>
              <a:t>项目最终结论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40BF6D1-06A3-B681-160E-CAD2A74F757E}"/>
              </a:ext>
            </a:extLst>
          </p:cNvPr>
          <p:cNvSpPr txBox="1"/>
          <p:nvPr/>
        </p:nvSpPr>
        <p:spPr>
          <a:xfrm>
            <a:off x="622300" y="1333500"/>
            <a:ext cx="10541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400">
                <a:solidFill>
                  <a:srgbClr val="64748B"/>
                </a:solidFill>
                <a:latin typeface="Microsoft YaHei" panose="020B0503020204020204" pitchFamily="34" charset="-122"/>
              </a:rPr>
              <a:t>从能分割，到能解释为什么提升。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B9FE0FF-E364-4E03-90B9-D0C0BFAB1638}"/>
              </a:ext>
            </a:extLst>
          </p:cNvPr>
          <p:cNvSpPr/>
          <p:nvPr/>
        </p:nvSpPr>
        <p:spPr>
          <a:xfrm>
            <a:off x="762000" y="1841500"/>
            <a:ext cx="3302000" cy="31115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60B63E-FED9-4E1E-19B1-58FD9B018260}"/>
              </a:ext>
            </a:extLst>
          </p:cNvPr>
          <p:cNvSpPr txBox="1"/>
          <p:nvPr/>
        </p:nvSpPr>
        <p:spPr>
          <a:xfrm>
            <a:off x="939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完成内容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96B788-88F0-8C3F-2E45-37F7F0FEB969}"/>
              </a:ext>
            </a:extLst>
          </p:cNvPr>
          <p:cNvSpPr txBox="1"/>
          <p:nvPr/>
        </p:nvSpPr>
        <p:spPr>
          <a:xfrm>
            <a:off x="939800" y="2413000"/>
            <a:ext cx="2946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胸片感染区域分割训练流程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2. Web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可视化系统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3.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低分样本错误分析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4. LowDice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多专家模型池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88058F9-2711-A086-06D3-1AF23DF4A640}"/>
              </a:ext>
            </a:extLst>
          </p:cNvPr>
          <p:cNvSpPr/>
          <p:nvPr/>
        </p:nvSpPr>
        <p:spPr>
          <a:xfrm>
            <a:off x="4445000" y="1841500"/>
            <a:ext cx="3302000" cy="31115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9A31C0-79E4-B657-664B-5E669E6950A7}"/>
              </a:ext>
            </a:extLst>
          </p:cNvPr>
          <p:cNvSpPr txBox="1"/>
          <p:nvPr/>
        </p:nvSpPr>
        <p:spPr>
          <a:xfrm>
            <a:off x="4622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最终效果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05B97E-CCAE-0636-1F23-6276E64C65C1}"/>
              </a:ext>
            </a:extLst>
          </p:cNvPr>
          <p:cNvSpPr txBox="1"/>
          <p:nvPr/>
        </p:nvSpPr>
        <p:spPr>
          <a:xfrm>
            <a:off x="4622800" y="2413000"/>
            <a:ext cx="29464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全测试集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0.7959
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低分子集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Dice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0.4033 → 0.5319
Oracle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上限：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0.8129</a:t>
            </a:r>
            <a:endParaRPr lang="zh-CN" altLang="en-US" sz="1200">
              <a:solidFill>
                <a:srgbClr val="334155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C03E7A9-FE73-89EF-5C8A-D045ED9EEA63}"/>
              </a:ext>
            </a:extLst>
          </p:cNvPr>
          <p:cNvSpPr/>
          <p:nvPr/>
        </p:nvSpPr>
        <p:spPr>
          <a:xfrm>
            <a:off x="8128000" y="1841500"/>
            <a:ext cx="3302000" cy="31115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2CD7A39-EAA6-7D08-ECFD-CBA6B4484E42}"/>
              </a:ext>
            </a:extLst>
          </p:cNvPr>
          <p:cNvSpPr txBox="1"/>
          <p:nvPr/>
        </p:nvSpPr>
        <p:spPr>
          <a:xfrm>
            <a:off x="8305800" y="1993900"/>
            <a:ext cx="2946400" cy="3231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500" b="1">
                <a:solidFill>
                  <a:srgbClr val="0F172A"/>
                </a:solidFill>
                <a:latin typeface="Microsoft YaHei" panose="020B0503020204020204" pitchFamily="34" charset="-122"/>
              </a:rPr>
              <a:t>后续工作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5852BB0-EBC6-1F88-3EFF-AC96248FE988}"/>
              </a:ext>
            </a:extLst>
          </p:cNvPr>
          <p:cNvSpPr txBox="1"/>
          <p:nvPr/>
        </p:nvSpPr>
        <p:spPr>
          <a:xfrm>
            <a:off x="8305800" y="2413000"/>
            <a:ext cx="2946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1.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训练无真值门控分类器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2.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将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v18-aware gate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接入 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Web
3.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增加外部数据验证
</a:t>
            </a:r>
            <a:r>
              <a:rPr lang="en-US" altLang="zh-CN" sz="1200">
                <a:solidFill>
                  <a:srgbClr val="334155"/>
                </a:solidFill>
                <a:latin typeface="Microsoft YaHei" panose="020B0503020204020204" pitchFamily="34" charset="-122"/>
              </a:rPr>
              <a:t>4. </a:t>
            </a:r>
            <a:r>
              <a:rPr lang="zh-CN" altLang="en-US" sz="1200">
                <a:solidFill>
                  <a:srgbClr val="334155"/>
                </a:solidFill>
                <a:latin typeface="Microsoft YaHei" panose="020B0503020204020204" pitchFamily="34" charset="-122"/>
              </a:rPr>
              <a:t>优化错位无重叠样本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6C32AD-B39A-67A3-F6AE-E29A7752B5C0}"/>
              </a:ext>
            </a:extLst>
          </p:cNvPr>
          <p:cNvSpPr txBox="1"/>
          <p:nvPr/>
        </p:nvSpPr>
        <p:spPr>
          <a:xfrm>
            <a:off x="1270000" y="5461000"/>
            <a:ext cx="965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b="1">
                <a:solidFill>
                  <a:srgbClr val="0F172A"/>
                </a:solidFill>
                <a:latin typeface="Microsoft YaHei" panose="020B0503020204020204" pitchFamily="34" charset="-122"/>
              </a:rPr>
              <a:t>答辩重点：不是简单堆模型，而是基于错误类型进行有针对性的专家化优化。</a:t>
            </a:r>
          </a:p>
        </p:txBody>
      </p:sp>
    </p:spTree>
    <p:extLst>
      <p:ext uri="{BB962C8B-B14F-4D97-AF65-F5344CB8AC3E}">
        <p14:creationId xmlns:p14="http://schemas.microsoft.com/office/powerpoint/2010/main" val="1292690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3654</Words>
  <Application>Microsoft Office PowerPoint</Application>
  <PresentationFormat>自定义</PresentationFormat>
  <Paragraphs>415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7" baseType="lpstr">
      <vt:lpstr>等线</vt:lpstr>
      <vt:lpstr>等线 Light</vt:lpstr>
      <vt:lpstr>Microsoft YaHei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2026-05-20T09:44:26Z</dcterms:created>
  <dcterms:modified xsi:type="dcterms:W3CDTF">2026-05-20T09:44:26Z</dcterms:modified>
</cp:coreProperties>
</file>